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85" r:id="rId6"/>
    <p:sldId id="286" r:id="rId7"/>
    <p:sldId id="287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B0DDAA-2579-4611-B8BF-A3B41E0A5B8E}" v="55" dt="2026-10-27T09:16:05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06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447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A8F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Copilot × Python Webアプリ開発ハンズオン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Copilotで、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業務課題をPython Webアプリにしてみよう</a:t>
            </a:r>
            <a:endParaRPr lang="en-US" sz="3800"/>
          </a:p>
        </p:txBody>
      </p:sp>
      <p:sp>
        <p:nvSpPr>
          <p:cNvPr id="5" name="Text 3"/>
          <p:cNvSpPr/>
          <p:nvPr/>
        </p:nvSpPr>
        <p:spPr>
          <a:xfrm>
            <a:off x="658368" y="2011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課題整理から、設計、実装、Azureでの実行まで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2377440" cy="603504"/>
          </a:xfrm>
          <a:prstGeom prst="rect">
            <a:avLst/>
          </a:prstGeom>
          <a:solidFill>
            <a:srgbClr val="FFF4C2"/>
          </a:solidFill>
          <a:ln w="12700">
            <a:solidFill>
              <a:srgbClr val="EADB8C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4A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手作業が多い…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960120" y="3657600"/>
            <a:ext cx="2377440" cy="603504"/>
          </a:xfrm>
          <a:prstGeom prst="rect">
            <a:avLst/>
          </a:prstGeom>
          <a:solidFill>
            <a:srgbClr val="FFF4C2"/>
          </a:solidFill>
          <a:ln w="12700">
            <a:solidFill>
              <a:srgbClr val="EADB8C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4A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情報がバラバラ…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731520" y="4434840"/>
            <a:ext cx="2377440" cy="603504"/>
          </a:xfrm>
          <a:prstGeom prst="rect">
            <a:avLst/>
          </a:prstGeom>
          <a:solidFill>
            <a:srgbClr val="FFF4C2"/>
          </a:solidFill>
          <a:ln w="12700">
            <a:solidFill>
              <a:srgbClr val="EADB8C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5A4A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集計が大変…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31520" y="5257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あなたの業務課題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3611880" y="3703320"/>
            <a:ext cx="822960" cy="457200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663440" y="3154680"/>
            <a:ext cx="1554480" cy="1554480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31546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</a:t>
            </a:r>
            <a:endParaRPr lang="en-US" sz="1800"/>
          </a:p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4343400" y="4846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設計・構成選択・実装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446520" y="3703320"/>
            <a:ext cx="822960" cy="457200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452360" y="2697480"/>
            <a:ext cx="42519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452360" y="2697480"/>
            <a:ext cx="4251960" cy="36576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7589520" y="2834640"/>
            <a:ext cx="91440" cy="91440"/>
          </a:xfrm>
          <a:prstGeom prst="ellipse">
            <a:avLst/>
          </a:prstGeom>
          <a:solidFill>
            <a:srgbClr val="F26B6B"/>
          </a:solidFill>
          <a:ln w="12700">
            <a:solidFill>
              <a:srgbClr val="F26B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7772400" y="2834640"/>
            <a:ext cx="91440" cy="9144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955280" y="2834640"/>
            <a:ext cx="91440" cy="91440"/>
          </a:xfrm>
          <a:prstGeom prst="ellipse">
            <a:avLst/>
          </a:prstGeom>
          <a:solidFill>
            <a:srgbClr val="5AC18E"/>
          </a:solidFill>
          <a:ln w="12700">
            <a:solidFill>
              <a:srgbClr val="5AC1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183880" y="2697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業務管理アプリ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7562088" y="3172968"/>
            <a:ext cx="935431" cy="201168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7680960" y="3337560"/>
            <a:ext cx="752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7680960" y="3721608"/>
            <a:ext cx="752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7680960" y="4105656"/>
            <a:ext cx="752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新規登録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8662111" y="3200400"/>
            <a:ext cx="28593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案件一覧</a:t>
            </a:r>
            <a:endParaRPr lang="en-US" sz="1500"/>
          </a:p>
        </p:txBody>
      </p:sp>
      <p:sp>
        <p:nvSpPr>
          <p:cNvPr id="29" name="Shape 27"/>
          <p:cNvSpPr/>
          <p:nvPr/>
        </p:nvSpPr>
        <p:spPr>
          <a:xfrm>
            <a:off x="8662111" y="3630168"/>
            <a:ext cx="2859329" cy="32232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8771839" y="3630168"/>
            <a:ext cx="17155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業務改善ツール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10652760" y="367245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0652760" y="367245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進行中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8662111" y="4007358"/>
            <a:ext cx="2859329" cy="322326"/>
          </a:xfrm>
          <a:prstGeom prst="rect">
            <a:avLst/>
          </a:prstGeom>
          <a:solidFill>
            <a:srgbClr val="F7F8FA"/>
          </a:solidFill>
          <a:ln w="12700">
            <a:solidFill>
              <a:srgbClr val="DDE2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8771839" y="4007358"/>
            <a:ext cx="17155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申請フォーム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10652760" y="404964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0652760" y="404964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未着手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8662111" y="4384548"/>
            <a:ext cx="2859329" cy="32232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8771839" y="4384548"/>
            <a:ext cx="17155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データ集計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10652760" y="442683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10652760" y="442683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8662111" y="4761738"/>
            <a:ext cx="2859329" cy="322326"/>
          </a:xfrm>
          <a:prstGeom prst="rect">
            <a:avLst/>
          </a:prstGeom>
          <a:solidFill>
            <a:srgbClr val="F7F8FA"/>
          </a:solidFill>
          <a:ln w="12700">
            <a:solidFill>
              <a:srgbClr val="DDE2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8771839" y="4761738"/>
            <a:ext cx="17155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FAQ整備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10652760" y="480402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10652760" y="480402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進行中</a:t>
            </a:r>
            <a:endParaRPr lang="en-US" sz="900"/>
          </a:p>
        </p:txBody>
      </p:sp>
      <p:sp>
        <p:nvSpPr>
          <p:cNvPr id="45" name="Text 43"/>
          <p:cNvSpPr/>
          <p:nvPr/>
        </p:nvSpPr>
        <p:spPr>
          <a:xfrm>
            <a:off x="7452360" y="53949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Azureで動くWebアプリ</a:t>
            </a:r>
            <a:endParaRPr lang="en-US" sz="1200"/>
          </a:p>
        </p:txBody>
      </p:sp>
      <p:sp>
        <p:nvSpPr>
          <p:cNvPr id="46" name="Shape 44"/>
          <p:cNvSpPr/>
          <p:nvPr/>
        </p:nvSpPr>
        <p:spPr>
          <a:xfrm>
            <a:off x="685800" y="5943600"/>
            <a:ext cx="1645920" cy="384048"/>
          </a:xfrm>
          <a:prstGeom prst="roundRect">
            <a:avLst>
              <a:gd name="adj" fmla="val 35714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685800" y="5943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個人で開発</a:t>
            </a:r>
            <a:endParaRPr lang="en-US" sz="1300"/>
          </a:p>
        </p:txBody>
      </p:sp>
      <p:sp>
        <p:nvSpPr>
          <p:cNvPr id="48" name="Shape 46"/>
          <p:cNvSpPr/>
          <p:nvPr/>
        </p:nvSpPr>
        <p:spPr>
          <a:xfrm>
            <a:off x="2468880" y="5943600"/>
            <a:ext cx="2560320" cy="384048"/>
          </a:xfrm>
          <a:prstGeom prst="roundRect">
            <a:avLst>
              <a:gd name="adj" fmla="val 35714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2468880" y="5943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困った場合は共同実施OK</a:t>
            </a:r>
            <a:endParaRPr lang="en-US" sz="1300"/>
          </a:p>
        </p:txBody>
      </p:sp>
      <p:sp>
        <p:nvSpPr>
          <p:cNvPr id="50" name="Shape 48"/>
          <p:cNvSpPr/>
          <p:nvPr/>
        </p:nvSpPr>
        <p:spPr>
          <a:xfrm>
            <a:off x="5166360" y="5943600"/>
            <a:ext cx="1645920" cy="384048"/>
          </a:xfrm>
          <a:prstGeom prst="roundRect">
            <a:avLst>
              <a:gd name="adj" fmla="val 35714"/>
            </a:avLst>
          </a:prstGeom>
          <a:solidFill>
            <a:srgbClr val="F2EAFE"/>
          </a:solidFill>
          <a:ln w="12700">
            <a:solidFill>
              <a:srgbClr val="F2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5166360" y="5943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初心者歓迎</a:t>
            </a:r>
            <a:endParaRPr lang="en-US" sz="1300"/>
          </a:p>
        </p:txBody>
      </p:sp>
      <p:sp>
        <p:nvSpPr>
          <p:cNvPr id="52" name="Text 50"/>
          <p:cNvSpPr/>
          <p:nvPr/>
        </p:nvSpPr>
        <p:spPr>
          <a:xfrm>
            <a:off x="7040880" y="5989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AI Co-Innovation Lab Kobe × Microsoft Base Ritsumeikan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今日つくるもの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自分の業務課題を、Azureで動くWebアプリにします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3429000" y="14173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429000" y="1417320"/>
            <a:ext cx="5349240" cy="36576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566160" y="1554480"/>
            <a:ext cx="91440" cy="91440"/>
          </a:xfrm>
          <a:prstGeom prst="ellipse">
            <a:avLst/>
          </a:prstGeom>
          <a:solidFill>
            <a:srgbClr val="F26B6B"/>
          </a:solidFill>
          <a:ln w="12700">
            <a:solidFill>
              <a:srgbClr val="F26B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749040" y="1554480"/>
            <a:ext cx="91440" cy="9144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931920" y="1554480"/>
            <a:ext cx="91440" cy="91440"/>
          </a:xfrm>
          <a:prstGeom prst="ellipse">
            <a:avLst/>
          </a:prstGeom>
          <a:solidFill>
            <a:srgbClr val="5AC18E"/>
          </a:solidFill>
          <a:ln w="12700">
            <a:solidFill>
              <a:srgbClr val="5AC1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160520" y="14173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業務管理アプリ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538728" y="1892808"/>
            <a:ext cx="1176833" cy="333756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657600" y="2057400"/>
            <a:ext cx="993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657600" y="2441448"/>
            <a:ext cx="993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657600" y="2825496"/>
            <a:ext cx="9939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新規登録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880153" y="1920240"/>
            <a:ext cx="37152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案件一覧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4880153" y="2350008"/>
            <a:ext cx="3715207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989881" y="2350008"/>
            <a:ext cx="222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業務改善ツール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7726680" y="2414016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726680" y="241401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進行中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4880153" y="2770632"/>
            <a:ext cx="3715207" cy="3657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2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989881" y="2770632"/>
            <a:ext cx="222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申請フォーム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7726680" y="2834640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726680" y="283464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未着手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4880153" y="3191256"/>
            <a:ext cx="3715207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989881" y="3191256"/>
            <a:ext cx="222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データ集計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7726680" y="3255264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7726680" y="325526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4880153" y="3611880"/>
            <a:ext cx="3715207" cy="3657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E2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989881" y="3611880"/>
            <a:ext cx="222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FAQ整備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7726680" y="3675888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7726680" y="36758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進行中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548640" y="17373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548640" y="17373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体験用ログイン</a:t>
            </a:r>
            <a:endParaRPr lang="en-US" sz="1900"/>
          </a:p>
        </p:txBody>
      </p:sp>
      <p:sp>
        <p:nvSpPr>
          <p:cNvPr id="33" name="Shape 31"/>
          <p:cNvSpPr/>
          <p:nvPr/>
        </p:nvSpPr>
        <p:spPr>
          <a:xfrm>
            <a:off x="548640" y="32918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548640" y="32918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一覧表示</a:t>
            </a:r>
            <a:endParaRPr lang="en-US" sz="1900"/>
          </a:p>
        </p:txBody>
      </p:sp>
      <p:sp>
        <p:nvSpPr>
          <p:cNvPr id="35" name="Shape 33"/>
          <p:cNvSpPr/>
          <p:nvPr/>
        </p:nvSpPr>
        <p:spPr>
          <a:xfrm>
            <a:off x="9144000" y="17373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9144000" y="17373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登録・編集</a:t>
            </a:r>
            <a:endParaRPr lang="en-US" sz="1900"/>
          </a:p>
        </p:txBody>
      </p:sp>
      <p:sp>
        <p:nvSpPr>
          <p:cNvPr id="37" name="Shape 35"/>
          <p:cNvSpPr/>
          <p:nvPr/>
        </p:nvSpPr>
        <p:spPr>
          <a:xfrm>
            <a:off x="9144000" y="329184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9144000" y="32918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データ保存</a:t>
            </a:r>
            <a:endParaRPr lang="en-US" sz="1900"/>
          </a:p>
        </p:txBody>
      </p:sp>
      <p:sp>
        <p:nvSpPr>
          <p:cNvPr id="39" name="Text 37"/>
          <p:cNvSpPr/>
          <p:nvPr/>
        </p:nvSpPr>
        <p:spPr>
          <a:xfrm>
            <a:off x="9144000" y="42793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保存先はAIが選ぶ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（Blob Storage／Cosmos DB）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548640" y="562356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注意：ログインは体験用のデモ機能です。本人確認やアクセス制御を行う認証機能ではありません。</a:t>
            </a:r>
            <a:endParaRPr lang="en-US" sz="150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今日持ち帰れるもの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アプリだけでなく、もう一度つくる方法も持ち帰ります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01952"/>
            <a:ext cx="676656" cy="67665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691640" y="1810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1691640" y="22677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 / Flask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901952"/>
            <a:ext cx="676656" cy="676656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72000" y="190195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5440680" y="1810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5440680" y="22677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Markdown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2EAFE"/>
          </a:solidFill>
          <a:ln w="12700">
            <a:solidFill>
              <a:srgbClr val="F2EAFE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321040" y="1901952"/>
            <a:ext cx="676656" cy="676656"/>
          </a:xfrm>
          <a:prstGeom prst="ellipse">
            <a:avLst/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321040" y="190195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9189720" y="1810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9189720" y="22677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00〜10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22960" y="3776472"/>
            <a:ext cx="676656" cy="676656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22960" y="3776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1691640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Azure環境の設計図</a:t>
            </a:r>
            <a:endParaRPr lang="en-US" sz="1900"/>
          </a:p>
        </p:txBody>
      </p:sp>
      <p:sp>
        <p:nvSpPr>
          <p:cNvPr id="23" name="Text 21"/>
          <p:cNvSpPr/>
          <p:nvPr/>
        </p:nvSpPr>
        <p:spPr>
          <a:xfrm>
            <a:off x="1691640" y="4142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4297680" y="33375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4572000" y="3776472"/>
            <a:ext cx="676656" cy="67665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572000" y="3776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5440680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再現手順</a:t>
            </a:r>
            <a:endParaRPr lang="en-US" sz="1900"/>
          </a:p>
        </p:txBody>
      </p:sp>
      <p:sp>
        <p:nvSpPr>
          <p:cNvPr id="28" name="Text 26"/>
          <p:cNvSpPr/>
          <p:nvPr/>
        </p:nvSpPr>
        <p:spPr>
          <a:xfrm>
            <a:off x="5440680" y="4142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ローカル / Azure</a:t>
            </a:r>
            <a:endParaRPr lang="en-US" sz="1300"/>
          </a:p>
        </p:txBody>
      </p:sp>
      <p:sp>
        <p:nvSpPr>
          <p:cNvPr id="29" name="Shape 27"/>
          <p:cNvSpPr/>
          <p:nvPr/>
        </p:nvSpPr>
        <p:spPr>
          <a:xfrm>
            <a:off x="8046720" y="33375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8321040" y="3776472"/>
            <a:ext cx="676656" cy="676656"/>
          </a:xfrm>
          <a:prstGeom prst="ellipse">
            <a:avLst/>
          </a:prstGeom>
          <a:solidFill>
            <a:srgbClr val="D9660B"/>
          </a:solidFill>
          <a:ln w="12700">
            <a:solidFill>
              <a:srgbClr val="D966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8321040" y="3776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9189720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社内説明資料</a:t>
            </a:r>
            <a:endParaRPr lang="en-US" sz="1900"/>
          </a:p>
        </p:txBody>
      </p:sp>
      <p:sp>
        <p:nvSpPr>
          <p:cNvPr id="33" name="Text 31"/>
          <p:cNvSpPr/>
          <p:nvPr/>
        </p:nvSpPr>
        <p:spPr>
          <a:xfrm>
            <a:off x="9189720" y="4142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1ページ概要</a:t>
            </a:r>
            <a:endParaRPr lang="en-US" sz="1300"/>
          </a:p>
        </p:txBody>
      </p:sp>
      <p:sp>
        <p:nvSpPr>
          <p:cNvPr id="34" name="Text 32"/>
          <p:cNvSpPr/>
          <p:nvPr/>
        </p:nvSpPr>
        <p:spPr>
          <a:xfrm>
            <a:off x="548640" y="548640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「できたアプリ」と「もう一度つくる方法」をセットで持ち帰ります</a:t>
            </a:r>
            <a:endParaRPr lang="en-US" sz="200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全体ロードマップ（90分）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必須はSTEP08でPC上、標準はSTEP09でAzure上で動かすこと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783080" cy="21945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783080" cy="45720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89432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8943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60576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560576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2743200"/>
            <a:ext cx="1636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環境確認・課題整理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50008" y="2212848"/>
            <a:ext cx="192024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2560320" y="141732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560320" y="1417320"/>
            <a:ext cx="3017520" cy="45720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56032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設計する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739542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73954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49117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449117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58691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158691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68266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868266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33472" y="2743200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要件・画面・データ・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Azure構成の選択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96128" y="2212848"/>
            <a:ext cx="192024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806440" y="141732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5806440" y="1417320"/>
            <a:ext cx="2103120" cy="45720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80644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153912" y="2103120"/>
            <a:ext cx="530352" cy="530352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15391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031736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7031736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79592" y="274320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Azure構築・プログラム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927848" y="2212848"/>
            <a:ext cx="192024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8138160" y="141732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8138160" y="1417320"/>
            <a:ext cx="2103120" cy="45720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813816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動かす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8485632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848563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363456" y="2103120"/>
            <a:ext cx="530352" cy="530352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9363456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11312" y="274320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 → Azure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259568" y="2212848"/>
            <a:ext cx="192024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10469880" y="141732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10469880" y="1417320"/>
            <a:ext cx="1600200" cy="45720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1046988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持ち帰る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11004804" y="2103120"/>
            <a:ext cx="530352" cy="53035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11004804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543032" y="274320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再現手順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・説明資料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48640" y="388620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777240" y="4114800"/>
            <a:ext cx="384048" cy="384048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7772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28016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必須ゴール（全員）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128016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自分のPCでアプリが動く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6217920" y="388620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6446520" y="4114800"/>
            <a:ext cx="384048" cy="384048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644652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4944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標準ゴール（全員で挑戦）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6949440" y="4434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AIが選んだ構成をAzureに作り（06）、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Azure上でアプリが動く（09）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548640" y="54406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遅れても大丈夫です。途中から再開できる完成版をスタッフが用意しています。</a:t>
            </a:r>
            <a:endParaRPr lang="en-US" sz="170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57200" y="291715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ja-JP" altLang="en-US" sz="1200" b="1">
                <a:solidFill>
                  <a:srgbClr val="C21920"/>
                </a:solidFill>
                <a:latin typeface="Yu Gothic"/>
                <a:ea typeface="Yu Gothic"/>
              </a:rPr>
              <a:t>準備</a:t>
            </a:r>
            <a:r>
              <a:rPr sz="1200" b="1" dirty="0">
                <a:solidFill>
                  <a:srgbClr val="C21920"/>
                </a:solidFill>
                <a:latin typeface="Yu Gothic"/>
                <a:ea typeface="Yu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dirty="0" err="1">
                <a:solidFill>
                  <a:srgbClr val="142B4A"/>
                </a:solidFill>
                <a:latin typeface="Yu Gothic"/>
                <a:ea typeface="Yu Gothic"/>
              </a:rPr>
              <a:t>テンプレートをダウンロードして、この資料を開きます</a:t>
            </a:r>
            <a:endParaRPr sz="2600" b="1" dirty="0">
              <a:solidFill>
                <a:srgbClr val="142B4A"/>
              </a:solidFill>
              <a:latin typeface="Yu Gothic"/>
              <a:ea typeface="Yu Gothic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57200" y="1844566"/>
            <a:ext cx="2606040" cy="20416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Oval 39"/>
          <p:cNvSpPr/>
          <p:nvPr/>
        </p:nvSpPr>
        <p:spPr>
          <a:xfrm>
            <a:off x="658368" y="2039112"/>
            <a:ext cx="475488" cy="475488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658368" y="20391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2633472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dirty="0" err="1">
                <a:solidFill>
                  <a:srgbClr val="142B4A"/>
                </a:solidFill>
                <a:latin typeface="Yu Gothic"/>
                <a:ea typeface="Yu Gothic"/>
              </a:rPr>
              <a:t>テンプレートURLを開く</a:t>
            </a:r>
            <a:endParaRPr sz="1500" b="1" dirty="0">
              <a:solidFill>
                <a:srgbClr val="142B4A"/>
              </a:solidFill>
              <a:latin typeface="Yu Gothic"/>
              <a:ea typeface="Yu Gothic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8640" y="3182112"/>
            <a:ext cx="2423160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dirty="0" err="1">
                <a:solidFill>
                  <a:srgbClr val="25364D"/>
                </a:solidFill>
                <a:latin typeface="Yu Gothic"/>
                <a:ea typeface="Yu Gothic"/>
              </a:rPr>
              <a:t>配布されたURLを開き</a:t>
            </a:r>
            <a:endParaRPr sz="1200" b="0" dirty="0">
              <a:solidFill>
                <a:srgbClr val="25364D"/>
              </a:solidFill>
              <a:latin typeface="Yu Gothic"/>
              <a:ea typeface="Yu Gothic"/>
            </a:endParaRPr>
          </a:p>
          <a:p>
            <a:pPr algn="ctr"/>
            <a:r>
              <a:rPr sz="1200" b="0" dirty="0" err="1">
                <a:solidFill>
                  <a:srgbClr val="25364D"/>
                </a:solidFill>
                <a:latin typeface="Yu Gothic"/>
                <a:ea typeface="Yu Gothic"/>
              </a:rPr>
              <a:t>緑の「Code</a:t>
            </a:r>
            <a:r>
              <a:rPr sz="1200" b="0" dirty="0">
                <a:solidFill>
                  <a:srgbClr val="25364D"/>
                </a:solidFill>
                <a:latin typeface="Yu Gothic"/>
                <a:ea typeface="Yu Gothic"/>
              </a:rPr>
              <a:t>」</a:t>
            </a:r>
          </a:p>
          <a:p>
            <a:pPr algn="ctr"/>
            <a:r>
              <a:rPr sz="1200" b="0" dirty="0">
                <a:solidFill>
                  <a:srgbClr val="25364D"/>
                </a:solidFill>
                <a:latin typeface="Yu Gothic"/>
                <a:ea typeface="Yu Gothic"/>
              </a:rPr>
              <a:t>→「Download ZIP」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3090672" y="2862072"/>
            <a:ext cx="182880" cy="320040"/>
          </a:xfrm>
          <a:prstGeom prst="rightArrow">
            <a:avLst/>
          </a:prstGeom>
          <a:solidFill>
            <a:srgbClr val="C8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291840" y="1844566"/>
            <a:ext cx="2606040" cy="20416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493008" y="2039112"/>
            <a:ext cx="475488" cy="475488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93008" y="20391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2633472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Yu Gothic"/>
                <a:ea typeface="Yu Gothic"/>
              </a:rPr>
              <a:t>C:\handson に置く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3182112"/>
            <a:ext cx="2423160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C:\handson フォルダーを作り</a:t>
            </a:r>
          </a:p>
          <a:p>
            <a:pPr algn="ctr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ダウンロードした</a:t>
            </a:r>
          </a:p>
          <a:p>
            <a:pPr algn="ctr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ZIPファイルを置く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925312" y="2862072"/>
            <a:ext cx="182880" cy="320040"/>
          </a:xfrm>
          <a:prstGeom prst="rightArrow">
            <a:avLst/>
          </a:prstGeom>
          <a:solidFill>
            <a:srgbClr val="C8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126480" y="1844566"/>
            <a:ext cx="2606040" cy="20416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327648" y="2039112"/>
            <a:ext cx="475488" cy="475488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27648" y="20391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2633472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Yu Gothic"/>
                <a:ea typeface="Yu Gothic"/>
              </a:rPr>
              <a:t>ZIPを展開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3182112"/>
            <a:ext cx="2423160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ZIPを右クリック</a:t>
            </a:r>
          </a:p>
          <a:p>
            <a:pPr algn="ctr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→「すべて展開」</a:t>
            </a:r>
          </a:p>
          <a:p>
            <a:pPr algn="ctr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展開先の欄を C:\handson にする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759952" y="2862072"/>
            <a:ext cx="182880" cy="320040"/>
          </a:xfrm>
          <a:prstGeom prst="rightArrow">
            <a:avLst/>
          </a:prstGeom>
          <a:solidFill>
            <a:srgbClr val="C8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961120" y="1844566"/>
            <a:ext cx="2606040" cy="20416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162288" y="2039112"/>
            <a:ext cx="475488" cy="475488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2288" y="20391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2633472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42B4A"/>
                </a:solidFill>
                <a:latin typeface="Yu Gothic"/>
                <a:ea typeface="Yu Gothic"/>
              </a:rPr>
              <a:t>フォルダー名を変更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3182112"/>
            <a:ext cx="2423160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末尾の「-main」を消して</a:t>
            </a:r>
          </a:p>
          <a:p>
            <a:pPr algn="ctr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copilot-webapp-handson</a:t>
            </a:r>
          </a:p>
          <a:p>
            <a:pPr algn="ctr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にする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069080"/>
            <a:ext cx="6400800" cy="2148840"/>
          </a:xfrm>
          <a:prstGeom prst="roundRect">
            <a:avLst>
              <a:gd name="adj" fmla="val 6000"/>
            </a:avLst>
          </a:prstGeom>
          <a:solidFill>
            <a:srgbClr val="1C2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85800" y="416052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展開できた状態（エクスプローラー）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4526280"/>
            <a:ext cx="58521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DDE6F0"/>
                </a:solidFill>
                <a:latin typeface="Consolas"/>
                <a:ea typeface="Yu Gothic"/>
              </a:rPr>
              <a:t>C:\handson\copilot-webapp-handson</a:t>
            </a:r>
          </a:p>
          <a:p>
            <a:pPr algn="l"/>
            <a:r>
              <a:rPr sz="1250" b="0">
                <a:solidFill>
                  <a:srgbClr val="DDE6F0"/>
                </a:solidFill>
                <a:latin typeface="Consolas"/>
                <a:ea typeface="Yu Gothic"/>
              </a:rPr>
              <a:t>├ .github</a:t>
            </a:r>
          </a:p>
          <a:p>
            <a:pPr algn="l"/>
            <a:r>
              <a:rPr sz="1250" b="0">
                <a:solidFill>
                  <a:srgbClr val="DDE6F0"/>
                </a:solidFill>
                <a:latin typeface="Consolas"/>
                <a:ea typeface="Yu Gothic"/>
              </a:rPr>
              <a:t>├ docs</a:t>
            </a:r>
          </a:p>
          <a:p>
            <a:pPr algn="l"/>
            <a:r>
              <a:rPr sz="1250" b="0">
                <a:solidFill>
                  <a:srgbClr val="DDE6F0"/>
                </a:solidFill>
                <a:latin typeface="Consolas"/>
                <a:ea typeface="Yu Gothic"/>
              </a:rPr>
              <a:t>├ guide       ← この資料があります</a:t>
            </a:r>
          </a:p>
          <a:p>
            <a:pPr algn="l"/>
            <a:r>
              <a:rPr sz="1250" b="0">
                <a:solidFill>
                  <a:srgbClr val="DDE6F0"/>
                </a:solidFill>
                <a:latin typeface="Consolas"/>
                <a:ea typeface="Yu Gothic"/>
              </a:rPr>
              <a:t>├ scripts</a:t>
            </a:r>
          </a:p>
          <a:p>
            <a:pPr algn="l"/>
            <a:r>
              <a:rPr sz="1250" b="0">
                <a:solidFill>
                  <a:srgbClr val="DDE6F0"/>
                </a:solidFill>
                <a:latin typeface="Consolas"/>
                <a:ea typeface="Yu Gothic"/>
              </a:rPr>
              <a:t>└ README.md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86600" y="4069080"/>
            <a:ext cx="4645152" cy="214884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269480" y="41605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176D2"/>
                </a:solidFill>
                <a:latin typeface="Yu Gothic"/>
                <a:ea typeface="Yu Gothic"/>
              </a:rPr>
              <a:t>この資料を開く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9480" y="452628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Consolas"/>
                <a:ea typeface="Yu Gothic"/>
              </a:rPr>
              <a:t>guide\handson-guide.pptx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69480" y="4937760"/>
            <a:ext cx="4343400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25364D"/>
                </a:solidFill>
                <a:latin typeface="Yu Gothic"/>
                <a:ea typeface="Yu Gothic"/>
              </a:rPr>
              <a:t>をダブルクリックで開きます</a:t>
            </a:r>
            <a:r>
              <a:rPr sz="1300" b="0" dirty="0">
                <a:solidFill>
                  <a:srgbClr val="25364D"/>
                </a:solidFill>
                <a:latin typeface="Yu Gothic"/>
                <a:ea typeface="Yu Gothic"/>
              </a:rPr>
              <a:t>。</a:t>
            </a:r>
          </a:p>
          <a:p>
            <a:pPr algn="l"/>
            <a:r>
              <a:rPr sz="1300" b="0" dirty="0" err="1">
                <a:solidFill>
                  <a:srgbClr val="25364D"/>
                </a:solidFill>
                <a:latin typeface="Yu Gothic"/>
                <a:ea typeface="Yu Gothic"/>
              </a:rPr>
              <a:t>ここから先は、自分のPCでこの資料を見ながら進めます</a:t>
            </a:r>
            <a:r>
              <a:rPr sz="1300" b="0" dirty="0">
                <a:solidFill>
                  <a:srgbClr val="25364D"/>
                </a:solidFill>
                <a:latin typeface="Yu Gothic"/>
                <a:ea typeface="Yu Gothic"/>
              </a:rPr>
              <a:t>。</a:t>
            </a:r>
          </a:p>
          <a:p>
            <a:pPr algn="l"/>
            <a:endParaRPr sz="1300" b="0" dirty="0">
              <a:solidFill>
                <a:srgbClr val="25364D"/>
              </a:solidFill>
              <a:latin typeface="Yu Gothic"/>
              <a:ea typeface="Yu Gothic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3D3A24F-C6C9-7008-12CE-3E01E405109B}"/>
              </a:ext>
            </a:extLst>
          </p:cNvPr>
          <p:cNvSpPr txBox="1"/>
          <p:nvPr/>
        </p:nvSpPr>
        <p:spPr>
          <a:xfrm>
            <a:off x="479379" y="1132963"/>
            <a:ext cx="9684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solidFill>
                  <a:srgbClr val="0070C0"/>
                </a:solidFill>
              </a:rPr>
              <a:t>https://github.com/KacomsInstructor/copilot-webapp-handson</a:t>
            </a:r>
            <a:endParaRPr kumimoji="1" lang="ja-JP" altLang="en-US" sz="2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57200" y="291715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ja-JP" altLang="en-US" sz="1200" b="1">
                <a:solidFill>
                  <a:srgbClr val="C21920"/>
                </a:solidFill>
                <a:latin typeface="Yu Gothic"/>
                <a:ea typeface="Yu Gothic"/>
              </a:rPr>
              <a:t>準備</a:t>
            </a:r>
            <a:r>
              <a:rPr sz="1200" b="1">
                <a:solidFill>
                  <a:srgbClr val="C21920"/>
                </a:solidFill>
                <a:latin typeface="Yu Gothic"/>
                <a:ea typeface="Yu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Yu Gothic"/>
                <a:ea typeface="Yu Gothic"/>
              </a:rPr>
              <a:t>必要なソフトがそろっているか確認し、足りないものを入れます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5364D"/>
                </a:solidFill>
                <a:latin typeface="Yu Gothic"/>
                <a:ea typeface="Yu Gothic"/>
              </a:rPr>
              <a:t>Windowsの「スタート」→「PowerShell」を開き、左の確認コマンドを入力します。OKにならないものだけ、右のコマンドでインストールします。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1664208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1664208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ソフト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06040" y="1664208"/>
            <a:ext cx="3017520" cy="384048"/>
          </a:xfrm>
          <a:prstGeom prst="roundRect">
            <a:avLst>
              <a:gd name="adj" fmla="val 6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06040" y="1664208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確認コマンド → OKの目安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0" y="1664208"/>
            <a:ext cx="6062472" cy="384048"/>
          </a:xfrm>
          <a:prstGeom prst="roundRect">
            <a:avLst>
              <a:gd name="adj" fmla="val 6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669280" y="1664208"/>
            <a:ext cx="60624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入っていないとき（インストール）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2121408"/>
            <a:ext cx="11274552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94360" y="2258568"/>
            <a:ext cx="310896" cy="310896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22585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2121408"/>
            <a:ext cx="1554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Yu Gothic"/>
                <a:ea typeface="Yu Gothic"/>
              </a:rPr>
              <a:t>VS Code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213969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42B4A"/>
                </a:solidFill>
                <a:latin typeface="Consolas"/>
                <a:ea typeface="Yu Gothic"/>
              </a:rPr>
              <a:t>code --version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2414015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D9A57"/>
                </a:solidFill>
                <a:latin typeface="Yu Gothic"/>
                <a:ea typeface="Yu Gothic"/>
              </a:rPr>
              <a:t>OK：バージョンが表示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15000" y="2212848"/>
            <a:ext cx="5943600" cy="402336"/>
          </a:xfrm>
          <a:prstGeom prst="roundRect">
            <a:avLst>
              <a:gd name="adj" fmla="val 6000"/>
            </a:avLst>
          </a:prstGeom>
          <a:solidFill>
            <a:srgbClr val="1C2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852160" y="2212848"/>
            <a:ext cx="57607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7CE3A0"/>
                </a:solidFill>
                <a:latin typeface="Consolas"/>
                <a:ea typeface="Yu Gothic"/>
              </a:rPr>
              <a:t>winget install -e --id Microsoft.VisualStudioCode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2779776"/>
            <a:ext cx="11274552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94360" y="2916936"/>
            <a:ext cx="310896" cy="310896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4360" y="291693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" y="2779776"/>
            <a:ext cx="1554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Yu Gothic"/>
                <a:ea typeface="Yu Gothic"/>
              </a:rPr>
              <a:t>Python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51760" y="279806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42B4A"/>
                </a:solidFill>
                <a:latin typeface="Consolas"/>
                <a:ea typeface="Yu Gothic"/>
              </a:rPr>
              <a:t>python --version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51760" y="307238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D9A57"/>
                </a:solidFill>
                <a:latin typeface="Yu Gothic"/>
                <a:ea typeface="Yu Gothic"/>
              </a:rPr>
              <a:t>OK：3.10 以上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15000" y="2871216"/>
            <a:ext cx="5943600" cy="402336"/>
          </a:xfrm>
          <a:prstGeom prst="roundRect">
            <a:avLst>
              <a:gd name="adj" fmla="val 6000"/>
            </a:avLst>
          </a:prstGeom>
          <a:solidFill>
            <a:srgbClr val="1C2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852160" y="2871216"/>
            <a:ext cx="57607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7CE3A0"/>
                </a:solidFill>
                <a:latin typeface="Consolas"/>
                <a:ea typeface="Yu Gothic"/>
              </a:rPr>
              <a:t>winget install -e --id Python.Python.3.12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3438144"/>
            <a:ext cx="11274552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594360" y="3575303"/>
            <a:ext cx="310896" cy="310896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3575303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" y="3438144"/>
            <a:ext cx="1554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Yu Gothic"/>
                <a:ea typeface="Yu Gothic"/>
              </a:rPr>
              <a:t>Azure CLI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51760" y="345643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42B4A"/>
                </a:solidFill>
                <a:latin typeface="Consolas"/>
                <a:ea typeface="Yu Gothic"/>
              </a:rPr>
              <a:t>az version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51760" y="373075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D9A57"/>
                </a:solidFill>
                <a:latin typeface="Yu Gothic"/>
                <a:ea typeface="Yu Gothic"/>
              </a:rPr>
              <a:t>OK：バージョンが表示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715000" y="3529584"/>
            <a:ext cx="5943600" cy="402336"/>
          </a:xfrm>
          <a:prstGeom prst="roundRect">
            <a:avLst>
              <a:gd name="adj" fmla="val 6000"/>
            </a:avLst>
          </a:prstGeom>
          <a:solidFill>
            <a:srgbClr val="1C2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852160" y="3529584"/>
            <a:ext cx="57607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7CE3A0"/>
                </a:solidFill>
                <a:latin typeface="Consolas"/>
                <a:ea typeface="Yu Gothic"/>
              </a:rPr>
              <a:t>winget install -e --id Microsoft.AzureCLI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4096512"/>
            <a:ext cx="11274552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94360" y="4233672"/>
            <a:ext cx="310896" cy="310896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94360" y="423367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4096512"/>
            <a:ext cx="1554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42B4A"/>
                </a:solidFill>
                <a:latin typeface="Yu Gothic"/>
                <a:ea typeface="Yu Gothic"/>
              </a:rPr>
              <a:t>Terraform CLI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51760" y="41148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42B4A"/>
                </a:solidFill>
                <a:latin typeface="Consolas"/>
                <a:ea typeface="Yu Gothic"/>
              </a:rPr>
              <a:t>terraform version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51760" y="43891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D9A57"/>
                </a:solidFill>
                <a:latin typeface="Yu Gothic"/>
                <a:ea typeface="Yu Gothic"/>
              </a:rPr>
              <a:t>OK：v1.5 以上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15000" y="4187952"/>
            <a:ext cx="5943600" cy="402336"/>
          </a:xfrm>
          <a:prstGeom prst="roundRect">
            <a:avLst>
              <a:gd name="adj" fmla="val 6000"/>
            </a:avLst>
          </a:prstGeom>
          <a:solidFill>
            <a:srgbClr val="1C2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852160" y="4187952"/>
            <a:ext cx="57607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7CE3A0"/>
                </a:solidFill>
                <a:latin typeface="Consolas"/>
                <a:ea typeface="Yu Gothic"/>
              </a:rPr>
              <a:t>winget install -e --id Hashicorp.Terraform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7200" y="4846320"/>
            <a:ext cx="11274552" cy="132588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12700">
            <a:solidFill>
              <a:srgbClr val="F2C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85800" y="491947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D9660B"/>
                </a:solidFill>
                <a:latin typeface="Yu Gothic"/>
                <a:ea typeface="Yu Gothic"/>
              </a:rPr>
              <a:t>インストールしたら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25780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5364D"/>
                </a:solidFill>
                <a:latin typeface="Yu Gothic"/>
                <a:ea typeface="Yu Gothic"/>
              </a:rPr>
              <a:t>PowerShellとVS Codeのウィンドウをすべて閉じて開き直してから、もう一度確認します（開き直さないと「認識されません」と出ます）。</a:t>
            </a:r>
          </a:p>
          <a:p>
            <a:pPr algn="l"/>
            <a:r>
              <a:rPr sz="1250" b="0">
                <a:solidFill>
                  <a:srgbClr val="25364D"/>
                </a:solidFill>
                <a:latin typeface="Yu Gothic"/>
                <a:ea typeface="Yu Gothic"/>
              </a:rPr>
              <a:t>VS Codeの「HashiCorp Terraform」拡張機能だけでは terraform コマンドは使えません。CLI本体が必要です。</a:t>
            </a:r>
          </a:p>
          <a:p>
            <a:pPr algn="l"/>
            <a:r>
              <a:rPr sz="1250" b="0">
                <a:solidFill>
                  <a:srgbClr val="25364D"/>
                </a:solidFill>
                <a:latin typeface="Yu Gothic"/>
                <a:ea typeface="Yu Gothic"/>
              </a:rPr>
              <a:t>「管理者権限が必要」と表示された場合は、手を挙げてスタッフを呼んでください。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57200" y="291715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ja-JP" altLang="en-US" sz="1200" b="1">
                <a:solidFill>
                  <a:srgbClr val="C21920"/>
                </a:solidFill>
                <a:latin typeface="Yu Gothic"/>
                <a:ea typeface="Yu Gothic"/>
              </a:rPr>
              <a:t>準備</a:t>
            </a:r>
            <a:r>
              <a:rPr sz="1200" b="1">
                <a:solidFill>
                  <a:srgbClr val="C21920"/>
                </a:solidFill>
                <a:latin typeface="Yu Gothic"/>
                <a:ea typeface="Yu Gothic"/>
              </a:rPr>
              <a:t>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42B4A"/>
                </a:solidFill>
                <a:latin typeface="Yu Gothic"/>
                <a:ea typeface="Yu Gothic"/>
              </a:rPr>
              <a:t>VS Codeでフォルダーを開き、サインインしてセットアップします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1325880"/>
            <a:ext cx="363931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144475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C21920"/>
                </a:solidFill>
                <a:latin typeface="Yu Gothic"/>
                <a:ea typeface="Yu Gothic"/>
              </a:rPr>
              <a:t>VS Codeで開く</a:t>
            </a:r>
          </a:p>
        </p:txBody>
      </p:sp>
      <p:sp>
        <p:nvSpPr>
          <p:cNvPr id="41" name="Oval 40"/>
          <p:cNvSpPr/>
          <p:nvPr/>
        </p:nvSpPr>
        <p:spPr>
          <a:xfrm>
            <a:off x="658368" y="1901951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" y="190195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5" y="1874519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ファイル → フォルダーを開く</a:t>
            </a:r>
          </a:p>
        </p:txBody>
      </p:sp>
      <p:sp>
        <p:nvSpPr>
          <p:cNvPr id="44" name="Oval 43"/>
          <p:cNvSpPr/>
          <p:nvPr/>
        </p:nvSpPr>
        <p:spPr>
          <a:xfrm>
            <a:off x="658368" y="2432303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" y="243230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5" y="2404872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C:\handson\copilot-webapp-handson を選ぶ</a:t>
            </a:r>
          </a:p>
        </p:txBody>
      </p:sp>
      <p:sp>
        <p:nvSpPr>
          <p:cNvPr id="47" name="Oval 46"/>
          <p:cNvSpPr/>
          <p:nvPr/>
        </p:nvSpPr>
        <p:spPr>
          <a:xfrm>
            <a:off x="658368" y="2962656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" y="29626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5" y="2935224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確認画面は「はい、作成者を信頼します」</a:t>
            </a:r>
          </a:p>
        </p:txBody>
      </p:sp>
      <p:sp>
        <p:nvSpPr>
          <p:cNvPr id="50" name="Oval 49"/>
          <p:cNvSpPr/>
          <p:nvPr/>
        </p:nvSpPr>
        <p:spPr>
          <a:xfrm>
            <a:off x="658368" y="3493007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" y="3493007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5" y="3465575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左側に .github が一番上に見えればOK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51960" y="1325880"/>
            <a:ext cx="363931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453128" y="144475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C21920"/>
                </a:solidFill>
                <a:latin typeface="Yu Gothic"/>
                <a:ea typeface="Yu Gothic"/>
              </a:rPr>
              <a:t>GitHubにサインイン</a:t>
            </a:r>
          </a:p>
        </p:txBody>
      </p:sp>
      <p:sp>
        <p:nvSpPr>
          <p:cNvPr id="55" name="Oval 54"/>
          <p:cNvSpPr/>
          <p:nvPr/>
        </p:nvSpPr>
        <p:spPr>
          <a:xfrm>
            <a:off x="4453128" y="1901951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53128" y="190195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37176" y="1874519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左下の人型アイコン（アカウント）</a:t>
            </a:r>
          </a:p>
        </p:txBody>
      </p:sp>
      <p:sp>
        <p:nvSpPr>
          <p:cNvPr id="58" name="Oval 57"/>
          <p:cNvSpPr/>
          <p:nvPr/>
        </p:nvSpPr>
        <p:spPr>
          <a:xfrm>
            <a:off x="4453128" y="2432303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53128" y="243230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37176" y="2404872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「GitHubでサインイン」を選ぶ</a:t>
            </a:r>
          </a:p>
        </p:txBody>
      </p:sp>
      <p:sp>
        <p:nvSpPr>
          <p:cNvPr id="61" name="Oval 60"/>
          <p:cNvSpPr/>
          <p:nvPr/>
        </p:nvSpPr>
        <p:spPr>
          <a:xfrm>
            <a:off x="4453128" y="2962656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453128" y="29626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37176" y="2935224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ブラウザーで配布カードのGitHubアカウントを入力</a:t>
            </a:r>
          </a:p>
        </p:txBody>
      </p:sp>
      <p:sp>
        <p:nvSpPr>
          <p:cNvPr id="64" name="Oval 63"/>
          <p:cNvSpPr/>
          <p:nvPr/>
        </p:nvSpPr>
        <p:spPr>
          <a:xfrm>
            <a:off x="4453128" y="3493007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453128" y="3493007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37176" y="3465575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右上のCopilotアイコンでチャットが開く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46720" y="1325880"/>
            <a:ext cx="363931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47888" y="144475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C21920"/>
                </a:solidFill>
                <a:latin typeface="Yu Gothic"/>
                <a:ea typeface="Yu Gothic"/>
              </a:rPr>
              <a:t>セットアップを実行</a:t>
            </a:r>
          </a:p>
        </p:txBody>
      </p:sp>
      <p:sp>
        <p:nvSpPr>
          <p:cNvPr id="69" name="Oval 68"/>
          <p:cNvSpPr/>
          <p:nvPr/>
        </p:nvSpPr>
        <p:spPr>
          <a:xfrm>
            <a:off x="8247888" y="1901951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47888" y="190195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31936" y="1874519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「ターミナル」→「新しいターミナル」</a:t>
            </a:r>
          </a:p>
        </p:txBody>
      </p:sp>
      <p:sp>
        <p:nvSpPr>
          <p:cNvPr id="72" name="Oval 71"/>
          <p:cNvSpPr/>
          <p:nvPr/>
        </p:nvSpPr>
        <p:spPr>
          <a:xfrm>
            <a:off x="8247888" y="2432303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47888" y="243230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31936" y="2404872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下のコマンドを入力して Enter</a:t>
            </a:r>
          </a:p>
        </p:txBody>
      </p:sp>
      <p:sp>
        <p:nvSpPr>
          <p:cNvPr id="75" name="Oval 74"/>
          <p:cNvSpPr/>
          <p:nvPr/>
        </p:nvSpPr>
        <p:spPr>
          <a:xfrm>
            <a:off x="8247888" y="2962656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47888" y="29626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31936" y="2935224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「Setup completed.」と表示される</a:t>
            </a:r>
          </a:p>
        </p:txBody>
      </p:sp>
      <p:sp>
        <p:nvSpPr>
          <p:cNvPr id="78" name="Oval 77"/>
          <p:cNvSpPr/>
          <p:nvPr/>
        </p:nvSpPr>
        <p:spPr>
          <a:xfrm>
            <a:off x="8247888" y="3493007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247888" y="3493007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31936" y="3465575"/>
            <a:ext cx="2907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数分かかっても、そのまま待つ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7200" y="431596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1C2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94360" y="431596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AFC0D3"/>
                </a:solidFill>
                <a:latin typeface="Yu Gothic"/>
                <a:ea typeface="Yu Gothic"/>
              </a:rPr>
              <a:t>ターミナルに入力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31720" y="4315968"/>
            <a:ext cx="92628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7CE3A0"/>
                </a:solidFill>
                <a:latin typeface="Consolas"/>
                <a:ea typeface="Yu Gothic"/>
              </a:rPr>
              <a:t>.\scripts\setup-local.cmd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57200" y="5074920"/>
            <a:ext cx="11274552" cy="109728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12700">
            <a:solidFill>
              <a:srgbClr val="F2C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85800" y="5074920"/>
            <a:ext cx="108356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D9660B"/>
                </a:solidFill>
                <a:latin typeface="Yu Gothic"/>
                <a:ea typeface="Yu Gothic"/>
              </a:rPr>
              <a:t>.github が見えない場合は、1つ外側のフォルダーを開いています。copilot-webapp-handson を開き直します。</a:t>
            </a:r>
          </a:p>
          <a:p>
            <a:pPr algn="l"/>
            <a:r>
              <a:rPr sz="1300" b="1">
                <a:solidFill>
                  <a:srgbClr val="D9660B"/>
                </a:solidFill>
                <a:latin typeface="Yu Gothic"/>
                <a:ea typeface="Yu Gothic"/>
              </a:rPr>
              <a:t>個人のGitHubアカウントでサインイン済みの場合は、サインアウトして配布カードのアカウントでサインインし直します。</a:t>
            </a:r>
          </a:p>
          <a:p>
            <a:pPr algn="l"/>
            <a:r>
              <a:rPr sz="1300" b="1">
                <a:solidFill>
                  <a:srgbClr val="D9660B"/>
                </a:solidFill>
                <a:latin typeface="Yu Gothic"/>
                <a:ea typeface="Yu Gothic"/>
              </a:rPr>
              <a:t>ここでは、まだCopilotにプロンプトを入力しません。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Copilotの使い方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Copilotでは、毎回同じ6つの操作を繰り返します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420624" cy="42062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1325880" y="16184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新しいチャットを開く</a:t>
            </a:r>
            <a:endParaRPr lang="en-US" sz="1700"/>
          </a:p>
        </p:txBody>
      </p:sp>
      <p:sp>
        <p:nvSpPr>
          <p:cNvPr id="8" name="Shape 6"/>
          <p:cNvSpPr/>
          <p:nvPr/>
        </p:nvSpPr>
        <p:spPr>
          <a:xfrm>
            <a:off x="1325880" y="2286000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435608" y="228600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＋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526280" y="1645920"/>
            <a:ext cx="420624" cy="42062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2628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5074920" y="16184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Agentモードを確認</a:t>
            </a:r>
            <a:endParaRPr lang="en-US" sz="1700"/>
          </a:p>
        </p:txBody>
      </p:sp>
      <p:sp>
        <p:nvSpPr>
          <p:cNvPr id="14" name="Shape 12"/>
          <p:cNvSpPr/>
          <p:nvPr/>
        </p:nvSpPr>
        <p:spPr>
          <a:xfrm>
            <a:off x="5074920" y="2286000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184648" y="228600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275320" y="1645920"/>
            <a:ext cx="420624" cy="42062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27532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8823960" y="16184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「/」を入力</a:t>
            </a:r>
            <a:endParaRPr lang="en-US" sz="1700"/>
          </a:p>
        </p:txBody>
      </p:sp>
      <p:sp>
        <p:nvSpPr>
          <p:cNvPr id="20" name="Shape 18"/>
          <p:cNvSpPr/>
          <p:nvPr/>
        </p:nvSpPr>
        <p:spPr>
          <a:xfrm>
            <a:off x="8823960" y="2286000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933688" y="228600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777240" y="3566160"/>
            <a:ext cx="420624" cy="42062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7724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1325880" y="35387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プロンプトを選ぶ</a:t>
            </a:r>
            <a:endParaRPr lang="en-US" sz="1700"/>
          </a:p>
        </p:txBody>
      </p:sp>
      <p:sp>
        <p:nvSpPr>
          <p:cNvPr id="26" name="Shape 24"/>
          <p:cNvSpPr/>
          <p:nvPr/>
        </p:nvSpPr>
        <p:spPr>
          <a:xfrm>
            <a:off x="1325880" y="4206240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1435608" y="420624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/02-requirements</a:t>
            </a: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4297680" y="33375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4526280" y="3566160"/>
            <a:ext cx="420624" cy="42062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52628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5074920" y="35387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送信する</a:t>
            </a:r>
            <a:endParaRPr lang="en-US" sz="1700"/>
          </a:p>
        </p:txBody>
      </p:sp>
      <p:sp>
        <p:nvSpPr>
          <p:cNvPr id="32" name="Shape 30"/>
          <p:cNvSpPr/>
          <p:nvPr/>
        </p:nvSpPr>
        <p:spPr>
          <a:xfrm>
            <a:off x="5074920" y="4206240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5184648" y="420624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400"/>
          </a:p>
        </p:txBody>
      </p:sp>
      <p:sp>
        <p:nvSpPr>
          <p:cNvPr id="34" name="Shape 32"/>
          <p:cNvSpPr/>
          <p:nvPr/>
        </p:nvSpPr>
        <p:spPr>
          <a:xfrm>
            <a:off x="8046720" y="33375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8275320" y="3566160"/>
            <a:ext cx="420624" cy="42062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827532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300"/>
          </a:p>
        </p:txBody>
      </p:sp>
      <p:sp>
        <p:nvSpPr>
          <p:cNvPr id="37" name="Text 35"/>
          <p:cNvSpPr/>
          <p:nvPr/>
        </p:nvSpPr>
        <p:spPr>
          <a:xfrm>
            <a:off x="8823960" y="35387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生成ファイルを確認</a:t>
            </a:r>
            <a:endParaRPr lang="en-US" sz="1700"/>
          </a:p>
        </p:txBody>
      </p:sp>
      <p:sp>
        <p:nvSpPr>
          <p:cNvPr id="38" name="Shape 36"/>
          <p:cNvSpPr/>
          <p:nvPr/>
        </p:nvSpPr>
        <p:spPr>
          <a:xfrm>
            <a:off x="8823960" y="4206240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8933688" y="420624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400"/>
          </a:p>
        </p:txBody>
      </p:sp>
      <p:sp>
        <p:nvSpPr>
          <p:cNvPr id="40" name="Shape 38"/>
          <p:cNvSpPr/>
          <p:nvPr/>
        </p:nvSpPr>
        <p:spPr>
          <a:xfrm>
            <a:off x="548640" y="5440680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48640" y="5440680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STEPごとに「＋」で新しいチャットを開きます。前の内容は、作成されたMarkdownファイルから読み込まれます。</a:t>
            </a:r>
            <a:endParaRPr lang="en-US" sz="150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00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環境確認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00／10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3832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3832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これからの作業を始められる状態か確認します。</a:t>
            </a:r>
            <a:endParaRPr lang="en-US" sz="1900"/>
          </a:p>
        </p:txBody>
      </p:sp>
      <p:sp>
        <p:nvSpPr>
          <p:cNvPr id="39" name="Shape 37"/>
          <p:cNvSpPr/>
          <p:nvPr/>
        </p:nvSpPr>
        <p:spPr>
          <a:xfrm>
            <a:off x="457200" y="2377440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1C2736"/>
          </a:solidFill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594360" y="23774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FC0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ターミナルに入力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2148840" y="2377440"/>
            <a:ext cx="9445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7CE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login</a:t>
            </a:r>
            <a:endParaRPr lang="en-US" sz="1400"/>
          </a:p>
        </p:txBody>
      </p:sp>
      <p:sp>
        <p:nvSpPr>
          <p:cNvPr id="42" name="Shape 40"/>
          <p:cNvSpPr/>
          <p:nvPr/>
        </p:nvSpPr>
        <p:spPr>
          <a:xfrm>
            <a:off x="457200" y="2907792"/>
            <a:ext cx="5623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685800" y="3044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/>
          </a:p>
        </p:txBody>
      </p:sp>
      <p:sp>
        <p:nvSpPr>
          <p:cNvPr id="44" name="Shape 42"/>
          <p:cNvSpPr/>
          <p:nvPr/>
        </p:nvSpPr>
        <p:spPr>
          <a:xfrm>
            <a:off x="685800" y="345643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8580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1097280" y="34381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配布カードのAzureアカウントでサインイン</a:t>
            </a:r>
            <a:endParaRPr lang="en-US" sz="1500"/>
          </a:p>
        </p:txBody>
      </p:sp>
      <p:sp>
        <p:nvSpPr>
          <p:cNvPr id="47" name="Shape 45"/>
          <p:cNvSpPr/>
          <p:nvPr/>
        </p:nvSpPr>
        <p:spPr>
          <a:xfrm>
            <a:off x="685800" y="385876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685800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1097280" y="38404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チャットのモードを「Agent」にする</a:t>
            </a:r>
            <a:endParaRPr lang="en-US" sz="1500"/>
          </a:p>
        </p:txBody>
      </p:sp>
      <p:sp>
        <p:nvSpPr>
          <p:cNvPr id="50" name="Shape 48"/>
          <p:cNvSpPr/>
          <p:nvPr/>
        </p:nvSpPr>
        <p:spPr>
          <a:xfrm>
            <a:off x="685800" y="4261104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8580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/>
          </a:p>
        </p:txBody>
      </p:sp>
      <p:sp>
        <p:nvSpPr>
          <p:cNvPr id="52" name="Text 50"/>
          <p:cNvSpPr/>
          <p:nvPr/>
        </p:nvSpPr>
        <p:spPr>
          <a:xfrm>
            <a:off x="1097280" y="42428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/00-environment-check を実行する</a:t>
            </a:r>
            <a:endParaRPr lang="en-US" sz="1500"/>
          </a:p>
        </p:txBody>
      </p:sp>
      <p:sp>
        <p:nvSpPr>
          <p:cNvPr id="53" name="Shape 51"/>
          <p:cNvSpPr/>
          <p:nvPr/>
        </p:nvSpPr>
        <p:spPr>
          <a:xfrm>
            <a:off x="6309360" y="2907792"/>
            <a:ext cx="5422392" cy="1783080"/>
          </a:xfrm>
          <a:prstGeom prst="roundRect">
            <a:avLst>
              <a:gd name="adj" fmla="val 4103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6537960" y="3044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/>
          </a:p>
        </p:txBody>
      </p:sp>
      <p:sp>
        <p:nvSpPr>
          <p:cNvPr id="55" name="Shape 53"/>
          <p:cNvSpPr/>
          <p:nvPr/>
        </p:nvSpPr>
        <p:spPr>
          <a:xfrm>
            <a:off x="6565392" y="3474720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6876288" y="3438144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docs/00-environment-check.md</a:t>
            </a:r>
            <a:endParaRPr lang="en-US" sz="1300"/>
          </a:p>
        </p:txBody>
      </p:sp>
      <p:sp>
        <p:nvSpPr>
          <p:cNvPr id="57" name="Shape 55"/>
          <p:cNvSpPr/>
          <p:nvPr/>
        </p:nvSpPr>
        <p:spPr>
          <a:xfrm>
            <a:off x="457200" y="4800600"/>
            <a:ext cx="5623560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685800" y="4937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/>
          </a:p>
        </p:txBody>
      </p:sp>
      <p:sp>
        <p:nvSpPr>
          <p:cNvPr id="59" name="Shape 57"/>
          <p:cNvSpPr/>
          <p:nvPr/>
        </p:nvSpPr>
        <p:spPr>
          <a:xfrm>
            <a:off x="713232" y="53400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713232" y="5340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1" name="Text 59"/>
          <p:cNvSpPr/>
          <p:nvPr/>
        </p:nvSpPr>
        <p:spPr>
          <a:xfrm>
            <a:off x="1097280" y="5303520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Copilotが応答する</a:t>
            </a:r>
            <a:endParaRPr lang="en-US" sz="1400"/>
          </a:p>
        </p:txBody>
      </p:sp>
      <p:sp>
        <p:nvSpPr>
          <p:cNvPr id="62" name="Shape 60"/>
          <p:cNvSpPr/>
          <p:nvPr/>
        </p:nvSpPr>
        <p:spPr>
          <a:xfrm>
            <a:off x="713232" y="56692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713232" y="5669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1097280" y="5632704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結果に「NG：0件」と表示される</a:t>
            </a:r>
            <a:endParaRPr lang="en-US" sz="1400"/>
          </a:p>
        </p:txBody>
      </p:sp>
      <p:sp>
        <p:nvSpPr>
          <p:cNvPr id="65" name="Shape 63"/>
          <p:cNvSpPr/>
          <p:nvPr/>
        </p:nvSpPr>
        <p:spPr>
          <a:xfrm>
            <a:off x="713232" y="59984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713232" y="5998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7" name="Text 65"/>
          <p:cNvSpPr/>
          <p:nvPr/>
        </p:nvSpPr>
        <p:spPr>
          <a:xfrm>
            <a:off x="1097280" y="596188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version が表示される（1.5以上）</a:t>
            </a:r>
            <a:endParaRPr lang="en-US" sz="1400"/>
          </a:p>
        </p:txBody>
      </p:sp>
      <p:sp>
        <p:nvSpPr>
          <p:cNvPr id="68" name="Shape 66"/>
          <p:cNvSpPr/>
          <p:nvPr/>
        </p:nvSpPr>
        <p:spPr>
          <a:xfrm>
            <a:off x="6309360" y="4800600"/>
            <a:ext cx="5422392" cy="1527048"/>
          </a:xfrm>
          <a:prstGeom prst="roundRect">
            <a:avLst>
              <a:gd name="adj" fmla="val 4790"/>
            </a:avLst>
          </a:prstGeom>
          <a:solidFill>
            <a:srgbClr val="EEF1F5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6537960" y="4937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このSTEPでは…</a:t>
            </a:r>
            <a:endParaRPr lang="en-US" sz="1500"/>
          </a:p>
        </p:txBody>
      </p:sp>
      <p:sp>
        <p:nvSpPr>
          <p:cNvPr id="70" name="Text 68"/>
          <p:cNvSpPr/>
          <p:nvPr/>
        </p:nvSpPr>
        <p:spPr>
          <a:xfrm>
            <a:off x="6537960" y="527608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ここでは、アプリをつくりません。</a:t>
            </a:r>
            <a:endParaRPr lang="en-US" sz="1500"/>
          </a:p>
          <a:p>
            <a:pPr marL="0" indent="0">
              <a:buNone/>
            </a:pPr>
            <a:r>
              <a:rPr lang="en-US" sz="1500" b="1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NGがあれば手を挙げてスタッフを呼んでください。</a:t>
            </a:r>
            <a:endParaRPr lang="en-US" sz="150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01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業務課題の整理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01／10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88696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8696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アイデアソンの内容を「開発できる課題1つ」に絞ります。</a:t>
            </a:r>
            <a:endParaRPr lang="en-US" sz="190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8580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/>
          </a:p>
        </p:txBody>
      </p:sp>
      <p:sp>
        <p:nvSpPr>
          <p:cNvPr id="41" name="Shape 39"/>
          <p:cNvSpPr/>
          <p:nvPr/>
        </p:nvSpPr>
        <p:spPr>
          <a:xfrm>
            <a:off x="685800" y="294436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8580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1097280" y="29260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docs/01-input.md に記入・保存する</a:t>
            </a:r>
            <a:endParaRPr lang="en-US" sz="1500"/>
          </a:p>
        </p:txBody>
      </p:sp>
      <p:sp>
        <p:nvSpPr>
          <p:cNvPr id="44" name="Shape 42"/>
          <p:cNvSpPr/>
          <p:nvPr/>
        </p:nvSpPr>
        <p:spPr>
          <a:xfrm>
            <a:off x="685800" y="3383280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8580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1097280" y="33649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「＋」で新しいチャットを開く</a:t>
            </a:r>
            <a:endParaRPr lang="en-US" sz="1500"/>
          </a:p>
        </p:txBody>
      </p:sp>
      <p:sp>
        <p:nvSpPr>
          <p:cNvPr id="47" name="Shape 45"/>
          <p:cNvSpPr/>
          <p:nvPr/>
        </p:nvSpPr>
        <p:spPr>
          <a:xfrm>
            <a:off x="685800" y="382219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68580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1097280" y="38039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/01-business-problem を実行する</a:t>
            </a:r>
            <a:endParaRPr lang="en-US" sz="1500"/>
          </a:p>
        </p:txBody>
      </p:sp>
      <p:sp>
        <p:nvSpPr>
          <p:cNvPr id="50" name="Shape 48"/>
          <p:cNvSpPr/>
          <p:nvPr/>
        </p:nvSpPr>
        <p:spPr>
          <a:xfrm>
            <a:off x="6309360" y="2395728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53796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/>
          </a:p>
        </p:txBody>
      </p:sp>
      <p:sp>
        <p:nvSpPr>
          <p:cNvPr id="52" name="Shape 50"/>
          <p:cNvSpPr/>
          <p:nvPr/>
        </p:nvSpPr>
        <p:spPr>
          <a:xfrm>
            <a:off x="6565392" y="2962656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6876288" y="292608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docs/01-business-problem.md</a:t>
            </a:r>
            <a:endParaRPr lang="en-US" sz="1300"/>
          </a:p>
        </p:txBody>
      </p:sp>
      <p:sp>
        <p:nvSpPr>
          <p:cNvPr id="54" name="Shape 52"/>
          <p:cNvSpPr/>
          <p:nvPr/>
        </p:nvSpPr>
        <p:spPr>
          <a:xfrm>
            <a:off x="457200" y="4590288"/>
            <a:ext cx="5623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68580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/>
          </a:p>
        </p:txBody>
      </p:sp>
      <p:sp>
        <p:nvSpPr>
          <p:cNvPr id="56" name="Shape 54"/>
          <p:cNvSpPr/>
          <p:nvPr/>
        </p:nvSpPr>
        <p:spPr>
          <a:xfrm>
            <a:off x="713232" y="51297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713232" y="5129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58" name="Text 56"/>
          <p:cNvSpPr/>
          <p:nvPr/>
        </p:nvSpPr>
        <p:spPr>
          <a:xfrm>
            <a:off x="1097280" y="509320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誰の課題か分かる</a:t>
            </a:r>
            <a:endParaRPr lang="en-US" sz="1400"/>
          </a:p>
        </p:txBody>
      </p:sp>
      <p:sp>
        <p:nvSpPr>
          <p:cNvPr id="59" name="Shape 57"/>
          <p:cNvSpPr/>
          <p:nvPr/>
        </p:nvSpPr>
        <p:spPr>
          <a:xfrm>
            <a:off x="713232" y="549554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713232" y="5495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1" name="Text 59"/>
          <p:cNvSpPr/>
          <p:nvPr/>
        </p:nvSpPr>
        <p:spPr>
          <a:xfrm>
            <a:off x="1097280" y="545896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解決したいことが1つ</a:t>
            </a:r>
            <a:endParaRPr lang="en-US" sz="1400"/>
          </a:p>
        </p:txBody>
      </p:sp>
      <p:sp>
        <p:nvSpPr>
          <p:cNvPr id="62" name="Shape 60"/>
          <p:cNvSpPr/>
          <p:nvPr/>
        </p:nvSpPr>
        <p:spPr>
          <a:xfrm>
            <a:off x="713232" y="58613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713232" y="5861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1097280" y="582472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何人で使うか・管理したい情報がある</a:t>
            </a:r>
            <a:endParaRPr lang="en-US" sz="1400"/>
          </a:p>
        </p:txBody>
      </p:sp>
      <p:sp>
        <p:nvSpPr>
          <p:cNvPr id="65" name="Shape 63"/>
          <p:cNvSpPr/>
          <p:nvPr/>
        </p:nvSpPr>
        <p:spPr>
          <a:xfrm>
            <a:off x="6309360" y="4590288"/>
            <a:ext cx="5422392" cy="1737360"/>
          </a:xfrm>
          <a:prstGeom prst="roundRect">
            <a:avLst>
              <a:gd name="adj" fmla="val 4211"/>
            </a:avLst>
          </a:prstGeom>
          <a:solidFill>
            <a:srgbClr val="EEF1F5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653796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このSTEPでは…</a:t>
            </a:r>
            <a:endParaRPr lang="en-US" sz="1500"/>
          </a:p>
        </p:txBody>
      </p:sp>
      <p:sp>
        <p:nvSpPr>
          <p:cNvPr id="67" name="Text 65"/>
          <p:cNvSpPr/>
          <p:nvPr/>
        </p:nvSpPr>
        <p:spPr>
          <a:xfrm>
            <a:off x="6537960" y="5065776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何人で使うか、同時に更新する人がいるかも書きます。STEP05でAIが構成を選ぶ材料になります。</a:t>
            </a:r>
            <a:endParaRPr lang="en-US" sz="1500"/>
          </a:p>
        </p:txBody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02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02／10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143560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43560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業務課題を、アプリに必要な機能へ変換します。</a:t>
            </a:r>
            <a:endParaRPr lang="en-US" sz="190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8580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/>
          </a:p>
        </p:txBody>
      </p:sp>
      <p:sp>
        <p:nvSpPr>
          <p:cNvPr id="41" name="Shape 39"/>
          <p:cNvSpPr/>
          <p:nvPr/>
        </p:nvSpPr>
        <p:spPr>
          <a:xfrm>
            <a:off x="685800" y="294436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8580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1097280" y="29260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「＋」で新しいチャットを開く</a:t>
            </a:r>
            <a:endParaRPr lang="en-US" sz="1500"/>
          </a:p>
        </p:txBody>
      </p:sp>
      <p:sp>
        <p:nvSpPr>
          <p:cNvPr id="44" name="Shape 42"/>
          <p:cNvSpPr/>
          <p:nvPr/>
        </p:nvSpPr>
        <p:spPr>
          <a:xfrm>
            <a:off x="685800" y="3383280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8580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1097280" y="33649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/02-requirements を実行する</a:t>
            </a:r>
            <a:endParaRPr lang="en-US" sz="1500"/>
          </a:p>
        </p:txBody>
      </p:sp>
      <p:sp>
        <p:nvSpPr>
          <p:cNvPr id="47" name="Shape 45"/>
          <p:cNvSpPr/>
          <p:nvPr/>
        </p:nvSpPr>
        <p:spPr>
          <a:xfrm>
            <a:off x="685800" y="382219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68580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1097280" y="38039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機能が3つ以内か確認する</a:t>
            </a:r>
            <a:endParaRPr lang="en-US" sz="1500"/>
          </a:p>
        </p:txBody>
      </p:sp>
      <p:sp>
        <p:nvSpPr>
          <p:cNvPr id="50" name="Shape 48"/>
          <p:cNvSpPr/>
          <p:nvPr/>
        </p:nvSpPr>
        <p:spPr>
          <a:xfrm>
            <a:off x="6309360" y="2395728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53796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/>
          </a:p>
        </p:txBody>
      </p:sp>
      <p:sp>
        <p:nvSpPr>
          <p:cNvPr id="52" name="Shape 50"/>
          <p:cNvSpPr/>
          <p:nvPr/>
        </p:nvSpPr>
        <p:spPr>
          <a:xfrm>
            <a:off x="6565392" y="2962656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6876288" y="292608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docs/02-requirements.md</a:t>
            </a:r>
            <a:endParaRPr lang="en-US" sz="1300"/>
          </a:p>
        </p:txBody>
      </p:sp>
      <p:sp>
        <p:nvSpPr>
          <p:cNvPr id="54" name="Shape 52"/>
          <p:cNvSpPr/>
          <p:nvPr/>
        </p:nvSpPr>
        <p:spPr>
          <a:xfrm>
            <a:off x="457200" y="4590288"/>
            <a:ext cx="5623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68580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/>
          </a:p>
        </p:txBody>
      </p:sp>
      <p:sp>
        <p:nvSpPr>
          <p:cNvPr id="56" name="Shape 54"/>
          <p:cNvSpPr/>
          <p:nvPr/>
        </p:nvSpPr>
        <p:spPr>
          <a:xfrm>
            <a:off x="713232" y="51297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713232" y="5129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58" name="Text 56"/>
          <p:cNvSpPr/>
          <p:nvPr/>
        </p:nvSpPr>
        <p:spPr>
          <a:xfrm>
            <a:off x="1097280" y="509320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機能が F-01〜F-03 まで</a:t>
            </a:r>
            <a:endParaRPr lang="en-US" sz="1400"/>
          </a:p>
        </p:txBody>
      </p:sp>
      <p:sp>
        <p:nvSpPr>
          <p:cNvPr id="59" name="Shape 57"/>
          <p:cNvSpPr/>
          <p:nvPr/>
        </p:nvSpPr>
        <p:spPr>
          <a:xfrm>
            <a:off x="713232" y="549554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713232" y="5495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1" name="Text 59"/>
          <p:cNvSpPr/>
          <p:nvPr/>
        </p:nvSpPr>
        <p:spPr>
          <a:xfrm>
            <a:off x="1097280" y="545896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「今回作らないもの」がある</a:t>
            </a:r>
            <a:endParaRPr lang="en-US" sz="1400"/>
          </a:p>
        </p:txBody>
      </p:sp>
      <p:sp>
        <p:nvSpPr>
          <p:cNvPr id="62" name="Shape 60"/>
          <p:cNvSpPr/>
          <p:nvPr/>
        </p:nvSpPr>
        <p:spPr>
          <a:xfrm>
            <a:off x="713232" y="58613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713232" y="5861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1097280" y="582472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各機能に完成の条件がある</a:t>
            </a:r>
            <a:endParaRPr lang="en-US" sz="1400"/>
          </a:p>
        </p:txBody>
      </p:sp>
      <p:sp>
        <p:nvSpPr>
          <p:cNvPr id="65" name="Shape 63"/>
          <p:cNvSpPr/>
          <p:nvPr/>
        </p:nvSpPr>
        <p:spPr>
          <a:xfrm>
            <a:off x="6309360" y="4590288"/>
            <a:ext cx="5422392" cy="1737360"/>
          </a:xfrm>
          <a:prstGeom prst="roundRect">
            <a:avLst>
              <a:gd name="adj" fmla="val 4211"/>
            </a:avLst>
          </a:prstGeom>
          <a:solidFill>
            <a:srgbClr val="EEF1F5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653796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このSTEPでは…</a:t>
            </a:r>
            <a:endParaRPr lang="en-US" sz="1500"/>
          </a:p>
        </p:txBody>
      </p:sp>
      <p:sp>
        <p:nvSpPr>
          <p:cNvPr id="67" name="Text 65"/>
          <p:cNvSpPr/>
          <p:nvPr/>
        </p:nvSpPr>
        <p:spPr>
          <a:xfrm>
            <a:off x="6537960" y="5065776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機能を増やす時間ではありません。</a:t>
            </a:r>
            <a:endParaRPr lang="en-US" sz="1500"/>
          </a:p>
          <a:p>
            <a:pPr marL="0" indent="0">
              <a:buNone/>
            </a:pPr>
            <a:r>
              <a:rPr lang="en-US" sz="1500" b="1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最大3つに絞ります。</a:t>
            </a:r>
            <a:endParaRPr lang="en-US" sz="1500"/>
          </a:p>
        </p:txBody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03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画面設計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03／10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198424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98424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利用者が操作する画面と、その流れを決めます。</a:t>
            </a:r>
            <a:endParaRPr lang="en-US" sz="190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8580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/>
          </a:p>
        </p:txBody>
      </p:sp>
      <p:sp>
        <p:nvSpPr>
          <p:cNvPr id="41" name="Shape 39"/>
          <p:cNvSpPr/>
          <p:nvPr/>
        </p:nvSpPr>
        <p:spPr>
          <a:xfrm>
            <a:off x="685800" y="294436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8580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1097280" y="29260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/03-screen-design を実行する</a:t>
            </a:r>
            <a:endParaRPr lang="en-US" sz="1500"/>
          </a:p>
        </p:txBody>
      </p:sp>
      <p:sp>
        <p:nvSpPr>
          <p:cNvPr id="44" name="Shape 42"/>
          <p:cNvSpPr/>
          <p:nvPr/>
        </p:nvSpPr>
        <p:spPr>
          <a:xfrm>
            <a:off x="685800" y="3383280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8580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1097280" y="33649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画面名・入力項目・ボタンを確認する</a:t>
            </a:r>
            <a:endParaRPr lang="en-US" sz="1500"/>
          </a:p>
        </p:txBody>
      </p:sp>
      <p:sp>
        <p:nvSpPr>
          <p:cNvPr id="47" name="Shape 45"/>
          <p:cNvSpPr/>
          <p:nvPr/>
        </p:nvSpPr>
        <p:spPr>
          <a:xfrm>
            <a:off x="685800" y="382219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68580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1097280" y="38039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各機能に対応する画面があるか確認する</a:t>
            </a:r>
            <a:endParaRPr lang="en-US" sz="1500"/>
          </a:p>
        </p:txBody>
      </p:sp>
      <p:sp>
        <p:nvSpPr>
          <p:cNvPr id="50" name="Shape 48"/>
          <p:cNvSpPr/>
          <p:nvPr/>
        </p:nvSpPr>
        <p:spPr>
          <a:xfrm>
            <a:off x="6309360" y="2395728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53796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/>
          </a:p>
        </p:txBody>
      </p:sp>
      <p:sp>
        <p:nvSpPr>
          <p:cNvPr id="52" name="Shape 50"/>
          <p:cNvSpPr/>
          <p:nvPr/>
        </p:nvSpPr>
        <p:spPr>
          <a:xfrm>
            <a:off x="6565392" y="2962656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6876288" y="292608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docs/03-screen-design.md</a:t>
            </a:r>
            <a:endParaRPr lang="en-US" sz="1300"/>
          </a:p>
        </p:txBody>
      </p:sp>
      <p:sp>
        <p:nvSpPr>
          <p:cNvPr id="54" name="Shape 52"/>
          <p:cNvSpPr/>
          <p:nvPr/>
        </p:nvSpPr>
        <p:spPr>
          <a:xfrm>
            <a:off x="457200" y="4590288"/>
            <a:ext cx="5623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68580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/>
          </a:p>
        </p:txBody>
      </p:sp>
      <p:sp>
        <p:nvSpPr>
          <p:cNvPr id="56" name="Shape 54"/>
          <p:cNvSpPr/>
          <p:nvPr/>
        </p:nvSpPr>
        <p:spPr>
          <a:xfrm>
            <a:off x="713232" y="51297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713232" y="5129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58" name="Text 56"/>
          <p:cNvSpPr/>
          <p:nvPr/>
        </p:nvSpPr>
        <p:spPr>
          <a:xfrm>
            <a:off x="1097280" y="509320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主要画面が3つ以内</a:t>
            </a:r>
            <a:endParaRPr lang="en-US" sz="1400"/>
          </a:p>
        </p:txBody>
      </p:sp>
      <p:sp>
        <p:nvSpPr>
          <p:cNvPr id="59" name="Shape 57"/>
          <p:cNvSpPr/>
          <p:nvPr/>
        </p:nvSpPr>
        <p:spPr>
          <a:xfrm>
            <a:off x="713232" y="549554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713232" y="5495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1" name="Text 59"/>
          <p:cNvSpPr/>
          <p:nvPr/>
        </p:nvSpPr>
        <p:spPr>
          <a:xfrm>
            <a:off x="1097280" y="545896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各機能に対応する画面がある</a:t>
            </a:r>
            <a:endParaRPr lang="en-US" sz="1400"/>
          </a:p>
        </p:txBody>
      </p:sp>
      <p:sp>
        <p:nvSpPr>
          <p:cNvPr id="62" name="Shape 60"/>
          <p:cNvSpPr/>
          <p:nvPr/>
        </p:nvSpPr>
        <p:spPr>
          <a:xfrm>
            <a:off x="713232" y="58613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713232" y="5861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1097280" y="582472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デモログインの注記がある</a:t>
            </a:r>
            <a:endParaRPr lang="en-US" sz="1400"/>
          </a:p>
        </p:txBody>
      </p:sp>
      <p:sp>
        <p:nvSpPr>
          <p:cNvPr id="65" name="Shape 63"/>
          <p:cNvSpPr/>
          <p:nvPr/>
        </p:nvSpPr>
        <p:spPr>
          <a:xfrm>
            <a:off x="6309360" y="4590288"/>
            <a:ext cx="5422392" cy="1737360"/>
          </a:xfrm>
          <a:prstGeom prst="roundRect">
            <a:avLst>
              <a:gd name="adj" fmla="val 4211"/>
            </a:avLst>
          </a:prstGeom>
          <a:solidFill>
            <a:srgbClr val="EEF1F5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653796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このSTEPでは…</a:t>
            </a:r>
            <a:endParaRPr lang="en-US" sz="1500"/>
          </a:p>
        </p:txBody>
      </p:sp>
      <p:sp>
        <p:nvSpPr>
          <p:cNvPr id="67" name="Text 65"/>
          <p:cNvSpPr/>
          <p:nvPr/>
        </p:nvSpPr>
        <p:spPr>
          <a:xfrm>
            <a:off x="6537960" y="5065776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完成アプリの見た目ではなく、</a:t>
            </a:r>
            <a:endParaRPr lang="en-US" sz="1500"/>
          </a:p>
          <a:p>
            <a:pPr marL="0" indent="0">
              <a:buNone/>
            </a:pPr>
            <a:r>
              <a:rPr lang="en-US" sz="1500" b="1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画面の設計図を決めています。</a:t>
            </a:r>
            <a:endParaRPr lang="en-US" sz="1500"/>
          </a:p>
        </p:txBody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04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データ設計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04／10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3288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53288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画面で入力した情報を、保存できる形に整理します。</a:t>
            </a:r>
            <a:endParaRPr lang="en-US" sz="190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8580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/>
          </a:p>
        </p:txBody>
      </p:sp>
      <p:sp>
        <p:nvSpPr>
          <p:cNvPr id="41" name="Shape 39"/>
          <p:cNvSpPr/>
          <p:nvPr/>
        </p:nvSpPr>
        <p:spPr>
          <a:xfrm>
            <a:off x="685800" y="294436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8580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1097280" y="29260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/04-data-design を実行する</a:t>
            </a:r>
            <a:endParaRPr lang="en-US" sz="1500"/>
          </a:p>
        </p:txBody>
      </p:sp>
      <p:sp>
        <p:nvSpPr>
          <p:cNvPr id="44" name="Shape 42"/>
          <p:cNvSpPr/>
          <p:nvPr/>
        </p:nvSpPr>
        <p:spPr>
          <a:xfrm>
            <a:off x="685800" y="3383280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8580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1097280" y="33649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項目名とデータ例を確認する</a:t>
            </a:r>
            <a:endParaRPr lang="en-US" sz="1500"/>
          </a:p>
        </p:txBody>
      </p:sp>
      <p:sp>
        <p:nvSpPr>
          <p:cNvPr id="47" name="Shape 45"/>
          <p:cNvSpPr/>
          <p:nvPr/>
        </p:nvSpPr>
        <p:spPr>
          <a:xfrm>
            <a:off x="685800" y="382219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68580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1097280" y="38039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サンプルデータ3件を確認する</a:t>
            </a:r>
            <a:endParaRPr lang="en-US" sz="1500"/>
          </a:p>
        </p:txBody>
      </p:sp>
      <p:sp>
        <p:nvSpPr>
          <p:cNvPr id="50" name="Shape 48"/>
          <p:cNvSpPr/>
          <p:nvPr/>
        </p:nvSpPr>
        <p:spPr>
          <a:xfrm>
            <a:off x="6309360" y="2395728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53796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/>
          </a:p>
        </p:txBody>
      </p:sp>
      <p:sp>
        <p:nvSpPr>
          <p:cNvPr id="52" name="Shape 50"/>
          <p:cNvSpPr/>
          <p:nvPr/>
        </p:nvSpPr>
        <p:spPr>
          <a:xfrm>
            <a:off x="6565392" y="2962656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6876288" y="292608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docs/04-data-design.md</a:t>
            </a:r>
            <a:endParaRPr lang="en-US" sz="1300"/>
          </a:p>
        </p:txBody>
      </p:sp>
      <p:sp>
        <p:nvSpPr>
          <p:cNvPr id="54" name="Shape 52"/>
          <p:cNvSpPr/>
          <p:nvPr/>
        </p:nvSpPr>
        <p:spPr>
          <a:xfrm>
            <a:off x="6565392" y="3346704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6876288" y="3310128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data/sample-items.json</a:t>
            </a:r>
            <a:endParaRPr lang="en-US" sz="1300"/>
          </a:p>
        </p:txBody>
      </p:sp>
      <p:sp>
        <p:nvSpPr>
          <p:cNvPr id="56" name="Shape 54"/>
          <p:cNvSpPr/>
          <p:nvPr/>
        </p:nvSpPr>
        <p:spPr>
          <a:xfrm>
            <a:off x="457200" y="4590288"/>
            <a:ext cx="5623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68580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/>
          </a:p>
        </p:txBody>
      </p:sp>
      <p:sp>
        <p:nvSpPr>
          <p:cNvPr id="58" name="Shape 56"/>
          <p:cNvSpPr/>
          <p:nvPr/>
        </p:nvSpPr>
        <p:spPr>
          <a:xfrm>
            <a:off x="713232" y="51297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713232" y="5129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0" name="Text 58"/>
          <p:cNvSpPr/>
          <p:nvPr/>
        </p:nvSpPr>
        <p:spPr>
          <a:xfrm>
            <a:off x="1097280" y="509320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管理するデータが1種類</a:t>
            </a:r>
            <a:endParaRPr lang="en-US" sz="1400"/>
          </a:p>
        </p:txBody>
      </p:sp>
      <p:sp>
        <p:nvSpPr>
          <p:cNvPr id="61" name="Shape 59"/>
          <p:cNvSpPr/>
          <p:nvPr/>
        </p:nvSpPr>
        <p:spPr>
          <a:xfrm>
            <a:off x="713232" y="549554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713232" y="5495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3" name="Text 61"/>
          <p:cNvSpPr/>
          <p:nvPr/>
        </p:nvSpPr>
        <p:spPr>
          <a:xfrm>
            <a:off x="1097280" y="545896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画面の項目と一致している</a:t>
            </a:r>
            <a:endParaRPr lang="en-US" sz="1400"/>
          </a:p>
        </p:txBody>
      </p:sp>
      <p:sp>
        <p:nvSpPr>
          <p:cNvPr id="64" name="Shape 62"/>
          <p:cNvSpPr/>
          <p:nvPr/>
        </p:nvSpPr>
        <p:spPr>
          <a:xfrm>
            <a:off x="713232" y="58613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713232" y="5861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6" name="Text 64"/>
          <p:cNvSpPr/>
          <p:nvPr/>
        </p:nvSpPr>
        <p:spPr>
          <a:xfrm>
            <a:off x="1097280" y="582472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サンプルが3件・実在の情報なし</a:t>
            </a:r>
            <a:endParaRPr lang="en-US" sz="1400"/>
          </a:p>
        </p:txBody>
      </p:sp>
      <p:sp>
        <p:nvSpPr>
          <p:cNvPr id="67" name="Shape 65"/>
          <p:cNvSpPr/>
          <p:nvPr/>
        </p:nvSpPr>
        <p:spPr>
          <a:xfrm>
            <a:off x="6309360" y="4590288"/>
            <a:ext cx="5422392" cy="1737360"/>
          </a:xfrm>
          <a:prstGeom prst="roundRect">
            <a:avLst>
              <a:gd name="adj" fmla="val 4211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/>
          <p:cNvSpPr/>
          <p:nvPr/>
        </p:nvSpPr>
        <p:spPr>
          <a:xfrm>
            <a:off x="6537960" y="4727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1500"/>
          </a:p>
        </p:txBody>
      </p:sp>
      <p:sp>
        <p:nvSpPr>
          <p:cNvPr id="69" name="Text 67"/>
          <p:cNvSpPr/>
          <p:nvPr/>
        </p:nvSpPr>
        <p:spPr>
          <a:xfrm>
            <a:off x="6537960" y="5065776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実在する顧客名や個人情報は入力しません。保存先はまだ決めません（次のSTEPでAIが選びます）。</a:t>
            </a:r>
            <a:endParaRPr lang="en-US" sz="1500"/>
          </a:p>
        </p:txBody>
      </p:sp>
      <p:sp>
        <p:nvSpPr>
          <p:cNvPr id="7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05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Azure構成の選択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05／10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08152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08152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課題に合わせて、AIがデータの保存先（Azureの構成）を選びます。</a:t>
            </a:r>
            <a:endParaRPr lang="en-US" sz="190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8580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/>
          </a:p>
        </p:txBody>
      </p:sp>
      <p:sp>
        <p:nvSpPr>
          <p:cNvPr id="41" name="Shape 39"/>
          <p:cNvSpPr/>
          <p:nvPr/>
        </p:nvSpPr>
        <p:spPr>
          <a:xfrm>
            <a:off x="685800" y="299008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8580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1097280" y="297180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/05-architecture を実行する</a:t>
            </a:r>
            <a:endParaRPr lang="en-US" sz="1400"/>
          </a:p>
        </p:txBody>
      </p:sp>
      <p:sp>
        <p:nvSpPr>
          <p:cNvPr id="44" name="Shape 42"/>
          <p:cNvSpPr/>
          <p:nvPr/>
        </p:nvSpPr>
        <p:spPr>
          <a:xfrm>
            <a:off x="685800" y="355701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8580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1097280" y="353872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docs/05-architecture.md の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1行目でパターンを確認する</a:t>
            </a:r>
            <a:endParaRPr lang="en-US" sz="1400"/>
          </a:p>
        </p:txBody>
      </p:sp>
      <p:sp>
        <p:nvSpPr>
          <p:cNvPr id="47" name="Shape 45"/>
          <p:cNvSpPr/>
          <p:nvPr/>
        </p:nvSpPr>
        <p:spPr>
          <a:xfrm>
            <a:off x="685800" y="4123944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68580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1097280" y="410565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選んだ理由を読む</a:t>
            </a:r>
            <a:endParaRPr lang="en-US" sz="1400"/>
          </a:p>
        </p:txBody>
      </p:sp>
      <p:sp>
        <p:nvSpPr>
          <p:cNvPr id="50" name="Shape 48"/>
          <p:cNvSpPr/>
          <p:nvPr/>
        </p:nvSpPr>
        <p:spPr>
          <a:xfrm>
            <a:off x="5257800" y="2395728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E3F4F5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5257800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パターンA</a:t>
            </a:r>
            <a:endParaRPr lang="en-US" sz="1300"/>
          </a:p>
        </p:txBody>
      </p:sp>
      <p:sp>
        <p:nvSpPr>
          <p:cNvPr id="52" name="Text 50"/>
          <p:cNvSpPr/>
          <p:nvPr/>
        </p:nvSpPr>
        <p:spPr>
          <a:xfrm>
            <a:off x="5257800" y="28072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Blob Storage</a:t>
            </a:r>
            <a:endParaRPr lang="en-US" sz="2000"/>
          </a:p>
        </p:txBody>
      </p:sp>
      <p:sp>
        <p:nvSpPr>
          <p:cNvPr id="53" name="Shape 51"/>
          <p:cNvSpPr/>
          <p:nvPr/>
        </p:nvSpPr>
        <p:spPr>
          <a:xfrm>
            <a:off x="5532120" y="33741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553212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5916168" y="3337560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少人数で使う</a:t>
            </a:r>
            <a:endParaRPr lang="en-US" sz="1300"/>
          </a:p>
        </p:txBody>
      </p:sp>
      <p:sp>
        <p:nvSpPr>
          <p:cNvPr id="56" name="Shape 54"/>
          <p:cNvSpPr/>
          <p:nvPr/>
        </p:nvSpPr>
        <p:spPr>
          <a:xfrm>
            <a:off x="5532120" y="37947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553212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58" name="Text 56"/>
          <p:cNvSpPr/>
          <p:nvPr/>
        </p:nvSpPr>
        <p:spPr>
          <a:xfrm>
            <a:off x="5916168" y="375818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データは数百件程度</a:t>
            </a:r>
            <a:endParaRPr lang="en-US" sz="1300"/>
          </a:p>
        </p:txBody>
      </p:sp>
      <p:sp>
        <p:nvSpPr>
          <p:cNvPr id="59" name="Shape 57"/>
          <p:cNvSpPr/>
          <p:nvPr/>
        </p:nvSpPr>
        <p:spPr>
          <a:xfrm>
            <a:off x="5532120" y="42153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5532120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1" name="Text 59"/>
          <p:cNvSpPr/>
          <p:nvPr/>
        </p:nvSpPr>
        <p:spPr>
          <a:xfrm>
            <a:off x="5916168" y="417880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一覧と登録が中心</a:t>
            </a:r>
            <a:endParaRPr lang="en-US" sz="1300"/>
          </a:p>
        </p:txBody>
      </p:sp>
      <p:sp>
        <p:nvSpPr>
          <p:cNvPr id="62" name="Shape 60"/>
          <p:cNvSpPr/>
          <p:nvPr/>
        </p:nvSpPr>
        <p:spPr>
          <a:xfrm>
            <a:off x="8531352" y="2395728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2EAFE"/>
          </a:solidFill>
          <a:ln w="1270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8531352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パターンB</a:t>
            </a:r>
            <a:endParaRPr lang="en-US" sz="1300"/>
          </a:p>
        </p:txBody>
      </p:sp>
      <p:sp>
        <p:nvSpPr>
          <p:cNvPr id="64" name="Text 62"/>
          <p:cNvSpPr/>
          <p:nvPr/>
        </p:nvSpPr>
        <p:spPr>
          <a:xfrm>
            <a:off x="8531352" y="28072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Cosmos DB</a:t>
            </a:r>
            <a:endParaRPr lang="en-US" sz="2000"/>
          </a:p>
        </p:txBody>
      </p:sp>
      <p:sp>
        <p:nvSpPr>
          <p:cNvPr id="65" name="Shape 63"/>
          <p:cNvSpPr/>
          <p:nvPr/>
        </p:nvSpPr>
        <p:spPr>
          <a:xfrm>
            <a:off x="8805672" y="33741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8805672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7" name="Text 65"/>
          <p:cNvSpPr/>
          <p:nvPr/>
        </p:nvSpPr>
        <p:spPr>
          <a:xfrm>
            <a:off x="9189720" y="3337560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複数の人が同時に更新</a:t>
            </a:r>
            <a:endParaRPr lang="en-US" sz="1300"/>
          </a:p>
        </p:txBody>
      </p:sp>
      <p:sp>
        <p:nvSpPr>
          <p:cNvPr id="68" name="Shape 66"/>
          <p:cNvSpPr/>
          <p:nvPr/>
        </p:nvSpPr>
        <p:spPr>
          <a:xfrm>
            <a:off x="8805672" y="37947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8805672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70" name="Text 68"/>
          <p:cNvSpPr/>
          <p:nvPr/>
        </p:nvSpPr>
        <p:spPr>
          <a:xfrm>
            <a:off x="9189720" y="375818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件数が増える</a:t>
            </a:r>
            <a:endParaRPr lang="en-US" sz="1300"/>
          </a:p>
        </p:txBody>
      </p:sp>
      <p:sp>
        <p:nvSpPr>
          <p:cNvPr id="71" name="Shape 69"/>
          <p:cNvSpPr/>
          <p:nvPr/>
        </p:nvSpPr>
        <p:spPr>
          <a:xfrm>
            <a:off x="8805672" y="421538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/>
          <p:nvPr/>
        </p:nvSpPr>
        <p:spPr>
          <a:xfrm>
            <a:off x="8805672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73" name="Text 71"/>
          <p:cNvSpPr/>
          <p:nvPr/>
        </p:nvSpPr>
        <p:spPr>
          <a:xfrm>
            <a:off x="9189720" y="417880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検索・絞り込みしたい</a:t>
            </a:r>
            <a:endParaRPr lang="en-US" sz="1300"/>
          </a:p>
        </p:txBody>
      </p:sp>
      <p:sp>
        <p:nvSpPr>
          <p:cNvPr id="74" name="Shape 72"/>
          <p:cNvSpPr/>
          <p:nvPr/>
        </p:nvSpPr>
        <p:spPr>
          <a:xfrm>
            <a:off x="457200" y="4956048"/>
            <a:ext cx="5623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5" name="Text 73"/>
          <p:cNvSpPr/>
          <p:nvPr/>
        </p:nvSpPr>
        <p:spPr>
          <a:xfrm>
            <a:off x="685800" y="5093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/>
          </a:p>
        </p:txBody>
      </p:sp>
      <p:sp>
        <p:nvSpPr>
          <p:cNvPr id="76" name="Shape 74"/>
          <p:cNvSpPr/>
          <p:nvPr/>
        </p:nvSpPr>
        <p:spPr>
          <a:xfrm>
            <a:off x="713232" y="55046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713232" y="5504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78" name="Text 76"/>
          <p:cNvSpPr/>
          <p:nvPr/>
        </p:nvSpPr>
        <p:spPr>
          <a:xfrm>
            <a:off x="1097280" y="5468112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「選択：パターンA」または「B」と書かれている</a:t>
            </a:r>
            <a:endParaRPr lang="en-US" sz="1400"/>
          </a:p>
        </p:txBody>
      </p:sp>
      <p:sp>
        <p:nvSpPr>
          <p:cNvPr id="79" name="Shape 77"/>
          <p:cNvSpPr/>
          <p:nvPr/>
        </p:nvSpPr>
        <p:spPr>
          <a:xfrm>
            <a:off x="713232" y="58887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8"/>
          <p:cNvSpPr/>
          <p:nvPr/>
        </p:nvSpPr>
        <p:spPr>
          <a:xfrm>
            <a:off x="713232" y="5888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81" name="Text 79"/>
          <p:cNvSpPr/>
          <p:nvPr/>
        </p:nvSpPr>
        <p:spPr>
          <a:xfrm>
            <a:off x="1097280" y="5852160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選んだ理由が自分の課題と合っている</a:t>
            </a:r>
            <a:endParaRPr lang="en-US" sz="1400"/>
          </a:p>
        </p:txBody>
      </p:sp>
      <p:sp>
        <p:nvSpPr>
          <p:cNvPr id="82" name="Shape 80"/>
          <p:cNvSpPr/>
          <p:nvPr/>
        </p:nvSpPr>
        <p:spPr>
          <a:xfrm>
            <a:off x="6309360" y="4956048"/>
            <a:ext cx="5422392" cy="1371600"/>
          </a:xfrm>
          <a:prstGeom prst="roundRect">
            <a:avLst>
              <a:gd name="adj" fmla="val 5333"/>
            </a:avLst>
          </a:prstGeom>
          <a:solidFill>
            <a:srgbClr val="EEF1F5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/>
          <p:nvPr/>
        </p:nvSpPr>
        <p:spPr>
          <a:xfrm>
            <a:off x="6537960" y="5093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このSTEPでは…</a:t>
            </a:r>
            <a:endParaRPr lang="en-US" sz="1500"/>
          </a:p>
        </p:txBody>
      </p:sp>
      <p:sp>
        <p:nvSpPr>
          <p:cNvPr id="84" name="Text 82"/>
          <p:cNvSpPr/>
          <p:nvPr/>
        </p:nvSpPr>
        <p:spPr>
          <a:xfrm>
            <a:off x="6537960" y="54406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隣の人と構成が違っていて大丈夫です。</a:t>
            </a:r>
            <a:endParaRPr lang="en-US" sz="1350"/>
          </a:p>
          <a:p>
            <a:pPr marL="0" indent="0">
              <a:buNone/>
            </a:pPr>
            <a:r>
              <a:rPr lang="en-US" sz="1350" b="1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理由が違うと思えば「同時に更新するのは10人」など伝えて見直してもらいます。</a:t>
            </a:r>
            <a:endParaRPr lang="en-US" sz="1350"/>
          </a:p>
        </p:txBody>
      </p:sp>
      <p:sp>
        <p:nvSpPr>
          <p:cNvPr id="8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06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Azure環境をつくる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720840" y="219456"/>
            <a:ext cx="1371600" cy="310896"/>
          </a:xfrm>
          <a:prstGeom prst="roundRect">
            <a:avLst>
              <a:gd name="adj" fmla="val 44118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720840" y="2194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標準ゴール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06／10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363016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363016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AIが選んだ構成の設計図（Terraform）をつくり、自分でAzureに構築を始めます。</a:t>
            </a:r>
            <a:endParaRPr lang="en-US" sz="1900"/>
          </a:p>
        </p:txBody>
      </p:sp>
      <p:sp>
        <p:nvSpPr>
          <p:cNvPr id="41" name="Shape 39"/>
          <p:cNvSpPr/>
          <p:nvPr/>
        </p:nvSpPr>
        <p:spPr>
          <a:xfrm>
            <a:off x="457200" y="2377440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1C2736"/>
          </a:solidFill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594360" y="23774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FC0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ターミナルに入力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2148840" y="2377440"/>
            <a:ext cx="9445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7CE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.\scripts\init-tfvars.cmd -ResourceGroup &lt;配布カードのRG名&gt;</a:t>
            </a:r>
            <a:endParaRPr lang="en-US" sz="1400"/>
          </a:p>
        </p:txBody>
      </p:sp>
      <p:sp>
        <p:nvSpPr>
          <p:cNvPr id="44" name="Shape 42"/>
          <p:cNvSpPr/>
          <p:nvPr/>
        </p:nvSpPr>
        <p:spPr>
          <a:xfrm>
            <a:off x="457200" y="2907792"/>
            <a:ext cx="5623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85800" y="3044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/>
          </a:p>
        </p:txBody>
      </p:sp>
      <p:sp>
        <p:nvSpPr>
          <p:cNvPr id="55" name="Shape 53"/>
          <p:cNvSpPr/>
          <p:nvPr/>
        </p:nvSpPr>
        <p:spPr>
          <a:xfrm>
            <a:off x="6309360" y="2907792"/>
            <a:ext cx="5422392" cy="1783080"/>
          </a:xfrm>
          <a:prstGeom prst="roundRect">
            <a:avLst>
              <a:gd name="adj" fmla="val 4103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6537960" y="3044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/>
          </a:p>
        </p:txBody>
      </p:sp>
      <p:sp>
        <p:nvSpPr>
          <p:cNvPr id="57" name="Shape 55"/>
          <p:cNvSpPr/>
          <p:nvPr/>
        </p:nvSpPr>
        <p:spPr>
          <a:xfrm>
            <a:off x="6565392" y="3474720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6876288" y="3438144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infra/terraform/main.tf</a:t>
            </a:r>
            <a:endParaRPr lang="en-US" sz="1300"/>
          </a:p>
        </p:txBody>
      </p:sp>
      <p:sp>
        <p:nvSpPr>
          <p:cNvPr id="59" name="Shape 57"/>
          <p:cNvSpPr/>
          <p:nvPr/>
        </p:nvSpPr>
        <p:spPr>
          <a:xfrm>
            <a:off x="6565392" y="3858768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6876288" y="3822192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infra/terraform/outputs.tf</a:t>
            </a:r>
            <a:endParaRPr lang="en-US" sz="1300"/>
          </a:p>
        </p:txBody>
      </p:sp>
      <p:sp>
        <p:nvSpPr>
          <p:cNvPr id="61" name="Shape 59"/>
          <p:cNvSpPr/>
          <p:nvPr/>
        </p:nvSpPr>
        <p:spPr>
          <a:xfrm>
            <a:off x="6565392" y="4242816"/>
            <a:ext cx="201168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6876288" y="420624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docs/06-infrastructure.md</a:t>
            </a:r>
            <a:endParaRPr lang="en-US" sz="1300"/>
          </a:p>
        </p:txBody>
      </p:sp>
      <p:sp>
        <p:nvSpPr>
          <p:cNvPr id="63" name="Shape 61"/>
          <p:cNvSpPr/>
          <p:nvPr/>
        </p:nvSpPr>
        <p:spPr>
          <a:xfrm>
            <a:off x="457200" y="4800600"/>
            <a:ext cx="5623560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685800" y="4937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ここまでできたら次へ</a:t>
            </a:r>
            <a:endParaRPr lang="en-US" sz="1500"/>
          </a:p>
        </p:txBody>
      </p:sp>
      <p:sp>
        <p:nvSpPr>
          <p:cNvPr id="65" name="Shape 63"/>
          <p:cNvSpPr/>
          <p:nvPr/>
        </p:nvSpPr>
        <p:spPr>
          <a:xfrm>
            <a:off x="713232" y="53400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713232" y="5340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7" name="Text 65"/>
          <p:cNvSpPr/>
          <p:nvPr/>
        </p:nvSpPr>
        <p:spPr>
          <a:xfrm>
            <a:off x="1097280" y="5303520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25364D"/>
                </a:solidFill>
              </a:rPr>
              <a:t>plan の結果にエラーがない</a:t>
            </a:r>
            <a:endParaRPr lang="en-US" sz="1400"/>
          </a:p>
        </p:txBody>
      </p:sp>
      <p:sp>
        <p:nvSpPr>
          <p:cNvPr id="68" name="Shape 66"/>
          <p:cNvSpPr/>
          <p:nvPr/>
        </p:nvSpPr>
        <p:spPr>
          <a:xfrm>
            <a:off x="713232" y="56692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713232" y="5669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70" name="Text 68"/>
          <p:cNvSpPr/>
          <p:nvPr/>
        </p:nvSpPr>
        <p:spPr>
          <a:xfrm>
            <a:off x="1097280" y="5632704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25364D"/>
                </a:solidFill>
              </a:rPr>
              <a:t>terraform apply を実行し、確認に yes と入力した</a:t>
            </a:r>
            <a:endParaRPr lang="en-US" sz="1400"/>
          </a:p>
        </p:txBody>
      </p:sp>
      <p:sp>
        <p:nvSpPr>
          <p:cNvPr id="71" name="Shape 69"/>
          <p:cNvSpPr/>
          <p:nvPr/>
        </p:nvSpPr>
        <p:spPr>
          <a:xfrm>
            <a:off x="713232" y="59984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/>
          <p:nvPr/>
        </p:nvSpPr>
        <p:spPr>
          <a:xfrm>
            <a:off x="713232" y="5998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73" name="Text 71"/>
          <p:cNvSpPr/>
          <p:nvPr/>
        </p:nvSpPr>
        <p:spPr>
          <a:xfrm>
            <a:off x="1097280" y="596188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25364D"/>
                </a:solidFill>
              </a:rPr>
              <a:t>Azure環境の作成が始まった。apply のターミナルは閉じない</a:t>
            </a:r>
            <a:endParaRPr lang="en-US" sz="1400"/>
          </a:p>
        </p:txBody>
      </p:sp>
      <p:sp>
        <p:nvSpPr>
          <p:cNvPr id="74" name="Shape 72"/>
          <p:cNvSpPr/>
          <p:nvPr/>
        </p:nvSpPr>
        <p:spPr>
          <a:xfrm>
            <a:off x="6309360" y="4800600"/>
            <a:ext cx="5422392" cy="1527048"/>
          </a:xfrm>
          <a:prstGeom prst="roundRect">
            <a:avLst>
              <a:gd name="adj" fmla="val 4790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73"/>
          <p:cNvSpPr/>
          <p:nvPr/>
        </p:nvSpPr>
        <p:spPr>
          <a:xfrm>
            <a:off x="6537960" y="4937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D9660B"/>
                </a:solidFill>
              </a:rPr>
              <a:t>手順3・4のポイント</a:t>
            </a:r>
            <a:endParaRPr lang="en-US" sz="1500"/>
          </a:p>
        </p:txBody>
      </p:sp>
      <p:sp>
        <p:nvSpPr>
          <p:cNvPr id="76" name="Text 74"/>
          <p:cNvSpPr/>
          <p:nvPr/>
        </p:nvSpPr>
        <p:spPr>
          <a:xfrm>
            <a:off x="6537960" y="52578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25364D"/>
                </a:solidFill>
                <a:latin typeface="Yu Gothic"/>
              </a:rPr>
              <a:t>名前の変更：ターミナル右側の一覧で右クリック →「名前の変更」→ apply</a:t>
            </a:r>
          </a:p>
          <a:p>
            <a:pPr marL="0" indent="0">
              <a:spcBef>
                <a:spcPts val="400"/>
              </a:spcBef>
              <a:buNone/>
            </a:pPr>
            <a:r>
              <a:rPr sz="1350" b="1">
                <a:solidFill>
                  <a:srgbClr val="142B4A"/>
                </a:solidFill>
                <a:latin typeface="Consolas"/>
              </a:rPr>
              <a:t>terraform -chdir=infra/terraform apply</a:t>
            </a:r>
            <a:endParaRPr lang="en-US" sz="1250"/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25364D"/>
                </a:solidFill>
                <a:latin typeface="Yu Gothic"/>
              </a:rPr>
              <a:t>yes はコマンドではありません。確認が出たときだけ入力します。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C21920"/>
                </a:solidFill>
                <a:latin typeface="Yu Gothic"/>
              </a:rPr>
              <a:t>apply はCopilotに実行させません。</a:t>
            </a:r>
          </a:p>
        </p:txBody>
      </p:sp>
      <p:sp>
        <p:nvSpPr>
          <p:cNvPr id="7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685800" y="3383280"/>
            <a:ext cx="219456" cy="219456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" y="33558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上のコマンドを実行する（&lt; &gt; は配布カードの値に置き換える）</a:t>
            </a:r>
          </a:p>
        </p:txBody>
      </p:sp>
      <p:sp>
        <p:nvSpPr>
          <p:cNvPr id="80" name="Oval 79"/>
          <p:cNvSpPr/>
          <p:nvPr/>
        </p:nvSpPr>
        <p:spPr>
          <a:xfrm>
            <a:off x="685800" y="3643884"/>
            <a:ext cx="219456" cy="219456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5840" y="361645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/06-infrastructure を実行し、plan が成功するまで待つ</a:t>
            </a:r>
          </a:p>
        </p:txBody>
      </p:sp>
      <p:sp>
        <p:nvSpPr>
          <p:cNvPr id="82" name="Oval 81"/>
          <p:cNvSpPr/>
          <p:nvPr/>
        </p:nvSpPr>
        <p:spPr>
          <a:xfrm>
            <a:off x="685800" y="3904488"/>
            <a:ext cx="219456" cy="219456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840" y="387705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「＋」で2つ目のターミナルを開き、名前を apply にする</a:t>
            </a:r>
          </a:p>
        </p:txBody>
      </p:sp>
      <p:sp>
        <p:nvSpPr>
          <p:cNvPr id="84" name="Oval 83"/>
          <p:cNvSpPr/>
          <p:nvPr/>
        </p:nvSpPr>
        <p:spPr>
          <a:xfrm>
            <a:off x="685800" y="4165091"/>
            <a:ext cx="219456" cy="219456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5840" y="413765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右下のコマンドを入力して Enter。確認が出たら yes を入力</a:t>
            </a:r>
          </a:p>
        </p:txBody>
      </p:sp>
      <p:sp>
        <p:nvSpPr>
          <p:cNvPr id="86" name="Oval 85"/>
          <p:cNvSpPr/>
          <p:nvPr/>
        </p:nvSpPr>
        <p:spPr>
          <a:xfrm>
            <a:off x="685800" y="4425696"/>
            <a:ext cx="219456" cy="219456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40" y="439826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apply のターミナルを閉じずに STEP07 へ進む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07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アプリ実装（前半）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07／10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17880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17880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設計書をもとに、Copilotが実際のPython Webアプリをつくります。</a:t>
            </a:r>
            <a:endParaRPr lang="en-US" sz="190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42062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8580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/>
          </a:p>
        </p:txBody>
      </p:sp>
      <p:sp>
        <p:nvSpPr>
          <p:cNvPr id="41" name="Shape 39"/>
          <p:cNvSpPr/>
          <p:nvPr/>
        </p:nvSpPr>
        <p:spPr>
          <a:xfrm>
            <a:off x="685800" y="303580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8580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1097280" y="30175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/07-implementation を実行する</a:t>
            </a:r>
            <a:endParaRPr lang="en-US" sz="1400"/>
          </a:p>
        </p:txBody>
      </p:sp>
      <p:sp>
        <p:nvSpPr>
          <p:cNvPr id="44" name="Shape 42"/>
          <p:cNvSpPr/>
          <p:nvPr/>
        </p:nvSpPr>
        <p:spPr>
          <a:xfrm>
            <a:off x="685800" y="358444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8580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1097280" y="35661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ファイルの変更は「保持」</a:t>
            </a:r>
            <a:endParaRPr lang="en-US" sz="1400"/>
          </a:p>
        </p:txBody>
      </p:sp>
      <p:sp>
        <p:nvSpPr>
          <p:cNvPr id="47" name="Shape 45"/>
          <p:cNvSpPr/>
          <p:nvPr/>
        </p:nvSpPr>
        <p:spPr>
          <a:xfrm>
            <a:off x="685800" y="413308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68580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1097280" y="411480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コマンドの確認は内容を見て「許可」</a:t>
            </a:r>
            <a:endParaRPr lang="en-US" sz="1400"/>
          </a:p>
        </p:txBody>
      </p:sp>
      <p:sp>
        <p:nvSpPr>
          <p:cNvPr id="50" name="Shape 48"/>
          <p:cNvSpPr/>
          <p:nvPr/>
        </p:nvSpPr>
        <p:spPr>
          <a:xfrm>
            <a:off x="4892040" y="2395728"/>
            <a:ext cx="683971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512064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Copilotが進める順番</a:t>
            </a:r>
            <a:endParaRPr lang="en-US" sz="1500"/>
          </a:p>
        </p:txBody>
      </p:sp>
      <p:sp>
        <p:nvSpPr>
          <p:cNvPr id="52" name="Shape 50"/>
          <p:cNvSpPr/>
          <p:nvPr/>
        </p:nvSpPr>
        <p:spPr>
          <a:xfrm>
            <a:off x="5120640" y="30632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5120640" y="312724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入力チェック</a:t>
            </a:r>
            <a:endParaRPr lang="en-US" sz="1300"/>
          </a:p>
        </p:txBody>
      </p:sp>
      <p:sp>
        <p:nvSpPr>
          <p:cNvPr id="54" name="Text 52"/>
          <p:cNvSpPr/>
          <p:nvPr/>
        </p:nvSpPr>
        <p:spPr>
          <a:xfrm>
            <a:off x="512064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050"/>
          </a:p>
        </p:txBody>
      </p:sp>
      <p:sp>
        <p:nvSpPr>
          <p:cNvPr id="55" name="Shape 53"/>
          <p:cNvSpPr/>
          <p:nvPr/>
        </p:nvSpPr>
        <p:spPr>
          <a:xfrm>
            <a:off x="6492240" y="3520440"/>
            <a:ext cx="228600" cy="274320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6766560" y="30632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6766560" y="312724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画面の処理</a:t>
            </a:r>
            <a:endParaRPr lang="en-US" sz="1300"/>
          </a:p>
        </p:txBody>
      </p:sp>
      <p:sp>
        <p:nvSpPr>
          <p:cNvPr id="58" name="Text 56"/>
          <p:cNvSpPr/>
          <p:nvPr/>
        </p:nvSpPr>
        <p:spPr>
          <a:xfrm>
            <a:off x="676656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routes.py</a:t>
            </a:r>
            <a:endParaRPr lang="en-US" sz="1050"/>
          </a:p>
        </p:txBody>
      </p:sp>
      <p:sp>
        <p:nvSpPr>
          <p:cNvPr id="59" name="Shape 57"/>
          <p:cNvSpPr/>
          <p:nvPr/>
        </p:nvSpPr>
        <p:spPr>
          <a:xfrm>
            <a:off x="8138160" y="3520440"/>
            <a:ext cx="228600" cy="274320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8412480" y="30632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8412480" y="312724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HTML画面</a:t>
            </a:r>
            <a:endParaRPr lang="en-US" sz="1300"/>
          </a:p>
        </p:txBody>
      </p:sp>
      <p:sp>
        <p:nvSpPr>
          <p:cNvPr id="62" name="Text 60"/>
          <p:cNvSpPr/>
          <p:nvPr/>
        </p:nvSpPr>
        <p:spPr>
          <a:xfrm>
            <a:off x="841248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1050"/>
          </a:p>
        </p:txBody>
      </p:sp>
      <p:sp>
        <p:nvSpPr>
          <p:cNvPr id="63" name="Shape 61"/>
          <p:cNvSpPr/>
          <p:nvPr/>
        </p:nvSpPr>
        <p:spPr>
          <a:xfrm>
            <a:off x="9784080" y="3520440"/>
            <a:ext cx="228600" cy="274320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10058400" y="306324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E8F5ED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10058400" y="312724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300"/>
          </a:p>
        </p:txBody>
      </p:sp>
      <p:sp>
        <p:nvSpPr>
          <p:cNvPr id="66" name="Text 64"/>
          <p:cNvSpPr/>
          <p:nvPr/>
        </p:nvSpPr>
        <p:spPr>
          <a:xfrm>
            <a:off x="10058400" y="3840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050"/>
          </a:p>
        </p:txBody>
      </p:sp>
      <p:sp>
        <p:nvSpPr>
          <p:cNvPr id="67" name="Shape 65"/>
          <p:cNvSpPr/>
          <p:nvPr/>
        </p:nvSpPr>
        <p:spPr>
          <a:xfrm>
            <a:off x="5120640" y="4526280"/>
            <a:ext cx="6382512" cy="640080"/>
          </a:xfrm>
          <a:prstGeom prst="roundRect">
            <a:avLst>
              <a:gd name="adj" fmla="val 11429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/>
          <p:cNvSpPr/>
          <p:nvPr/>
        </p:nvSpPr>
        <p:spPr>
          <a:xfrm>
            <a:off x="5120640" y="4526280"/>
            <a:ext cx="6382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ここから初めて、実際のプログラムをつくります。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>
          <a:xfrm>
            <a:off x="457200" y="559612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457200" y="55961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ターミナルは2つ。右側の一覧で切り替えます。apply のターミナルは閉じずに、ときどき「Apply complete!」を確認します。</a:t>
            </a:r>
            <a:endParaRPr lang="en-US" sz="140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685800" y="4498848"/>
            <a:ext cx="374903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6B7280"/>
                </a:solidFill>
                <a:latin typeface="Yu Gothic"/>
                <a:ea typeface="Yu Gothic"/>
              </a:rPr>
              <a:t>ターミナルの一覧（パネルの右側）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5800" y="4727448"/>
            <a:ext cx="3749039" cy="548640"/>
          </a:xfrm>
          <a:prstGeom prst="roundRect">
            <a:avLst>
              <a:gd name="adj" fmla="val 8000"/>
            </a:avLst>
          </a:prstGeom>
          <a:solidFill>
            <a:srgbClr val="1C2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22960" y="4754880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>
                <a:solidFill>
                  <a:srgbClr val="DDE6F0"/>
                </a:solidFill>
                <a:latin typeface="Consolas"/>
                <a:ea typeface="Yu Gothic"/>
              </a:rPr>
              <a:t>▸ powershell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75488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0">
                <a:solidFill>
                  <a:srgbClr val="AFC0D3"/>
                </a:solidFill>
                <a:latin typeface="Yu Gothic"/>
                <a:ea typeface="Yu Gothic"/>
              </a:rPr>
              <a:t>← テスト・アプリ起動に使う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" y="500176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>
                <a:solidFill>
                  <a:srgbClr val="7CE3A0"/>
                </a:solidFill>
                <a:latin typeface="Consolas"/>
                <a:ea typeface="Yu Gothic"/>
              </a:rPr>
              <a:t>▸ apply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500176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0">
                <a:solidFill>
                  <a:srgbClr val="AFC0D3"/>
                </a:solidFill>
                <a:latin typeface="Yu Gothic"/>
                <a:ea typeface="Yu Gothic"/>
              </a:rPr>
              <a:t>← Azure構築中（閉じない）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07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アプリ実装（後半）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07／10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17880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17880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テスト結果に「passed」と表示されれば完了です。</a:t>
            </a:r>
            <a:endParaRPr lang="en-US" sz="1900"/>
          </a:p>
        </p:txBody>
      </p:sp>
      <p:sp>
        <p:nvSpPr>
          <p:cNvPr id="39" name="Shape 37"/>
          <p:cNvSpPr/>
          <p:nvPr/>
        </p:nvSpPr>
        <p:spPr>
          <a:xfrm>
            <a:off x="457200" y="2395728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8580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</a:t>
            </a:r>
            <a:endParaRPr lang="en-US" sz="1500"/>
          </a:p>
        </p:txBody>
      </p:sp>
      <p:sp>
        <p:nvSpPr>
          <p:cNvPr id="41" name="Text 39"/>
          <p:cNvSpPr/>
          <p:nvPr/>
        </p:nvSpPr>
        <p:spPr>
          <a:xfrm>
            <a:off x="777240" y="29718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webapp/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routes.py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models.py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templates/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static/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tests/test_routes.py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docs/07-implementation-result.md</a:t>
            </a:r>
            <a:endParaRPr lang="en-US" sz="1500"/>
          </a:p>
        </p:txBody>
      </p:sp>
      <p:sp>
        <p:nvSpPr>
          <p:cNvPr id="46" name="Shape 44"/>
          <p:cNvSpPr/>
          <p:nvPr/>
        </p:nvSpPr>
        <p:spPr>
          <a:xfrm>
            <a:off x="5989320" y="4297680"/>
            <a:ext cx="5742432" cy="1847088"/>
          </a:xfrm>
          <a:prstGeom prst="roundRect">
            <a:avLst>
              <a:gd name="adj" fmla="val 3960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6217920" y="4434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困ったとき</a:t>
            </a:r>
            <a:endParaRPr lang="en-US" sz="150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58" name="Rounded Rectangle 57"/>
          <p:cNvSpPr/>
          <p:nvPr/>
        </p:nvSpPr>
        <p:spPr>
          <a:xfrm>
            <a:off x="5989320" y="2395728"/>
            <a:ext cx="574243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17920" y="2487168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176D2"/>
                </a:solidFill>
                <a:latin typeface="Yu Gothic"/>
                <a:ea typeface="Yu Gothic"/>
              </a:rPr>
              <a:t>Copilotの作業が終わったら、自分でテストを実行</a:t>
            </a:r>
          </a:p>
        </p:txBody>
      </p:sp>
      <p:sp>
        <p:nvSpPr>
          <p:cNvPr id="60" name="Oval 59"/>
          <p:cNvSpPr/>
          <p:nvPr/>
        </p:nvSpPr>
        <p:spPr>
          <a:xfrm>
            <a:off x="6217920" y="2852928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01968" y="2834640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apply とは別のターミナルで、下のコマンドを入力して Enter</a:t>
            </a:r>
          </a:p>
        </p:txBody>
      </p:sp>
      <p:sp>
        <p:nvSpPr>
          <p:cNvPr id="62" name="Oval 61"/>
          <p:cNvSpPr/>
          <p:nvPr/>
        </p:nvSpPr>
        <p:spPr>
          <a:xfrm>
            <a:off x="6217920" y="3200400"/>
            <a:ext cx="274320" cy="274320"/>
          </a:xfrm>
          <a:prstGeom prst="ellipse">
            <a:avLst/>
          </a:prstGeom>
          <a:solidFill>
            <a:srgbClr val="C2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01968" y="318211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25364D"/>
                </a:solidFill>
                <a:latin typeface="Yu Gothic"/>
                <a:ea typeface="Yu Gothic"/>
              </a:rPr>
              <a:t>結果に passed と表示され、failed が無ければ完了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20" y="3493008"/>
            <a:ext cx="5303520" cy="438912"/>
          </a:xfrm>
          <a:prstGeom prst="roundRect">
            <a:avLst>
              <a:gd name="adj" fmla="val 6000"/>
            </a:avLst>
          </a:prstGeom>
          <a:solidFill>
            <a:srgbClr val="1C2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55080" y="3493008"/>
            <a:ext cx="1325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FC0D3"/>
                </a:solidFill>
                <a:latin typeface="Yu Gothic"/>
                <a:ea typeface="Yu Gothic"/>
              </a:rPr>
              <a:t>ターミナルに入力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3493008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7CE3A0"/>
                </a:solidFill>
                <a:latin typeface="Consolas"/>
                <a:ea typeface="Yu Gothic"/>
              </a:rPr>
              <a:t>.\.venv\Scripts\python -m pytest -q</a:t>
            </a:r>
          </a:p>
        </p:txBody>
      </p:sp>
      <p:sp>
        <p:nvSpPr>
          <p:cNvPr id="67" name="Oval 66"/>
          <p:cNvSpPr/>
          <p:nvPr/>
        </p:nvSpPr>
        <p:spPr>
          <a:xfrm>
            <a:off x="6217920" y="4800600"/>
            <a:ext cx="274320" cy="274320"/>
          </a:xfrm>
          <a:prstGeom prst="ellipse">
            <a:avLst/>
          </a:prstGeom>
          <a:solidFill>
            <a:srgbClr val="D96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01968" y="4782312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25364D"/>
                </a:solidFill>
                <a:latin typeface="Yu Gothic"/>
                <a:ea typeface="Yu Gothic"/>
              </a:rPr>
              <a:t>止まって見える → 「許可」ボタンを押す。無ければ「続けて」と送る</a:t>
            </a:r>
          </a:p>
        </p:txBody>
      </p:sp>
      <p:sp>
        <p:nvSpPr>
          <p:cNvPr id="69" name="Oval 68"/>
          <p:cNvSpPr/>
          <p:nvPr/>
        </p:nvSpPr>
        <p:spPr>
          <a:xfrm>
            <a:off x="6217920" y="5221224"/>
            <a:ext cx="274320" cy="274320"/>
          </a:xfrm>
          <a:prstGeom prst="ellipse">
            <a:avLst/>
          </a:prstGeom>
          <a:solidFill>
            <a:srgbClr val="D96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01968" y="5202936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25364D"/>
                </a:solidFill>
                <a:latin typeface="Yu Gothic"/>
                <a:ea typeface="Yu Gothic"/>
              </a:rPr>
              <a:t>failed と表示された → エラーを貼り付け「テストを直して」と送る</a:t>
            </a:r>
          </a:p>
        </p:txBody>
      </p:sp>
      <p:sp>
        <p:nvSpPr>
          <p:cNvPr id="71" name="Oval 70"/>
          <p:cNvSpPr/>
          <p:nvPr/>
        </p:nvSpPr>
        <p:spPr>
          <a:xfrm>
            <a:off x="6217920" y="5641848"/>
            <a:ext cx="274320" cy="274320"/>
          </a:xfrm>
          <a:prstGeom prst="ellipse">
            <a:avLst/>
          </a:prstGeom>
          <a:solidFill>
            <a:srgbClr val="D96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01968" y="5623560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25364D"/>
                </a:solidFill>
                <a:latin typeface="Yu Gothic"/>
                <a:ea typeface="Yu Gothic"/>
              </a:rPr>
              <a:t>同じエラーを3回繰り返す／apply のターミナルにエラー → スタッフへ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395935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Yu Gothic"/>
                <a:ea typeface="Yu Gothic"/>
              </a:rPr>
              <a:t>表示例：「5 passed in 0.12s」（数字は人によって異なります）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08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アプリを動かす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720840" y="219456"/>
            <a:ext cx="1371600" cy="310896"/>
          </a:xfrm>
          <a:prstGeom prst="roundRect">
            <a:avLst>
              <a:gd name="adj" fmla="val 44118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720840" y="2194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必須ゴール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08／10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72744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72744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自分のPCでアプリが動けば、今日の必須ゴール達成です。</a:t>
            </a:r>
            <a:endParaRPr lang="en-US" sz="1900"/>
          </a:p>
        </p:txBody>
      </p:sp>
      <p:sp>
        <p:nvSpPr>
          <p:cNvPr id="41" name="Shape 39"/>
          <p:cNvSpPr/>
          <p:nvPr/>
        </p:nvSpPr>
        <p:spPr>
          <a:xfrm>
            <a:off x="457200" y="2377440"/>
            <a:ext cx="11274552" cy="420624"/>
          </a:xfrm>
          <a:prstGeom prst="roundRect">
            <a:avLst>
              <a:gd name="adj" fmla="val 13043"/>
            </a:avLst>
          </a:prstGeom>
          <a:solidFill>
            <a:srgbClr val="1C2736"/>
          </a:solidFill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594360" y="23774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FC0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ターミナルに入力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2148840" y="2377440"/>
            <a:ext cx="9445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7CE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.\scripts\start-local.cmd</a:t>
            </a:r>
            <a:endParaRPr lang="en-US" sz="1500"/>
          </a:p>
        </p:txBody>
      </p:sp>
      <p:sp>
        <p:nvSpPr>
          <p:cNvPr id="44" name="Shape 42"/>
          <p:cNvSpPr/>
          <p:nvPr/>
        </p:nvSpPr>
        <p:spPr>
          <a:xfrm>
            <a:off x="457200" y="2926080"/>
            <a:ext cx="57607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9D1DC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457200" y="2926080"/>
            <a:ext cx="5760720" cy="365760"/>
          </a:xfrm>
          <a:prstGeom prst="rect">
            <a:avLst/>
          </a:prstGeom>
          <a:solidFill>
            <a:srgbClr val="142B4A"/>
          </a:solidFill>
          <a:ln w="12700">
            <a:solidFill>
              <a:srgbClr val="142B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594360" y="3063240"/>
            <a:ext cx="91440" cy="91440"/>
          </a:xfrm>
          <a:prstGeom prst="ellipse">
            <a:avLst/>
          </a:prstGeom>
          <a:solidFill>
            <a:srgbClr val="F26B6B"/>
          </a:solidFill>
          <a:ln w="12700">
            <a:solidFill>
              <a:srgbClr val="F26B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777240" y="3063240"/>
            <a:ext cx="91440" cy="9144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960120" y="3063240"/>
            <a:ext cx="91440" cy="91440"/>
          </a:xfrm>
          <a:prstGeom prst="ellipse">
            <a:avLst/>
          </a:prstGeom>
          <a:solidFill>
            <a:srgbClr val="5AC18E"/>
          </a:solidFill>
          <a:ln w="12700">
            <a:solidFill>
              <a:srgbClr val="5AC18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118872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業務管理アプリ</a:t>
            </a:r>
            <a:endParaRPr lang="en-US" sz="1100"/>
          </a:p>
        </p:txBody>
      </p:sp>
      <p:sp>
        <p:nvSpPr>
          <p:cNvPr id="50" name="Shape 48"/>
          <p:cNvSpPr/>
          <p:nvPr/>
        </p:nvSpPr>
        <p:spPr>
          <a:xfrm>
            <a:off x="566928" y="3401568"/>
            <a:ext cx="1267358" cy="201168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85800" y="3566160"/>
            <a:ext cx="1084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</a:t>
            </a:r>
            <a:endParaRPr lang="en-US" sz="1100"/>
          </a:p>
        </p:txBody>
      </p:sp>
      <p:sp>
        <p:nvSpPr>
          <p:cNvPr id="52" name="Text 50"/>
          <p:cNvSpPr/>
          <p:nvPr/>
        </p:nvSpPr>
        <p:spPr>
          <a:xfrm>
            <a:off x="685800" y="3950208"/>
            <a:ext cx="1084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</a:t>
            </a:r>
            <a:endParaRPr lang="en-US" sz="1100"/>
          </a:p>
        </p:txBody>
      </p:sp>
      <p:sp>
        <p:nvSpPr>
          <p:cNvPr id="53" name="Text 51"/>
          <p:cNvSpPr/>
          <p:nvPr/>
        </p:nvSpPr>
        <p:spPr>
          <a:xfrm>
            <a:off x="685800" y="4334256"/>
            <a:ext cx="1084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新規登録</a:t>
            </a:r>
            <a:endParaRPr lang="en-US" sz="1100"/>
          </a:p>
        </p:txBody>
      </p:sp>
      <p:sp>
        <p:nvSpPr>
          <p:cNvPr id="54" name="Text 52"/>
          <p:cNvSpPr/>
          <p:nvPr/>
        </p:nvSpPr>
        <p:spPr>
          <a:xfrm>
            <a:off x="1998878" y="3429000"/>
            <a:ext cx="40361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案件一覧</a:t>
            </a:r>
            <a:endParaRPr lang="en-US" sz="1500"/>
          </a:p>
        </p:txBody>
      </p:sp>
      <p:sp>
        <p:nvSpPr>
          <p:cNvPr id="55" name="Shape 53"/>
          <p:cNvSpPr/>
          <p:nvPr/>
        </p:nvSpPr>
        <p:spPr>
          <a:xfrm>
            <a:off x="1998878" y="3858768"/>
            <a:ext cx="4036162" cy="32232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2108606" y="3858768"/>
            <a:ext cx="24216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業務改善ツール</a:t>
            </a:r>
            <a:endParaRPr lang="en-US" sz="1100"/>
          </a:p>
        </p:txBody>
      </p:sp>
      <p:sp>
        <p:nvSpPr>
          <p:cNvPr id="57" name="Shape 55"/>
          <p:cNvSpPr/>
          <p:nvPr/>
        </p:nvSpPr>
        <p:spPr>
          <a:xfrm>
            <a:off x="5166360" y="390105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5166360" y="390105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進行中</a:t>
            </a:r>
            <a:endParaRPr lang="en-US" sz="900"/>
          </a:p>
        </p:txBody>
      </p:sp>
      <p:sp>
        <p:nvSpPr>
          <p:cNvPr id="59" name="Shape 57"/>
          <p:cNvSpPr/>
          <p:nvPr/>
        </p:nvSpPr>
        <p:spPr>
          <a:xfrm>
            <a:off x="1998878" y="4235958"/>
            <a:ext cx="4036162" cy="322326"/>
          </a:xfrm>
          <a:prstGeom prst="rect">
            <a:avLst/>
          </a:prstGeom>
          <a:solidFill>
            <a:srgbClr val="F7F8FA"/>
          </a:solidFill>
          <a:ln w="12700">
            <a:solidFill>
              <a:srgbClr val="DDE2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2108606" y="4235958"/>
            <a:ext cx="24216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申請フォーム</a:t>
            </a:r>
            <a:endParaRPr lang="en-US" sz="1100"/>
          </a:p>
        </p:txBody>
      </p:sp>
      <p:sp>
        <p:nvSpPr>
          <p:cNvPr id="61" name="Shape 59"/>
          <p:cNvSpPr/>
          <p:nvPr/>
        </p:nvSpPr>
        <p:spPr>
          <a:xfrm>
            <a:off x="5166360" y="427824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5166360" y="427824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未着手</a:t>
            </a:r>
            <a:endParaRPr lang="en-US" sz="900"/>
          </a:p>
        </p:txBody>
      </p:sp>
      <p:sp>
        <p:nvSpPr>
          <p:cNvPr id="63" name="Shape 61"/>
          <p:cNvSpPr/>
          <p:nvPr/>
        </p:nvSpPr>
        <p:spPr>
          <a:xfrm>
            <a:off x="1998878" y="4613148"/>
            <a:ext cx="4036162" cy="32232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2108606" y="4613148"/>
            <a:ext cx="24216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データ集計</a:t>
            </a:r>
            <a:endParaRPr lang="en-US" sz="1100"/>
          </a:p>
        </p:txBody>
      </p:sp>
      <p:sp>
        <p:nvSpPr>
          <p:cNvPr id="65" name="Shape 63"/>
          <p:cNvSpPr/>
          <p:nvPr/>
        </p:nvSpPr>
        <p:spPr>
          <a:xfrm>
            <a:off x="5166360" y="465543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5166360" y="465543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1998878" y="4990338"/>
            <a:ext cx="4036162" cy="322326"/>
          </a:xfrm>
          <a:prstGeom prst="rect">
            <a:avLst/>
          </a:prstGeom>
          <a:solidFill>
            <a:srgbClr val="F7F8FA"/>
          </a:solidFill>
          <a:ln w="12700">
            <a:solidFill>
              <a:srgbClr val="DDE2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/>
          <p:cNvSpPr/>
          <p:nvPr/>
        </p:nvSpPr>
        <p:spPr>
          <a:xfrm>
            <a:off x="2108606" y="4990338"/>
            <a:ext cx="2421697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FAQ整備</a:t>
            </a:r>
            <a:endParaRPr lang="en-US" sz="1100"/>
          </a:p>
        </p:txBody>
      </p:sp>
      <p:sp>
        <p:nvSpPr>
          <p:cNvPr id="69" name="Shape 67"/>
          <p:cNvSpPr/>
          <p:nvPr/>
        </p:nvSpPr>
        <p:spPr>
          <a:xfrm>
            <a:off x="5166360" y="5032629"/>
            <a:ext cx="749808" cy="237744"/>
          </a:xfrm>
          <a:prstGeom prst="roundRect">
            <a:avLst>
              <a:gd name="adj" fmla="val 57692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8"/>
          <p:cNvSpPr/>
          <p:nvPr/>
        </p:nvSpPr>
        <p:spPr>
          <a:xfrm>
            <a:off x="5166360" y="503262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進行中</a:t>
            </a:r>
            <a:endParaRPr lang="en-US" sz="900"/>
          </a:p>
        </p:txBody>
      </p:sp>
      <p:sp>
        <p:nvSpPr>
          <p:cNvPr id="71" name="Shape 69"/>
          <p:cNvSpPr/>
          <p:nvPr/>
        </p:nvSpPr>
        <p:spPr>
          <a:xfrm>
            <a:off x="6446520" y="2926080"/>
            <a:ext cx="528523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2" name="Text 70"/>
          <p:cNvSpPr/>
          <p:nvPr/>
        </p:nvSpPr>
        <p:spPr>
          <a:xfrm>
            <a:off x="6675120" y="3044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いまやること</a:t>
            </a:r>
            <a:endParaRPr lang="en-US" sz="1500"/>
          </a:p>
        </p:txBody>
      </p:sp>
      <p:sp>
        <p:nvSpPr>
          <p:cNvPr id="73" name="Shape 71"/>
          <p:cNvSpPr/>
          <p:nvPr/>
        </p:nvSpPr>
        <p:spPr>
          <a:xfrm>
            <a:off x="6675120" y="341985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/>
          <p:cNvSpPr/>
          <p:nvPr/>
        </p:nvSpPr>
        <p:spPr>
          <a:xfrm>
            <a:off x="667512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/>
          </a:p>
        </p:txBody>
      </p:sp>
      <p:sp>
        <p:nvSpPr>
          <p:cNvPr id="75" name="Text 73"/>
          <p:cNvSpPr/>
          <p:nvPr/>
        </p:nvSpPr>
        <p:spPr>
          <a:xfrm>
            <a:off x="7086600" y="34015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apply とは別のターミナルで上を実行</a:t>
            </a:r>
            <a:endParaRPr lang="en-US" sz="1350"/>
          </a:p>
        </p:txBody>
      </p:sp>
      <p:sp>
        <p:nvSpPr>
          <p:cNvPr id="76" name="Shape 74"/>
          <p:cNvSpPr/>
          <p:nvPr/>
        </p:nvSpPr>
        <p:spPr>
          <a:xfrm>
            <a:off x="6675120" y="383133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6675120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/>
          </a:p>
        </p:txBody>
      </p:sp>
      <p:sp>
        <p:nvSpPr>
          <p:cNvPr id="78" name="Text 76"/>
          <p:cNvSpPr/>
          <p:nvPr/>
        </p:nvSpPr>
        <p:spPr>
          <a:xfrm>
            <a:off x="7086600" y="38130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http://127.0.0.1:5000 を開く</a:t>
            </a:r>
            <a:endParaRPr lang="en-US" sz="1350"/>
          </a:p>
        </p:txBody>
      </p:sp>
      <p:sp>
        <p:nvSpPr>
          <p:cNvPr id="79" name="Shape 77"/>
          <p:cNvSpPr/>
          <p:nvPr/>
        </p:nvSpPr>
        <p:spPr>
          <a:xfrm>
            <a:off x="6675120" y="424281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8"/>
          <p:cNvSpPr/>
          <p:nvPr/>
        </p:nvSpPr>
        <p:spPr>
          <a:xfrm>
            <a:off x="6675120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/>
          </a:p>
        </p:txBody>
      </p:sp>
      <p:sp>
        <p:nvSpPr>
          <p:cNvPr id="81" name="Text 79"/>
          <p:cNvSpPr/>
          <p:nvPr/>
        </p:nvSpPr>
        <p:spPr>
          <a:xfrm>
            <a:off x="7086600" y="42245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ログインしてデータを登録する</a:t>
            </a:r>
            <a:endParaRPr lang="en-US" sz="1350"/>
          </a:p>
        </p:txBody>
      </p:sp>
      <p:sp>
        <p:nvSpPr>
          <p:cNvPr id="82" name="Shape 80"/>
          <p:cNvSpPr/>
          <p:nvPr/>
        </p:nvSpPr>
        <p:spPr>
          <a:xfrm>
            <a:off x="6675120" y="465429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/>
          <p:nvPr/>
        </p:nvSpPr>
        <p:spPr>
          <a:xfrm>
            <a:off x="6675120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/>
          </a:p>
        </p:txBody>
      </p:sp>
      <p:sp>
        <p:nvSpPr>
          <p:cNvPr id="84" name="Text 82"/>
          <p:cNvSpPr/>
          <p:nvPr/>
        </p:nvSpPr>
        <p:spPr>
          <a:xfrm>
            <a:off x="7086600" y="46360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Ctrl+Cで止めて、もう一度起動する</a:t>
            </a:r>
            <a:endParaRPr lang="en-US" sz="1350"/>
          </a:p>
        </p:txBody>
      </p:sp>
      <p:sp>
        <p:nvSpPr>
          <p:cNvPr id="85" name="Shape 83"/>
          <p:cNvSpPr/>
          <p:nvPr/>
        </p:nvSpPr>
        <p:spPr>
          <a:xfrm>
            <a:off x="6675120" y="506577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Text 84"/>
          <p:cNvSpPr/>
          <p:nvPr/>
        </p:nvSpPr>
        <p:spPr>
          <a:xfrm>
            <a:off x="6675120" y="5065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/>
          </a:p>
        </p:txBody>
      </p:sp>
      <p:sp>
        <p:nvSpPr>
          <p:cNvPr id="87" name="Text 85"/>
          <p:cNvSpPr/>
          <p:nvPr/>
        </p:nvSpPr>
        <p:spPr>
          <a:xfrm>
            <a:off x="7086600" y="50474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/08-local-validation を実行する</a:t>
            </a:r>
            <a:endParaRPr lang="en-US" sz="1350"/>
          </a:p>
        </p:txBody>
      </p:sp>
      <p:sp>
        <p:nvSpPr>
          <p:cNvPr id="88" name="Shape 86"/>
          <p:cNvSpPr/>
          <p:nvPr/>
        </p:nvSpPr>
        <p:spPr>
          <a:xfrm>
            <a:off x="457200" y="5650992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Text 87"/>
          <p:cNvSpPr/>
          <p:nvPr/>
        </p:nvSpPr>
        <p:spPr>
          <a:xfrm>
            <a:off x="457200" y="565099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ブラウザーで開く　 ✓ ログインできる　 ✓ 登録して一覧に表示　 ✓ 再起動してもデータが残る</a:t>
            </a:r>
            <a:endParaRPr lang="en-US" sz="1500"/>
          </a:p>
        </p:txBody>
      </p:sp>
      <p:sp>
        <p:nvSpPr>
          <p:cNvPr id="9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09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Azureで動かす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720840" y="219456"/>
            <a:ext cx="1371600" cy="310896"/>
          </a:xfrm>
          <a:prstGeom prst="roundRect">
            <a:avLst>
              <a:gd name="adj" fmla="val 44118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720840" y="2194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標準ゴール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09／10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527608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27608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AIが選んだ構成のAzure上で、自分のアプリを動かします。</a:t>
            </a:r>
            <a:endParaRPr lang="en-US" sz="1900"/>
          </a:p>
        </p:txBody>
      </p:sp>
      <p:sp>
        <p:nvSpPr>
          <p:cNvPr id="41" name="Shape 39"/>
          <p:cNvSpPr/>
          <p:nvPr/>
        </p:nvSpPr>
        <p:spPr>
          <a:xfrm>
            <a:off x="457200" y="2423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1463040" y="2606040"/>
            <a:ext cx="594360" cy="594360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146304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/>
          </a:p>
        </p:txBody>
      </p:sp>
      <p:sp>
        <p:nvSpPr>
          <p:cNvPr id="44" name="Text 42"/>
          <p:cNvSpPr/>
          <p:nvPr/>
        </p:nvSpPr>
        <p:spPr>
          <a:xfrm>
            <a:off x="548640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Azure環境が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できたか確認</a:t>
            </a:r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530352" y="3977640"/>
            <a:ext cx="2459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 complete!</a:t>
            </a:r>
            <a:endParaRPr lang="en-US" sz="1200"/>
          </a:p>
        </p:txBody>
      </p:sp>
      <p:sp>
        <p:nvSpPr>
          <p:cNvPr id="46" name="Shape 44"/>
          <p:cNvSpPr/>
          <p:nvPr/>
        </p:nvSpPr>
        <p:spPr>
          <a:xfrm>
            <a:off x="3090672" y="3337560"/>
            <a:ext cx="201168" cy="292608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3319272" y="2423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4325112" y="2606040"/>
            <a:ext cx="594360" cy="594360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4325112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/>
          </a:p>
        </p:txBody>
      </p:sp>
      <p:sp>
        <p:nvSpPr>
          <p:cNvPr id="50" name="Text 48"/>
          <p:cNvSpPr/>
          <p:nvPr/>
        </p:nvSpPr>
        <p:spPr>
          <a:xfrm>
            <a:off x="3410712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Ctrl+Cで止めて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Azureに公開</a:t>
            </a:r>
            <a:endParaRPr lang="en-US" sz="1600"/>
          </a:p>
        </p:txBody>
      </p:sp>
      <p:sp>
        <p:nvSpPr>
          <p:cNvPr id="51" name="Text 49"/>
          <p:cNvSpPr/>
          <p:nvPr/>
        </p:nvSpPr>
        <p:spPr>
          <a:xfrm>
            <a:off x="3392424" y="3977640"/>
            <a:ext cx="2459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.\scripts\deploy-azure.cmd</a:t>
            </a:r>
            <a:endParaRPr lang="en-US" sz="1050"/>
          </a:p>
        </p:txBody>
      </p:sp>
      <p:sp>
        <p:nvSpPr>
          <p:cNvPr id="52" name="Shape 50"/>
          <p:cNvSpPr/>
          <p:nvPr/>
        </p:nvSpPr>
        <p:spPr>
          <a:xfrm>
            <a:off x="5952744" y="3337560"/>
            <a:ext cx="201168" cy="292608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6181344" y="2423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7187184" y="2606040"/>
            <a:ext cx="594360" cy="594360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7187184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/>
          </a:p>
        </p:txBody>
      </p:sp>
      <p:sp>
        <p:nvSpPr>
          <p:cNvPr id="56" name="Text 54"/>
          <p:cNvSpPr/>
          <p:nvPr/>
        </p:nvSpPr>
        <p:spPr>
          <a:xfrm>
            <a:off x="6272784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URLを開いて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ログイン・登録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>
          <a:xfrm>
            <a:off x="6254496" y="3977640"/>
            <a:ext cx="2459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https://…azurewebsites.net</a:t>
            </a:r>
            <a:endParaRPr lang="en-US" sz="1100"/>
          </a:p>
        </p:txBody>
      </p:sp>
      <p:sp>
        <p:nvSpPr>
          <p:cNvPr id="58" name="Shape 56"/>
          <p:cNvSpPr/>
          <p:nvPr/>
        </p:nvSpPr>
        <p:spPr>
          <a:xfrm>
            <a:off x="8814816" y="3337560"/>
            <a:ext cx="201168" cy="292608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9043416" y="24231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5ED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10049256" y="2606040"/>
            <a:ext cx="594360" cy="594360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10049256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/>
          </a:p>
        </p:txBody>
      </p:sp>
      <p:sp>
        <p:nvSpPr>
          <p:cNvPr id="62" name="Text 60"/>
          <p:cNvSpPr/>
          <p:nvPr/>
        </p:nvSpPr>
        <p:spPr>
          <a:xfrm>
            <a:off x="9134856" y="3246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保存を確認</a:t>
            </a:r>
            <a:endParaRPr lang="en-US" sz="1600"/>
          </a:p>
        </p:txBody>
      </p:sp>
      <p:sp>
        <p:nvSpPr>
          <p:cNvPr id="63" name="Text 61"/>
          <p:cNvSpPr/>
          <p:nvPr/>
        </p:nvSpPr>
        <p:spPr>
          <a:xfrm>
            <a:off x="9116568" y="3977640"/>
            <a:ext cx="2459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/09-azure-validation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できあがるもの：AIが選んだ構成のAzure環境 ＋ Azure上で動くWebアプリ ＋ docs/09-azure-validation.md</a:t>
            </a:r>
            <a:endParaRPr lang="en-US" sz="1400"/>
          </a:p>
        </p:txBody>
      </p:sp>
      <p:sp>
        <p:nvSpPr>
          <p:cNvPr id="65" name="Shape 63"/>
          <p:cNvSpPr/>
          <p:nvPr/>
        </p:nvSpPr>
        <p:spPr>
          <a:xfrm>
            <a:off x="457200" y="534924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初回の起動や権限の反映に数分かかります。16:07までに動かなくても、STEP08まで完成していれば大丈夫です。</a:t>
            </a:r>
            <a:endParaRPr lang="en-US" sz="150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10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783080" y="1645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持ち帰り資料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183880" y="164592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10／10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04088" y="1069848"/>
            <a:ext cx="5486400" cy="0"/>
          </a:xfrm>
          <a:prstGeom prst="line">
            <a:avLst/>
          </a:prstGeom>
          <a:noFill/>
          <a:ln w="254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10972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972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16459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1945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1945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27432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7432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329184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2918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84048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84048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38912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38912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93776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93776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5486400" y="914400"/>
            <a:ext cx="310896" cy="310896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48640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6035040" y="914400"/>
            <a:ext cx="310896" cy="310896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0350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5824728" y="621792"/>
            <a:ext cx="731520" cy="237744"/>
          </a:xfrm>
          <a:prstGeom prst="roundRect">
            <a:avLst>
              <a:gd name="adj" fmla="val 57692"/>
            </a:avLst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824728" y="621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8138160" y="1005840"/>
            <a:ext cx="146304" cy="146304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348472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955548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いまここ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10552176" y="1005840"/>
            <a:ext cx="146304" cy="146304"/>
          </a:xfrm>
          <a:prstGeom prst="ellipse">
            <a:avLst/>
          </a:prstGeom>
          <a:solidFill>
            <a:srgbClr val="DCE1E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0762488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57200" y="1847088"/>
            <a:ext cx="64008" cy="384048"/>
          </a:xfrm>
          <a:prstGeom prst="rect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640080" y="182880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帰社後に再現・共有するための資料を、Copilotにつくってもらいます。</a:t>
            </a:r>
            <a:endParaRPr lang="en-US" sz="1900"/>
          </a:p>
        </p:txBody>
      </p:sp>
      <p:sp>
        <p:nvSpPr>
          <p:cNvPr id="39" name="Text 37"/>
          <p:cNvSpPr/>
          <p:nvPr/>
        </p:nvSpPr>
        <p:spPr>
          <a:xfrm>
            <a:off x="45720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「＋」で新しいチャットを開き、</a:t>
            </a:r>
            <a:endParaRPr lang="en-US" sz="1600"/>
          </a:p>
        </p:txBody>
      </p:sp>
      <p:sp>
        <p:nvSpPr>
          <p:cNvPr id="40" name="Shape 38"/>
          <p:cNvSpPr/>
          <p:nvPr/>
        </p:nvSpPr>
        <p:spPr>
          <a:xfrm>
            <a:off x="4023360" y="242316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EEF1F5"/>
          </a:solidFill>
          <a:ln w="12700">
            <a:solidFill>
              <a:srgbClr val="D3D9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4133088" y="242316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/10-handover</a:t>
            </a:r>
            <a:endParaRPr lang="en-US" sz="1500"/>
          </a:p>
        </p:txBody>
      </p:sp>
      <p:sp>
        <p:nvSpPr>
          <p:cNvPr id="42" name="Text 40"/>
          <p:cNvSpPr/>
          <p:nvPr/>
        </p:nvSpPr>
        <p:spPr>
          <a:xfrm>
            <a:off x="635508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を実行します。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457200" y="3017520"/>
            <a:ext cx="5559552" cy="2514600"/>
          </a:xfrm>
          <a:prstGeom prst="roundRect">
            <a:avLst>
              <a:gd name="adj" fmla="val 2909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457200" y="3154680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自社環境で再構築する手順</a:t>
            </a:r>
            <a:endParaRPr lang="en-US" sz="2000"/>
          </a:p>
        </p:txBody>
      </p:sp>
      <p:sp>
        <p:nvSpPr>
          <p:cNvPr id="45" name="Shape 43"/>
          <p:cNvSpPr/>
          <p:nvPr/>
        </p:nvSpPr>
        <p:spPr>
          <a:xfrm>
            <a:off x="1005840" y="3703320"/>
            <a:ext cx="4480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9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1115568" y="3703320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docs/10-handover-guide.md</a:t>
            </a:r>
            <a:endParaRPr lang="en-US" sz="1400"/>
          </a:p>
        </p:txBody>
      </p:sp>
      <p:sp>
        <p:nvSpPr>
          <p:cNvPr id="47" name="Shape 45"/>
          <p:cNvSpPr/>
          <p:nvPr/>
        </p:nvSpPr>
        <p:spPr>
          <a:xfrm>
            <a:off x="1051560" y="4425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1051560" y="4425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49" name="Text 47"/>
          <p:cNvSpPr/>
          <p:nvPr/>
        </p:nvSpPr>
        <p:spPr>
          <a:xfrm>
            <a:off x="1435608" y="438912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ローカルでの実行方法</a:t>
            </a:r>
            <a:endParaRPr lang="en-US" sz="1400"/>
          </a:p>
        </p:txBody>
      </p:sp>
      <p:sp>
        <p:nvSpPr>
          <p:cNvPr id="50" name="Shape 48"/>
          <p:cNvSpPr/>
          <p:nvPr/>
        </p:nvSpPr>
        <p:spPr>
          <a:xfrm>
            <a:off x="1051560" y="482803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1051560" y="4828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1435608" y="4791456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自社Azureでの構築方法</a:t>
            </a:r>
            <a:endParaRPr lang="en-US" sz="1400"/>
          </a:p>
        </p:txBody>
      </p:sp>
      <p:sp>
        <p:nvSpPr>
          <p:cNvPr id="53" name="Shape 51"/>
          <p:cNvSpPr/>
          <p:nvPr/>
        </p:nvSpPr>
        <p:spPr>
          <a:xfrm>
            <a:off x="6172200" y="3017520"/>
            <a:ext cx="5559552" cy="2514600"/>
          </a:xfrm>
          <a:prstGeom prst="roundRect">
            <a:avLst>
              <a:gd name="adj" fmla="val 2909"/>
            </a:avLst>
          </a:prstGeom>
          <a:solidFill>
            <a:srgbClr val="F2EAFE"/>
          </a:solidFill>
          <a:ln w="12700">
            <a:solidFill>
              <a:srgbClr val="F2EAFE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6172200" y="3154680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社内説明用の1ページ概要</a:t>
            </a:r>
            <a:endParaRPr lang="en-US" sz="2000"/>
          </a:p>
        </p:txBody>
      </p:sp>
      <p:sp>
        <p:nvSpPr>
          <p:cNvPr id="55" name="Shape 53"/>
          <p:cNvSpPr/>
          <p:nvPr/>
        </p:nvSpPr>
        <p:spPr>
          <a:xfrm>
            <a:off x="6720840" y="3703320"/>
            <a:ext cx="4480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9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6830568" y="3703320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docs/11-demo-summary.md</a:t>
            </a:r>
            <a:endParaRPr lang="en-US" sz="1400"/>
          </a:p>
        </p:txBody>
      </p:sp>
      <p:sp>
        <p:nvSpPr>
          <p:cNvPr id="57" name="Shape 55"/>
          <p:cNvSpPr/>
          <p:nvPr/>
        </p:nvSpPr>
        <p:spPr>
          <a:xfrm>
            <a:off x="6766560" y="44256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6766560" y="4425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59" name="Text 57"/>
          <p:cNvSpPr/>
          <p:nvPr/>
        </p:nvSpPr>
        <p:spPr>
          <a:xfrm>
            <a:off x="7150608" y="438912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課題と作成したアプリ</a:t>
            </a:r>
            <a:endParaRPr lang="en-US" sz="1400"/>
          </a:p>
        </p:txBody>
      </p:sp>
      <p:sp>
        <p:nvSpPr>
          <p:cNvPr id="60" name="Shape 58"/>
          <p:cNvSpPr/>
          <p:nvPr/>
        </p:nvSpPr>
        <p:spPr>
          <a:xfrm>
            <a:off x="6766560" y="482803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6766560" y="4828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62" name="Text 60"/>
          <p:cNvSpPr/>
          <p:nvPr/>
        </p:nvSpPr>
        <p:spPr>
          <a:xfrm>
            <a:off x="7150608" y="4791456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AIが選んだ構成とその理由</a:t>
            </a:r>
            <a:endParaRPr lang="en-US" sz="1400"/>
          </a:p>
        </p:txBody>
      </p:sp>
      <p:sp>
        <p:nvSpPr>
          <p:cNvPr id="63" name="Text 61"/>
          <p:cNvSpPr/>
          <p:nvPr/>
        </p:nvSpPr>
        <p:spPr>
          <a:xfrm>
            <a:off x="457200" y="57150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ファイルの削除とサインアウトは、成果共有が終わってから全員で行います。</a:t>
            </a:r>
            <a:endParaRPr lang="en-US" sz="150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できあがったもの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アプリだけでなく、課題からアプリへ変える工程全体が成果物です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60704" y="1783080"/>
            <a:ext cx="804672" cy="80467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60704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考える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業務課題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2496312" y="288036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743200" y="146304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346704" y="1783080"/>
            <a:ext cx="804672" cy="804672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346704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27432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設計する</a:t>
            </a:r>
            <a:endParaRPr lang="en-US" sz="1900"/>
          </a:p>
        </p:txBody>
      </p:sp>
      <p:sp>
        <p:nvSpPr>
          <p:cNvPr id="14" name="Text 12"/>
          <p:cNvSpPr/>
          <p:nvPr/>
        </p:nvSpPr>
        <p:spPr>
          <a:xfrm>
            <a:off x="288036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要件・画面・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データ・構成選択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4782312" y="288036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029200" y="146304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5632704" y="1783080"/>
            <a:ext cx="804672" cy="804672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632704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</a:t>
            </a:r>
            <a:endParaRPr lang="en-US" sz="1900"/>
          </a:p>
        </p:txBody>
      </p:sp>
      <p:sp>
        <p:nvSpPr>
          <p:cNvPr id="20" name="Text 18"/>
          <p:cNvSpPr/>
          <p:nvPr/>
        </p:nvSpPr>
        <p:spPr>
          <a:xfrm>
            <a:off x="516636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Terraform・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Pythonコード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7068312" y="288036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315200" y="146304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7918704" y="1783080"/>
            <a:ext cx="804672" cy="804672"/>
          </a:xfrm>
          <a:prstGeom prst="ellipse">
            <a:avLst/>
          </a:prstGeom>
          <a:solidFill>
            <a:srgbClr val="1D9A57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918704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73152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動かす</a:t>
            </a:r>
            <a:endParaRPr lang="en-US" sz="1900"/>
          </a:p>
        </p:txBody>
      </p:sp>
      <p:sp>
        <p:nvSpPr>
          <p:cNvPr id="26" name="Text 24"/>
          <p:cNvSpPr/>
          <p:nvPr/>
        </p:nvSpPr>
        <p:spPr>
          <a:xfrm>
            <a:off x="745236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 → Azure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9354312" y="288036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9601200" y="146304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10204704" y="1783080"/>
            <a:ext cx="804672" cy="804672"/>
          </a:xfrm>
          <a:prstGeom prst="ellipse">
            <a:avLst/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10204704" y="178308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/>
          </a:p>
        </p:txBody>
      </p:sp>
      <p:sp>
        <p:nvSpPr>
          <p:cNvPr id="31" name="Text 29"/>
          <p:cNvSpPr/>
          <p:nvPr/>
        </p:nvSpPr>
        <p:spPr>
          <a:xfrm>
            <a:off x="96012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持ち帰る</a:t>
            </a:r>
            <a:endParaRPr lang="en-US" sz="1900"/>
          </a:p>
        </p:txBody>
      </p:sp>
      <p:sp>
        <p:nvSpPr>
          <p:cNvPr id="32" name="Text 30"/>
          <p:cNvSpPr/>
          <p:nvPr/>
        </p:nvSpPr>
        <p:spPr>
          <a:xfrm>
            <a:off x="973836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再現手順・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説明資料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457200" y="54406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成果物一式：Webアプリ ＋ 設計書 ＋ プロンプト ＋ Azure環境の設計図 ＋ 再現手順</a:t>
            </a:r>
            <a:endParaRPr lang="en-US" sz="180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成果共有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ピックアップされた方に、60秒で成果を共有していただきます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834640" cy="2834640"/>
          </a:xfrm>
          <a:prstGeom prst="ellipse">
            <a:avLst/>
          </a:prstGeom>
          <a:solidFill>
            <a:srgbClr val="FBDDDC"/>
          </a:solidFill>
          <a:ln w="635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</a:t>
            </a:r>
            <a:endParaRPr lang="en-US" sz="600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秒</a:t>
            </a:r>
            <a:endParaRPr lang="en-US" sz="2200"/>
          </a:p>
        </p:txBody>
      </p:sp>
      <p:sp>
        <p:nvSpPr>
          <p:cNvPr id="7" name="Shape 5"/>
          <p:cNvSpPr/>
          <p:nvPr/>
        </p:nvSpPr>
        <p:spPr>
          <a:xfrm>
            <a:off x="4206240" y="1572768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206240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617720" y="1554480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選んだ業務課題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4206240" y="2139696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20624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617720" y="2121408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作ったWebアプリ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4206240" y="2706624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20624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617720" y="2688336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AIが選んだAzure構成とその理由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4206240" y="3273552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20624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617720" y="3255264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どこまで動いたか</a:t>
            </a:r>
            <a:endParaRPr lang="en-US" sz="1800"/>
          </a:p>
        </p:txBody>
      </p:sp>
      <p:sp>
        <p:nvSpPr>
          <p:cNvPr id="19" name="Shape 17"/>
          <p:cNvSpPr/>
          <p:nvPr/>
        </p:nvSpPr>
        <p:spPr>
          <a:xfrm>
            <a:off x="4206240" y="3840480"/>
            <a:ext cx="292608" cy="2926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20624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4617720" y="3822192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帰社後に試したいこと</a:t>
            </a:r>
            <a:endParaRPr lang="en-US" sz="1800"/>
          </a:p>
        </p:txBody>
      </p:sp>
      <p:sp>
        <p:nvSpPr>
          <p:cNvPr id="22" name="Shape 20"/>
          <p:cNvSpPr/>
          <p:nvPr/>
        </p:nvSpPr>
        <p:spPr>
          <a:xfrm>
            <a:off x="731520" y="466344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FBFCFD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1005840" y="4800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発表例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1005840" y="51206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「○○という課題を選び、○○できるアプリを作りました。複数人で更新するのでAIはCosmos DBを選びました。」</a:t>
            </a:r>
            <a:endParaRPr lang="en-US" sz="1500"/>
          </a:p>
        </p:txBody>
      </p:sp>
      <p:sp>
        <p:nvSpPr>
          <p:cNvPr id="25" name="Text 23"/>
          <p:cNvSpPr/>
          <p:nvPr/>
        </p:nvSpPr>
        <p:spPr>
          <a:xfrm>
            <a:off x="1005840" y="55595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全員発表ではありません。講師が数名をピックアップします。</a:t>
            </a:r>
            <a:endParaRPr lang="en-US" sz="120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持ち帰る前の確認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成果共有が終わったら、認証情報を削除してサインアウトします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成果物の最終チェック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77240" y="209397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77240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161288" y="205740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 00〜10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777240" y="26426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1161288" y="260604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設計書（docs/）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777240" y="31912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161288" y="315468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 Webアプリ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777240" y="37398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77240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1161288" y="370332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Azure環境の設計図（Terraform）</a:t>
            </a:r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777240" y="42885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77240" y="4288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1161288" y="425196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持ち帰りガイド</a:t>
            </a:r>
            <a:endParaRPr lang="en-US" sz="1500"/>
          </a:p>
        </p:txBody>
      </p:sp>
      <p:sp>
        <p:nvSpPr>
          <p:cNvPr id="21" name="Shape 19"/>
          <p:cNvSpPr/>
          <p:nvPr/>
        </p:nvSpPr>
        <p:spPr>
          <a:xfrm>
            <a:off x="777240" y="483717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77240" y="4837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1161288" y="480060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社内説明用の概要</a:t>
            </a:r>
            <a:endParaRPr lang="en-US" sz="1500"/>
          </a:p>
        </p:txBody>
      </p:sp>
      <p:sp>
        <p:nvSpPr>
          <p:cNvPr id="24" name="Shape 22"/>
          <p:cNvSpPr/>
          <p:nvPr/>
        </p:nvSpPr>
        <p:spPr>
          <a:xfrm>
            <a:off x="6245352" y="141732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92240" y="1600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サインアウトの4ステップ</a:t>
            </a:r>
            <a:endParaRPr lang="en-US" sz="1500"/>
          </a:p>
        </p:txBody>
      </p:sp>
      <p:sp>
        <p:nvSpPr>
          <p:cNvPr id="26" name="Shape 24"/>
          <p:cNvSpPr/>
          <p:nvPr/>
        </p:nvSpPr>
        <p:spPr>
          <a:xfrm>
            <a:off x="6492240" y="2121408"/>
            <a:ext cx="292608" cy="292608"/>
          </a:xfrm>
          <a:prstGeom prst="ellipse">
            <a:avLst/>
          </a:prstGeom>
          <a:solidFill>
            <a:srgbClr val="D9660B"/>
          </a:solidFill>
          <a:ln w="12700">
            <a:solidFill>
              <a:srgbClr val="D966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492240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6903720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ターミナルで下のコマンドを実行</a:t>
            </a:r>
            <a:endParaRPr lang="en-US" sz="1500"/>
          </a:p>
        </p:txBody>
      </p:sp>
      <p:sp>
        <p:nvSpPr>
          <p:cNvPr id="29" name="Shape 27"/>
          <p:cNvSpPr/>
          <p:nvPr/>
        </p:nvSpPr>
        <p:spPr>
          <a:xfrm>
            <a:off x="6492240" y="2761488"/>
            <a:ext cx="292608" cy="292608"/>
          </a:xfrm>
          <a:prstGeom prst="ellipse">
            <a:avLst/>
          </a:prstGeom>
          <a:solidFill>
            <a:srgbClr val="D9660B"/>
          </a:solidFill>
          <a:ln w="12700">
            <a:solidFill>
              <a:srgbClr val="D966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49224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6903720" y="27432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 CodeでGitHubからサインアウト</a:t>
            </a:r>
            <a:endParaRPr lang="en-US" sz="1500"/>
          </a:p>
        </p:txBody>
      </p:sp>
      <p:sp>
        <p:nvSpPr>
          <p:cNvPr id="32" name="Shape 30"/>
          <p:cNvSpPr/>
          <p:nvPr/>
        </p:nvSpPr>
        <p:spPr>
          <a:xfrm>
            <a:off x="6492240" y="3401568"/>
            <a:ext cx="292608" cy="292608"/>
          </a:xfrm>
          <a:prstGeom prst="ellipse">
            <a:avLst/>
          </a:prstGeom>
          <a:solidFill>
            <a:srgbClr val="D9660B"/>
          </a:solidFill>
          <a:ln w="12700">
            <a:solidFill>
              <a:srgbClr val="D966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492240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6903720" y="33832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ターミナルで az logout を実行</a:t>
            </a:r>
            <a:endParaRPr lang="en-US" sz="1500"/>
          </a:p>
        </p:txBody>
      </p:sp>
      <p:sp>
        <p:nvSpPr>
          <p:cNvPr id="35" name="Shape 33"/>
          <p:cNvSpPr/>
          <p:nvPr/>
        </p:nvSpPr>
        <p:spPr>
          <a:xfrm>
            <a:off x="6492240" y="4041648"/>
            <a:ext cx="292608" cy="292608"/>
          </a:xfrm>
          <a:prstGeom prst="ellipse">
            <a:avLst/>
          </a:prstGeom>
          <a:solidFill>
            <a:srgbClr val="D9660B"/>
          </a:solidFill>
          <a:ln w="12700">
            <a:solidFill>
              <a:srgbClr val="D966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49224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6903720" y="40233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ブラウザーでGitHub / Azureからサインアウト</a:t>
            </a:r>
            <a:endParaRPr lang="en-US" sz="1500"/>
          </a:p>
        </p:txBody>
      </p:sp>
      <p:sp>
        <p:nvSpPr>
          <p:cNvPr id="38" name="Shape 36"/>
          <p:cNvSpPr/>
          <p:nvPr/>
        </p:nvSpPr>
        <p:spPr>
          <a:xfrm>
            <a:off x="6492240" y="475488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1C2736"/>
          </a:solidFill>
          <a:ln w="12700">
            <a:solidFill>
              <a:srgbClr val="1C273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629400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FC0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の入力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8183880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7CE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.\scripts\prepare-handover.cmd</a:t>
            </a:r>
            <a:endParaRPr lang="en-US" sz="1400"/>
          </a:p>
        </p:txBody>
      </p:sp>
      <p:sp>
        <p:nvSpPr>
          <p:cNvPr id="41" name="Shape 39"/>
          <p:cNvSpPr/>
          <p:nvPr/>
        </p:nvSpPr>
        <p:spPr>
          <a:xfrm>
            <a:off x="457200" y="576072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457200" y="57607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必ず成果共有が終わってから実行してください。作成したフォルダーは、このPCにそのまま残ります。</a:t>
            </a:r>
            <a:endParaRPr lang="en-US" sz="145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付録1｜いまどこ？早見表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全STEPを1枚で確認できます</a:t>
            </a:r>
            <a:endParaRPr lang="en-US" sz="260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744200" cy="48280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いま何をしている？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何ができる？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00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環境確認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開発を始められる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01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課題を1つに絞る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業務課題が整理される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02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必要な機能を決める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要件定義書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03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画面と流れを決める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画面設計書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04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保存する情報を決める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データ設計書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05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AIがAzure構成を選ぶ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構成設計書（パターンA／B）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176D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06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2176D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Azure環境をつくる（標準）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Terraform・Azureのリソース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07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プログラムをつくる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Python Webアプリ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1D9A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08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1D9A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自分のPCで動かす（必須ゴール）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アプリが動く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176D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09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2176D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Azureで動かす（標準ゴール）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Azure上で動く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再現資料をつくる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2536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持ち帰り一式</a:t>
                      </a:r>
                      <a:endParaRPr lang="en-US" sz="14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付録2｜困ったとき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困ったときは、まずこれを試してください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「/」でプロンプトが出ない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4206240" y="1554480"/>
            <a:ext cx="36576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800600" y="13716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.github が一番上に見えるフォルダーを開いているか確認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ファイルが作られない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4206240" y="2359152"/>
            <a:ext cx="36576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800600" y="217627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チャットのモードが「Agent」になっているか確認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22960" y="29809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同じエラーを繰り返す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4206240" y="3163824"/>
            <a:ext cx="36576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800600" y="2980944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停止して、エラー画面を残したままスタッフを呼ぶ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22960" y="37856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apply がエラーで止まった</a:t>
            </a:r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4206240" y="3968496"/>
            <a:ext cx="36576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800600" y="378561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エラー画面を残したまま、Azure担当のスタッフを呼ぶ</a:t>
            </a:r>
            <a:endParaRPr lang="en-US" sz="1500"/>
          </a:p>
        </p:txBody>
      </p:sp>
      <p:sp>
        <p:nvSpPr>
          <p:cNvPr id="20" name="Shape 18"/>
          <p:cNvSpPr/>
          <p:nvPr/>
        </p:nvSpPr>
        <p:spPr>
          <a:xfrm>
            <a:off x="548640" y="4590288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22960" y="45902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進行に遅れた</a:t>
            </a:r>
            <a:endParaRPr lang="en-US" sz="1500"/>
          </a:p>
        </p:txBody>
      </p:sp>
      <p:sp>
        <p:nvSpPr>
          <p:cNvPr id="22" name="Shape 20"/>
          <p:cNvSpPr/>
          <p:nvPr/>
        </p:nvSpPr>
        <p:spPr>
          <a:xfrm>
            <a:off x="4206240" y="4773168"/>
            <a:ext cx="36576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800600" y="459028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近くの方と一緒に進める（共同実施OK）</a:t>
            </a:r>
            <a:endParaRPr lang="en-US" sz="150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BDDDC"/>
          </a:solidFill>
          <a:ln w="12700">
            <a:solidFill>
              <a:srgbClr val="FBDD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一人で止まらず、手を挙げてスタッフを呼んでください。</a:t>
            </a:r>
            <a:endParaRPr lang="en-US" sz="170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付録2-2｜環境準備で困ったとき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よくある4つの環境トラブルを切り分けます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109960" cy="9144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が認識されない</a:t>
            </a:r>
            <a:endParaRPr lang="en-US" sz="1550"/>
          </a:p>
        </p:txBody>
      </p:sp>
      <p:sp>
        <p:nvSpPr>
          <p:cNvPr id="6" name="Text 4"/>
          <p:cNvSpPr/>
          <p:nvPr/>
        </p:nvSpPr>
        <p:spPr>
          <a:xfrm>
            <a:off x="397764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CLI が未導入、またはインストール後に VS Code を開き直していない</a:t>
            </a:r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7543800" y="1600200"/>
            <a:ext cx="32004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001000" y="12801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「準備②」の手順で導入し、VS Codeをすべて閉じて開き直す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48640" y="3346703"/>
            <a:ext cx="11109960" cy="9144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3346703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 やターミナルが使えない</a:t>
            </a:r>
            <a:endParaRPr lang="en-US" sz="1550"/>
          </a:p>
        </p:txBody>
      </p:sp>
      <p:sp>
        <p:nvSpPr>
          <p:cNvPr id="11" name="Text 9"/>
          <p:cNvSpPr/>
          <p:nvPr/>
        </p:nvSpPr>
        <p:spPr>
          <a:xfrm>
            <a:off x="3977640" y="3346703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フォルダーを開いたときに「信頼しない」を選び、制限モードになっている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7543800" y="3666744"/>
            <a:ext cx="32004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001000" y="3346703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画面上部の「制限モード」を押して「信頼する」を選ぶ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548640" y="4379975"/>
            <a:ext cx="11109960" cy="9144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77240" y="4379975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 login 後に自分のRGが見えない</a:t>
            </a:r>
            <a:endParaRPr lang="en-US" sz="1550"/>
          </a:p>
        </p:txBody>
      </p:sp>
      <p:sp>
        <p:nvSpPr>
          <p:cNvPr id="16" name="Text 14"/>
          <p:cNvSpPr/>
          <p:nvPr/>
        </p:nvSpPr>
        <p:spPr>
          <a:xfrm>
            <a:off x="3977640" y="4379975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別のアカウント、または別のサブスクリプションが選ばれている</a:t>
            </a:r>
            <a:endParaRPr lang="en-US" sz="1350"/>
          </a:p>
        </p:txBody>
      </p:sp>
      <p:sp>
        <p:nvSpPr>
          <p:cNvPr id="17" name="Shape 15"/>
          <p:cNvSpPr/>
          <p:nvPr/>
        </p:nvSpPr>
        <p:spPr>
          <a:xfrm>
            <a:off x="7543800" y="4700015"/>
            <a:ext cx="32004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001000" y="4379975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 account show で確認し、スタッフを呼ぶ。自分でRGを作らない</a:t>
            </a:r>
            <a:endParaRPr lang="en-US" sz="1350"/>
          </a:p>
        </p:txBody>
      </p:sp>
      <p:sp>
        <p:nvSpPr>
          <p:cNvPr id="20" name="Shape 2"/>
          <p:cNvSpPr/>
          <p:nvPr/>
        </p:nvSpPr>
        <p:spPr>
          <a:xfrm>
            <a:off x="548640" y="2313432"/>
            <a:ext cx="11109960" cy="9144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3"/>
          <p:cNvSpPr/>
          <p:nvPr/>
        </p:nvSpPr>
        <p:spPr>
          <a:xfrm>
            <a:off x="777240" y="23134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 が認識されない</a:t>
            </a:r>
            <a:endParaRPr lang="en-US" sz="1550"/>
          </a:p>
        </p:txBody>
      </p:sp>
      <p:sp>
        <p:nvSpPr>
          <p:cNvPr id="22" name="Text 4"/>
          <p:cNvSpPr/>
          <p:nvPr/>
        </p:nvSpPr>
        <p:spPr>
          <a:xfrm>
            <a:off x="3977640" y="23134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 CLI が未導入、またはインストール後に VS Code を開き直していない</a:t>
            </a:r>
            <a:endParaRPr lang="en-US" sz="1350"/>
          </a:p>
        </p:txBody>
      </p:sp>
      <p:sp>
        <p:nvSpPr>
          <p:cNvPr id="23" name="Shape 5"/>
          <p:cNvSpPr/>
          <p:nvPr/>
        </p:nvSpPr>
        <p:spPr>
          <a:xfrm>
            <a:off x="7543800" y="2633472"/>
            <a:ext cx="320040" cy="274320"/>
          </a:xfrm>
          <a:prstGeom prst="rightArrow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6"/>
          <p:cNvSpPr/>
          <p:nvPr/>
        </p:nvSpPr>
        <p:spPr>
          <a:xfrm>
            <a:off x="8001000" y="231343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「準備②」の手順で導入し、VS Codeをすべて閉じて開き直す</a:t>
            </a:r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解決しない場合は、エラー画面を残したままスタッフを呼んでください。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付録3｜Copilotの実行確認が出たとき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Copilotの確認画面では、コマンドの種類を見て判断します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E8F5ED"/>
          </a:solidFill>
          <a:ln w="1270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「許可」してよい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914400" y="24140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1440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298448" y="23774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Pythonのテスト（pytest）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914400" y="30998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1440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1298448" y="30632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fmt / init / validate / plan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914400" y="37856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D9A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D9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298448" y="37490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Azureアカウント・Blob・ログの確認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3E8"/>
          </a:solidFill>
          <a:ln w="12700">
            <a:solidFill>
              <a:srgbClr val="D966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6002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「拒否」してスタッフを呼ぶ</a:t>
            </a:r>
            <a:endParaRPr lang="en-US" sz="2200"/>
          </a:p>
        </p:txBody>
      </p:sp>
      <p:sp>
        <p:nvSpPr>
          <p:cNvPr id="17" name="Shape 15"/>
          <p:cNvSpPr/>
          <p:nvPr/>
        </p:nvSpPr>
        <p:spPr>
          <a:xfrm>
            <a:off x="6583680" y="24140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58368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6967728" y="23774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Copilotが terraform apply / destroy を実行</a:t>
            </a:r>
            <a:endParaRPr lang="en-US" sz="1500"/>
          </a:p>
        </p:txBody>
      </p:sp>
      <p:sp>
        <p:nvSpPr>
          <p:cNvPr id="20" name="Shape 18"/>
          <p:cNvSpPr/>
          <p:nvPr/>
        </p:nvSpPr>
        <p:spPr>
          <a:xfrm>
            <a:off x="6583680" y="30998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58368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967728" y="30632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requirements.txt にないパッケージの追加</a:t>
            </a:r>
            <a:endParaRPr lang="en-US" sz="1500"/>
          </a:p>
        </p:txBody>
      </p:sp>
      <p:sp>
        <p:nvSpPr>
          <p:cNvPr id="23" name="Shape 21"/>
          <p:cNvSpPr/>
          <p:nvPr/>
        </p:nvSpPr>
        <p:spPr>
          <a:xfrm>
            <a:off x="6583680" y="37856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58368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6967728" y="37490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権限の変更・ファイルの一括削除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terraform apply は、STEP06で受講者自身が新しいターミナルに入力します（Copilotには実行させません）。</a:t>
            </a:r>
            <a:endParaRPr lang="en-US" sz="130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付録4｜今回の体験と本番利用の違い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今回の体験は、本番化の前段階です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EAF2FC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今回の体験会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914400" y="24140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1440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298448" y="23774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仮想ログイン（デモ機能）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14400" y="30540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14400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1298448" y="301752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保存先は Blob か Cosmos DB の2択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914400" y="369417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298448" y="365760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主要データ1種類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914400" y="43342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176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1298448" y="429768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最大3機能・最大3画面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2EAFE"/>
          </a:solidFill>
          <a:ln w="1270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217920" y="16002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本番化するとき</a:t>
            </a:r>
            <a:endParaRPr lang="en-US" sz="2200"/>
          </a:p>
        </p:txBody>
      </p:sp>
      <p:sp>
        <p:nvSpPr>
          <p:cNvPr id="20" name="Shape 18"/>
          <p:cNvSpPr/>
          <p:nvPr/>
        </p:nvSpPr>
        <p:spPr>
          <a:xfrm>
            <a:off x="6583680" y="24140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58368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967728" y="237744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Entra ID などの認証</a:t>
            </a:r>
            <a:endParaRPr lang="en-US" sz="1550"/>
          </a:p>
        </p:txBody>
      </p:sp>
      <p:sp>
        <p:nvSpPr>
          <p:cNvPr id="23" name="Shape 21"/>
          <p:cNvSpPr/>
          <p:nvPr/>
        </p:nvSpPr>
        <p:spPr>
          <a:xfrm>
            <a:off x="6583680" y="30540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583680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6967728" y="301752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権限の最小化・閉域ネットワーク</a:t>
            </a:r>
            <a:endParaRPr lang="en-US" sz="1550"/>
          </a:p>
        </p:txBody>
      </p:sp>
      <p:sp>
        <p:nvSpPr>
          <p:cNvPr id="26" name="Shape 24"/>
          <p:cNvSpPr/>
          <p:nvPr/>
        </p:nvSpPr>
        <p:spPr>
          <a:xfrm>
            <a:off x="6583680" y="369417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583680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967728" y="365760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バックアップ・監視とログ</a:t>
            </a:r>
            <a:endParaRPr lang="en-US" sz="1550"/>
          </a:p>
        </p:txBody>
      </p:sp>
      <p:sp>
        <p:nvSpPr>
          <p:cNvPr id="29" name="Shape 27"/>
          <p:cNvSpPr/>
          <p:nvPr/>
        </p:nvSpPr>
        <p:spPr>
          <a:xfrm>
            <a:off x="6583680" y="43342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583680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A3F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67728" y="4297680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2536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AIが提案した理想構成の検討（docs/05）</a:t>
            </a:r>
            <a:endParaRPr lang="en-US" sz="1550"/>
          </a:p>
        </p:txBody>
      </p:sp>
      <p:sp>
        <p:nvSpPr>
          <p:cNvPr id="32" name="Text 30"/>
          <p:cNvSpPr/>
          <p:nvPr/>
        </p:nvSpPr>
        <p:spPr>
          <a:xfrm>
            <a:off x="548640" y="5806440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今日つくるのは「本番システム」ではなく、課題をアプリに変える流れを体験するためのものです。</a:t>
            </a:r>
            <a:endParaRPr lang="en-US" sz="150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219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付録5｜帰社後にもう一度つくる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持ち帰ったフォルダーで、別の業務課題にも同じ流れを使えます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88136" y="1783080"/>
            <a:ext cx="749808" cy="749808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88136" y="17830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530352" y="2743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自分のCopilotを準備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530352" y="37490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Copilot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496312" y="297180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743200" y="146304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374136" y="1783080"/>
            <a:ext cx="749808" cy="749808"/>
          </a:xfrm>
          <a:prstGeom prst="ellipse">
            <a:avLst/>
          </a:prstGeom>
          <a:solidFill>
            <a:srgbClr val="2176D2"/>
          </a:solidFill>
          <a:ln w="12700">
            <a:solidFill>
              <a:srgbClr val="21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374136" y="17830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2816352" y="2743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setup-local.cmd</a:t>
            </a:r>
            <a:endParaRPr lang="en-US" sz="1450"/>
          </a:p>
          <a:p>
            <a:pPr marL="0" indent="0" algn="ctr">
              <a:buNone/>
            </a:pPr>
            <a:r>
              <a:rPr lang="en-US" sz="145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を実行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2816352" y="37490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環境の再作成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82312" y="297180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029200" y="146304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5660136" y="1783080"/>
            <a:ext cx="749808" cy="7498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660136" y="17830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5102352" y="2743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01-input.md を</a:t>
            </a:r>
            <a:endParaRPr lang="en-US" sz="1450"/>
          </a:p>
          <a:p>
            <a:pPr marL="0" indent="0" algn="ctr">
              <a:buNone/>
            </a:pPr>
            <a:r>
              <a:rPr lang="en-US" sz="145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書き換え</a:t>
            </a:r>
            <a:endParaRPr lang="en-US" sz="1450"/>
          </a:p>
        </p:txBody>
      </p:sp>
      <p:sp>
        <p:nvSpPr>
          <p:cNvPr id="20" name="Text 18"/>
          <p:cNvSpPr/>
          <p:nvPr/>
        </p:nvSpPr>
        <p:spPr>
          <a:xfrm>
            <a:off x="5102352" y="37490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新しい課題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7068312" y="297180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7315200" y="146304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7946136" y="1783080"/>
            <a:ext cx="749808" cy="749808"/>
          </a:xfrm>
          <a:prstGeom prst="ellipse">
            <a:avLst/>
          </a:prstGeom>
          <a:solidFill>
            <a:srgbClr val="C21920"/>
          </a:solidFill>
          <a:ln w="12700">
            <a:solidFill>
              <a:srgbClr val="C219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946136" y="17830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/>
          </a:p>
        </p:txBody>
      </p:sp>
      <p:sp>
        <p:nvSpPr>
          <p:cNvPr id="25" name="Text 23"/>
          <p:cNvSpPr/>
          <p:nvPr/>
        </p:nvSpPr>
        <p:spPr>
          <a:xfrm>
            <a:off x="7388352" y="2743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/01 から順に実行</a:t>
            </a:r>
            <a:endParaRPr lang="en-US" sz="1450"/>
          </a:p>
        </p:txBody>
      </p:sp>
      <p:sp>
        <p:nvSpPr>
          <p:cNvPr id="26" name="Text 24"/>
          <p:cNvSpPr/>
          <p:nvPr/>
        </p:nvSpPr>
        <p:spPr>
          <a:xfrm>
            <a:off x="7388352" y="37490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同じプロセス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9354312" y="2971800"/>
            <a:ext cx="219456" cy="310896"/>
          </a:xfrm>
          <a:prstGeom prst="rightArrow">
            <a:avLst/>
          </a:prstGeom>
          <a:solidFill>
            <a:srgbClr val="C8CFD9"/>
          </a:solidFill>
          <a:ln w="12700">
            <a:solidFill>
              <a:srgbClr val="C8CF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9601200" y="1463040"/>
            <a:ext cx="201168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10232136" y="1783080"/>
            <a:ext cx="749808" cy="749808"/>
          </a:xfrm>
          <a:prstGeom prst="ellipse">
            <a:avLst/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10232136" y="17830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700"/>
          </a:p>
        </p:txBody>
      </p:sp>
      <p:sp>
        <p:nvSpPr>
          <p:cNvPr id="31" name="Text 29"/>
          <p:cNvSpPr/>
          <p:nvPr/>
        </p:nvSpPr>
        <p:spPr>
          <a:xfrm>
            <a:off x="9674352" y="27432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42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Azureへ構築</a:t>
            </a:r>
            <a:endParaRPr lang="en-US" sz="1450"/>
          </a:p>
        </p:txBody>
      </p:sp>
      <p:sp>
        <p:nvSpPr>
          <p:cNvPr id="32" name="Text 30"/>
          <p:cNvSpPr/>
          <p:nvPr/>
        </p:nvSpPr>
        <p:spPr>
          <a:xfrm>
            <a:off x="9674352" y="37490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管理者準備 → Terraform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548640" y="516636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FFF3E8"/>
          </a:solidFill>
          <a:ln w="12700">
            <a:solidFill>
              <a:srgbClr val="F2C08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731520" y="5166360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D966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プロンプトの再実行には GitHub Copilot の契約が、Azureへの構築には Azure サブスクリプションと、管理者による権限の準備が必要です。</a:t>
            </a:r>
            <a:endParaRPr lang="en-US" sz="145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8F9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2270</Words>
  <Application>Microsoft Office PowerPoint</Application>
  <PresentationFormat>ワイド画面</PresentationFormat>
  <Paragraphs>961</Paragraphs>
  <Slides>29</Slides>
  <Notes>26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33" baseType="lpstr">
      <vt:lpstr>Yu Gothic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Copilotで業務課題をPython Webアプリにしてみよう</dc:title>
  <dc:subject>PptxGenJS Presentation</dc:subject>
  <dc:creator>朝山 悟</dc:creator>
  <cp:lastModifiedBy>朝山 悟</cp:lastModifiedBy>
  <cp:revision>7</cp:revision>
  <dcterms:created xsi:type="dcterms:W3CDTF">2026-10-28T03:31:01Z</dcterms:created>
  <dcterms:modified xsi:type="dcterms:W3CDTF">2026-10-28T03:46:17Z</dcterms:modified>
</cp:coreProperties>
</file>