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Copilot × Python Webアプリ開発ハンズオン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Copilotで、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業務課題をPython Webアプリにしてみよう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課題整理から、設計、実装、Azureでの実行まで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2377440" cy="603504"/>
          </a:xfrm>
          <a:prstGeom prst="rect">
            <a:avLst/>
          </a:prstGeom>
          <a:solidFill>
            <a:srgbClr val="FFF4C2"/>
          </a:solidFill>
          <a:ln w="12700">
            <a:solidFill>
              <a:srgbClr val="EADB8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803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手作業が多い…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2377440" cy="603504"/>
          </a:xfrm>
          <a:prstGeom prst="rect">
            <a:avLst/>
          </a:prstGeom>
          <a:solidFill>
            <a:srgbClr val="FFF4C2"/>
          </a:solidFill>
          <a:ln w="12700">
            <a:solidFill>
              <a:srgbClr val="EADB8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6576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情報がバラバラ…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2377440" cy="603504"/>
          </a:xfrm>
          <a:prstGeom prst="rect">
            <a:avLst/>
          </a:prstGeom>
          <a:solidFill>
            <a:srgbClr val="FFF4C2"/>
          </a:solidFill>
          <a:ln w="12700">
            <a:solidFill>
              <a:srgbClr val="EADB8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4348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集計が大変…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あなたの業務課題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1880" y="3703320"/>
            <a:ext cx="822960" cy="45720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154680"/>
            <a:ext cx="1554480" cy="1554480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54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4340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設計・構成選択・実装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03320"/>
            <a:ext cx="822960" cy="45720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697480"/>
            <a:ext cx="4251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52360" y="2697480"/>
            <a:ext cx="4251960" cy="36576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2834640"/>
            <a:ext cx="91440" cy="914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2834640"/>
            <a:ext cx="91440" cy="914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834640"/>
            <a:ext cx="91440" cy="91440"/>
          </a:xfrm>
          <a:prstGeom prst="ellipse">
            <a:avLst/>
          </a:prstGeom>
          <a:solidFill>
            <a:srgbClr val="5AC18E"/>
          </a:solidFill>
          <a:ln w="12700">
            <a:solidFill>
              <a:srgbClr val="5AC1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697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業務管理アプリ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62088" y="3172968"/>
            <a:ext cx="935431" cy="201168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337560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3721608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4105656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新規登録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62111" y="3200400"/>
            <a:ext cx="28593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案件一覧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662111" y="3630168"/>
            <a:ext cx="2859329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1839" y="363016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業務改善ツール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652760" y="367245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52760" y="367245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62111" y="4007358"/>
            <a:ext cx="2859329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1839" y="400735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申請フォーム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652760" y="404964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52760" y="404964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未着手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662111" y="4384548"/>
            <a:ext cx="2859329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1839" y="438454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652760" y="442683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52760" y="442683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62111" y="4761738"/>
            <a:ext cx="2859329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1839" y="476173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FAQ整備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652760" y="480402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52760" y="480402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53949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Azureで動くWebアプリ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800" y="5943600"/>
            <a:ext cx="1645920" cy="384048"/>
          </a:xfrm>
          <a:prstGeom prst="roundRect">
            <a:avLst>
              <a:gd name="adj" fmla="val 3571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943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個人で開発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468880" y="5943600"/>
            <a:ext cx="2560320" cy="384048"/>
          </a:xfrm>
          <a:prstGeom prst="roundRect">
            <a:avLst>
              <a:gd name="adj" fmla="val 35714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5943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困った場合は共同実施OK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166360" y="5943600"/>
            <a:ext cx="1645920" cy="384048"/>
          </a:xfrm>
          <a:prstGeom prst="roundRect">
            <a:avLst>
              <a:gd name="adj" fmla="val 35714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5943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初心者歓迎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40880" y="5989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AI Co-Innovation Lab Kobe × Microsoft Base Ritsumeikan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今日つくるもの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自分の業務課題を、Azureで動くWebアプリにします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2900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000" y="1417320"/>
            <a:ext cx="5349240" cy="36576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554480"/>
            <a:ext cx="91440" cy="914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1554480"/>
            <a:ext cx="91440" cy="914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1554480"/>
            <a:ext cx="91440" cy="91440"/>
          </a:xfrm>
          <a:prstGeom prst="ellipse">
            <a:avLst/>
          </a:prstGeom>
          <a:solidFill>
            <a:srgbClr val="5AC18E"/>
          </a:solidFill>
          <a:ln w="12700">
            <a:solidFill>
              <a:srgbClr val="5AC1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417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業務管理アプリ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8728" y="1892808"/>
            <a:ext cx="1176833" cy="333756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57400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441448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825496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新規登録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0153" y="1920240"/>
            <a:ext cx="3715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案件一覧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80153" y="2350008"/>
            <a:ext cx="3715207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9881" y="2350008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業務改善ツール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2414016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4140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80153" y="2770632"/>
            <a:ext cx="3715207" cy="3657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9881" y="2770632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申請フォーム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26680" y="2834640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83464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未着手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80153" y="3191256"/>
            <a:ext cx="3715207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9881" y="3191256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26680" y="3255264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2552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80153" y="3611880"/>
            <a:ext cx="3715207" cy="3657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9881" y="3611880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FAQ整備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26680" y="3675888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36758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1737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1737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体験用ログイン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548640" y="32918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2918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一覧表示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0" y="1737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0" y="1737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登録・編集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9144000" y="32918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44000" y="32918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データ保存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144000" y="42793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保存先はAIが選ぶ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（Blob Storage／Cosmos DB）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注意：ログインは体験用のデモ機能です。本人確認やアクセス制御を行う認証機能ではありません。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今日持ち帰れるもの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アプリだけでなく、もう一度つくる方法も持ち帰ります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76656" cy="67665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019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/ Flask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01952"/>
            <a:ext cx="676656" cy="676656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019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4068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01952"/>
            <a:ext cx="676656" cy="676656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9019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8972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00〜10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776472"/>
            <a:ext cx="676656" cy="676656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76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Azure環境の設計図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9164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776472"/>
            <a:ext cx="676656" cy="67665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776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44068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 / Azure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776472"/>
            <a:ext cx="676656" cy="676656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776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8972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社内説明資料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18972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1ページ概要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「できたアプリ」と「もう一度つくる方法」をセットで持ち帰ります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全体ロードマップ（90分）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必須はSTEP08でPC上、標準はSTEP09でAzure上で動かすこと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78308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9432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943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60576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6057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74320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環境確認・課題整理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5000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41732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417320"/>
            <a:ext cx="301752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39542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954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9117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9117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58691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8691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68266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826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33472" y="27432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要件・画面・データ・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Azure構成の選択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9612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141732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06440" y="1417320"/>
            <a:ext cx="210312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153912" y="2103120"/>
            <a:ext cx="530352" cy="53035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31736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79592" y="274320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Azure構築・プログラム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92784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41732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38160" y="1417320"/>
            <a:ext cx="210312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485632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363456" y="2103120"/>
            <a:ext cx="530352" cy="53035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6345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11312" y="274320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 → Azure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25956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69880" y="141732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469880" y="1417320"/>
            <a:ext cx="160020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6988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004804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04804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543032" y="274320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再現手順・説明資料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38862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80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必須ゴール（全員）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28016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自分のPCでアプリが動く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217920" y="38862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4114800"/>
            <a:ext cx="384048" cy="384048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494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標準ゴール（全員で挑戦）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94944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AIが選んだ構成をAzureに作り（06）、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Azure上でアプリが動く（09）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54406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遅れても大丈夫です。途中から再開できる完成版をスタッフが用意しています。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休憩中にやること①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テンプレートをダウンロードして、VS Codeで開きます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54480"/>
            <a:ext cx="475488" cy="47548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テンプレートURLを開く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配布されたURLを開き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緑の「Code」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→「Download ZIP」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90672" y="2377440"/>
            <a:ext cx="182880" cy="32004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554480"/>
            <a:ext cx="475488" cy="47548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C:\handson に展開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ZIPを右クリック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→「すべて展開」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展開先：C:\handson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25312" y="2377440"/>
            <a:ext cx="182880" cy="32004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554480"/>
            <a:ext cx="475488" cy="47548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フォルダー名を変更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末尾の「-main」を消して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copilot-webapp-handson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にする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59952" y="2377440"/>
            <a:ext cx="182880" cy="32004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13716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62288" y="1554480"/>
            <a:ext cx="475488" cy="47548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28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9828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Codeで開く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52560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 → フォルダーを開く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確認画面では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「はい、作成者を信頼します」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4160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正しいフォルダーを開いた状態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52628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COPILOT-WEBAPP-HANDSON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.github     ← 一番上に見えればOK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.vscode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docs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guide       ← この資料があります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scripts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86600" y="4069080"/>
            <a:ext cx="4645152" cy="1005840"/>
          </a:xfrm>
          <a:prstGeom prst="roundRect">
            <a:avLst>
              <a:gd name="adj" fmla="val 7273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41148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.github が見えない＝1つ外側を開いています。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もう1階層内側のフォルダーを開き直します。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086600" y="5212080"/>
            <a:ext cx="4645152" cy="1005840"/>
          </a:xfrm>
          <a:prstGeom prst="roundRect">
            <a:avLst>
              <a:gd name="adj" fmla="val 7273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5257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この資料の場所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9480" y="5559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guide\handson-guide.pptx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69480" y="5870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ここから先は、この資料を見ながら進めます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休憩中にやること②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配布アカウントでサインインし、実行環境をセットアップします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GitHubにサインイン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 左下の人型アイコン（アカウント）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4505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「GitHubでサインイン」を選ぶ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6265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94436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ブラウザーで配布カードのGitHubアカウントを入力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45643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右上のCopilotアイコンからチャットが開ける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5352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セットアップを実行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73952" y="193852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192024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メニュー「ターミナル」→「新しいターミナル」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3952" y="24505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85432" y="243230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下のコマンドを入力して Enter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73952" y="296265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85432" y="29443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最後に「Setup completed.」と表示される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73952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数分かかります。止まって見えても待ちます。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48840" y="43434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.\scripts\setup-local.cmd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57200" y="51206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12064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個人のGitHubアカウントでサインイン済みの場合は、いったんサインアウトし、配布カードのアカウントでサインインし直します。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ここでは、まだCopilotにプロンプトを入力しません。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休憩中にやること③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必要なソフトがそろっているか、ターミナルで確認します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72768"/>
            <a:ext cx="402336" cy="40233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1572768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57276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14173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OK：Python 3.10 以上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2441448"/>
            <a:ext cx="402336" cy="40233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2860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 CLI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20440" y="2441448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244144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22860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OK：バージョンが表示される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310128"/>
            <a:ext cx="402336" cy="40233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1546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CLI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520440" y="3310128"/>
            <a:ext cx="3291840" cy="402336"/>
          </a:xfrm>
          <a:prstGeom prst="roundRect">
            <a:avLst>
              <a:gd name="adj" fmla="val 11364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331012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version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31546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OK：Terraform v1.5 以上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274552" cy="2011680"/>
          </a:xfrm>
          <a:prstGeom prst="roundRect">
            <a:avLst>
              <a:gd name="adj" fmla="val 3636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519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「terraform は認識されません」と出たとき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4617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Codeの「HashiCorp Terraform」拡張機能だけでは terraform コマンドは使えません。CLI本体を入れます。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029200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5029200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-e --id Hashicorp.Terraform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インストール後、VS Codeのウィンドウをすべて閉じて開き直し、もう一度 terraform version で確認します。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Copilotの使い方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Copilotでは、毎回同じ6つの操作を繰り返します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新しいチャットを開く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25880" y="22860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22860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64592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Agentモードを確認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22860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2860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64592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「/」を入力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23960" y="22860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22860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プロンプトを選ぶ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325880" y="420624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42062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/02-requirements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9768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送信する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074920" y="420624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42062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356616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2396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生成ファイルを確認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823960" y="420624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33688" y="42062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44068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STEPごとに「＋」で新しいチャットを開きます。前の内容は、作成されたMarkdownファイルから読み込まれます。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環境確認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00／10　14:40〜14:45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これからの作業を始められる状態か確認します。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77440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48840" y="2377440"/>
            <a:ext cx="9445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2907792"/>
            <a:ext cx="5623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5800" y="345643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438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配布カードのAzureアカウントでサインイン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5800" y="38587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3840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チャットのモードを「Agent」にする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97280" y="42428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/00-environment-check を実行する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09360" y="2907792"/>
            <a:ext cx="5422392" cy="1783080"/>
          </a:xfrm>
          <a:prstGeom prst="roundRect">
            <a:avLst>
              <a:gd name="adj" fmla="val 4103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3796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565392" y="3474720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76288" y="3438144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docs/00-environment-check.md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57200" y="4800600"/>
            <a:ext cx="5623560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8580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713232" y="5340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5340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97280" y="530352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Copilotが応答する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" y="56692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5669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97280" y="563270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結果に「NG：0件」と表示される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13232" y="59984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" y="599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97280" y="59618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version が表示される（1.5以上）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309360" y="4800600"/>
            <a:ext cx="5422392" cy="1527048"/>
          </a:xfrm>
          <a:prstGeom prst="roundRect">
            <a:avLst>
              <a:gd name="adj" fmla="val 4790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3796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6537960" y="527608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ここでは、アプリをつくりません。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NGがあれば手を挙げてスタッフを呼んでください。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業務課題の整理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01／10　14:45〜14:50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アイデアソンの内容を「開発できる課題1つ」に絞ります。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docs/01-input.md に記入・保存する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「＋」で新しいチャットを開く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/01-business-problem を実行する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docs/01-business-problem.md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誰の課題か分かる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解決したいことが1つ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何人で使うか・管理したい情報がある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何人で使うか、同時に更新する人がいるかも書きます。STEP05でAIが構成を選ぶ材料になります。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02／10　14:50〜14:57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3560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業務課題を、アプリに必要な機能へ変換します。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「＋」で新しいチャットを開く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/02-requirements を実行する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機能が3つ以内か確認する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docs/02-requirements.md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機能が F-01〜F-03 まで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「今回作らないもの」がある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各機能に完成の条件がある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機能を増やす時間ではありません。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最大3つに絞ります。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画面設計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03／10　14:57〜15:03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8424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424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利用者が操作する画面と、その流れを決めます。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/03-screen-design を実行する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画面名・入力項目・ボタンを確認する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各機能に対応する画面があるか確認する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docs/03-screen-design.md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主要画面が3つ以内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各機能に対応する画面がある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デモログインの注記がある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完成アプリの見た目ではなく、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画面の設計図を決めています。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データ設計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04／10　15:03〜15:09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3288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画面で入力した情報を、保存できる形に整理します。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/04-data-design を実行する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項目名とデータ例を確認する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サンプルデータ3件を確認する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docs/04-data-design.md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565392" y="3346704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6288" y="331012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data/sample-items.json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管理するデータが1種類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画面の項目と一致している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サンプルが3件・実在の情報なし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実在する顧客名や個人情報は入力しません。保存先はまだ決めません（次のSTEPでAIが選びます）。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Azure構成の選択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05／10　15:09〜15:15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8152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課題に合わせて、AIがデータの保存先（Azureの構成）を選びます。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85800" y="299008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29718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/05-architecture を実行する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5800" y="355701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5387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docs/05-architecture.md 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1行目でパターンを確認する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412394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41056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選んだ理由を読む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257800" y="239572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E3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パターンA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57800" y="2807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Blob Storage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532120" y="33741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916168" y="33375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少人数で使う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532120" y="37947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916168" y="37581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データは数百件程度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532120" y="42153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916168" y="41788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一覧と登録が中心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531352" y="239572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2EAFE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31352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パターンB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531352" y="2807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Cosmos DB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8805672" y="33741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05672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189720" y="33375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複数の人が同時に更新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805672" y="37947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805672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89720" y="37581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件数が増える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805672" y="42153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05672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189720" y="41788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検索・絞り込みしたい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57200" y="4956048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85800" y="5093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13232" y="55046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3232" y="550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097280" y="546811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「選択：パターンA」または「B」と書かれている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713232" y="58887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3232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97280" y="585216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選んだ理由が自分の課題と合っている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309360" y="4956048"/>
            <a:ext cx="5422392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5093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6537960" y="54406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隣の人と構成が違っていて大丈夫です。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理由が違うと思えば「同時に更新するのは10人」など伝えて見直してもらいます。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Azure環境をつくる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720840" y="219456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219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標準ゴール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06／10　15:15〜15:25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3016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AIが選んだ構成の設計図（Terraform）をつくり、自分でAzureに構築を始めます。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457200" y="2377440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48840" y="2377440"/>
            <a:ext cx="9445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.\scripts\init-tfvars.cmd -ResourceGroup &lt;配布カードのRG名&gt;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2907792"/>
            <a:ext cx="5623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580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85800" y="345643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97280" y="3438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上のコマンドを実行（&lt;&gt;は配布カードの値に）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5800" y="38587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" y="3840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/06-infrastructure を実行（planまで）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97280" y="42428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新しいターミナルで apply → yes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309360" y="2907792"/>
            <a:ext cx="5422392" cy="1783080"/>
          </a:xfrm>
          <a:prstGeom prst="roundRect">
            <a:avLst>
              <a:gd name="adj" fmla="val 4103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53796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6565392" y="3474720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76288" y="3438144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infra/terraform/main.tf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565392" y="3858768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76288" y="3822192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infra/terraform/outputs.tf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565392" y="424281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76288" y="420624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docs/06-infrastructure.md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5623560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8580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713232" y="5340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" y="5340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97280" y="530352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の結果にエラーがない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13232" y="56692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5669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97280" y="563270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新しいターミナルで apply を開始した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13232" y="59984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599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97280" y="59618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終わるのを待たずに STEP07 へ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309360" y="4800600"/>
            <a:ext cx="5422392" cy="1527048"/>
          </a:xfrm>
          <a:prstGeom prst="roundRect">
            <a:avLst>
              <a:gd name="adj" fmla="val 4790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6537960" y="527608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が通ったら、ターミナルの「＋」で新しいターミナルを開いて入力：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-chdir=infra/terraform apply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Copilotには実行させません。そのターミナルは閉じません。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アプリ実装（前半）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07／10　15:25〜15:47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7880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880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設計書をもとに、Copilotが実際のPython Webアプリをつくります。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85800" y="303580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30175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/07-implementation を実行する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5800" y="358444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35661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ファイルの変更は「保持」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413308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97280" y="41148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コマンドの確認は内容を見て「許可」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892040" y="2395728"/>
            <a:ext cx="683971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1206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Copilotが進める順番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12064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入力チェック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2064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92240" y="3520440"/>
            <a:ext cx="228600" cy="27432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画面の処理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76656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routes.py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138160" y="3520440"/>
            <a:ext cx="228600" cy="27432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1248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HTML画面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41248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784080" y="3520440"/>
            <a:ext cx="228600" cy="27432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8F5ED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05840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120640" y="4526280"/>
            <a:ext cx="6382512" cy="640080"/>
          </a:xfrm>
          <a:prstGeom prst="roundRect">
            <a:avLst>
              <a:gd name="adj" fmla="val 11429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526280"/>
            <a:ext cx="6382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ここから初めて、実際のプログラムをつくります。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7200" y="55961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55961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その裏で、apply のターミナルが Azure 環境をつくっています。閉じずに、ときどき「Apply complete!」を確認しましょう。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アプリ実装（後半）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07／10　15:25〜15:47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7880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880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テスト結果に「passed」と表示されれば完了です。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7240" y="29718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routes.py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models.py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templates/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static/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tests/test_routes.py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docs/07-implementation-result.md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989320" y="2395728"/>
            <a:ext cx="5742432" cy="1691640"/>
          </a:xfrm>
          <a:prstGeom prst="roundRect">
            <a:avLst>
              <a:gd name="adj" fmla="val 4324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17920" y="25420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.\.venv\Scripts\python -m pytest -q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17920" y="2971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D7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…… passed in 0.xxs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217920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表示例：数字は人によって異なります。failed が無ければOK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989320" y="4297680"/>
            <a:ext cx="5742432" cy="1847088"/>
          </a:xfrm>
          <a:prstGeom prst="roundRect">
            <a:avLst>
              <a:gd name="adj" fmla="val 3960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434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217920" y="486460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864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29400" y="4846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途中で止まったら「続けて」と送る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217920" y="5266944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29400" y="5248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同じエラーを繰り返したらスタッフへ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217920" y="5669280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5669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29400" y="56509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のターミナルにエラー → スタッフへ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アプリを動かす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720840" y="219456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219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必須ゴール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08／10　15:47〜15:55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744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自分のPCでアプリが動けば、今日の必須ゴール達成です。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457200" y="2377440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48840" y="2377440"/>
            <a:ext cx="9445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.\scripts\start-local.cmd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292608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2926080"/>
            <a:ext cx="5760720" cy="36576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3063240"/>
            <a:ext cx="91440" cy="914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3063240"/>
            <a:ext cx="91440" cy="914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120" y="3063240"/>
            <a:ext cx="91440" cy="91440"/>
          </a:xfrm>
          <a:prstGeom prst="ellipse">
            <a:avLst/>
          </a:prstGeom>
          <a:solidFill>
            <a:srgbClr val="5AC18E"/>
          </a:solidFill>
          <a:ln w="12700">
            <a:solidFill>
              <a:srgbClr val="5AC18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8872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業務管理アプリ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" y="3401568"/>
            <a:ext cx="1267358" cy="201168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3566160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" y="3950208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" y="4334256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新規登録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998878" y="3429000"/>
            <a:ext cx="40361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案件一覧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1998878" y="3858768"/>
            <a:ext cx="4036162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08606" y="385876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業務改善ツール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66360" y="390105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6360" y="390105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98878" y="4235958"/>
            <a:ext cx="4036162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08606" y="423595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申請フォーム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166360" y="427824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427824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未着手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998878" y="4613148"/>
            <a:ext cx="4036162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08606" y="461314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データ集計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166360" y="465543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66360" y="465543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998878" y="4990338"/>
            <a:ext cx="4036162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08606" y="499033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FAQ整備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166360" y="503262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66360" y="503262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46520" y="2926080"/>
            <a:ext cx="528523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67512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6675120" y="341985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7512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086600" y="3401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とは別のターミナルで上を実行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6675120" y="383133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7512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086600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http://127.0.0.1:5000 を開く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6675120" y="424281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7512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086600" y="42245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ログインしてデータを登録する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6675120" y="465429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7512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086600" y="46360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Ctrl+Cで止めて、もう一度起動する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6675120" y="506577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75120" y="5065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086600" y="5047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/08-local-validation を実行する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457200" y="5650992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56509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ブラウザーで開く　 ✓ ログインできる　 ✓ 登録して一覧に表示　 ✓ 再起動してもデータが残る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Azureで動かす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720840" y="219456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219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標準ゴール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09／10　15:55〜16:07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7608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AIが選んだ構成のAzure上で、自分のアプリを動かします。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457200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606040"/>
            <a:ext cx="594360" cy="594360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8640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できたか確認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0352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complete!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90672" y="3337560"/>
            <a:ext cx="201168" cy="292608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19272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25112" y="2606040"/>
            <a:ext cx="594360" cy="594360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2511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410712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Ctrl+Cで止めて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Azureに公開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92424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.\scripts\deploy-azure.cmd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52744" y="3337560"/>
            <a:ext cx="201168" cy="292608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81344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87184" y="2606040"/>
            <a:ext cx="594360" cy="594360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718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72784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URLを開いて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ログイン・登録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54496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https://…azurewebsites.net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14816" y="3337560"/>
            <a:ext cx="201168" cy="292608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43416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5ED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49256" y="2606040"/>
            <a:ext cx="594360" cy="594360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49256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34856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保存を確認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16568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/09-azure-validation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できあがるもの：AIが選んだ構成のAzure環境 ＋ Azure上で動くWebアプリ ＋ docs/09-azure-validation.md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57200" y="534924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初回の起動や権限の反映に数分かかります。16:07までに動かなくても、STEP08まで完成していれば大丈夫です。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持ち帰り資料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10／10　16:07〜16:10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2472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帰社後に再現・共有するための資料を、Copilotにつくってもらいます。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45720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「＋」で新しいチャットを開き、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23360" y="24231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3088" y="24231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/10-handover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3550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を実行します。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3017520"/>
            <a:ext cx="5559552" cy="2514600"/>
          </a:xfrm>
          <a:prstGeom prst="roundRect">
            <a:avLst>
              <a:gd name="adj" fmla="val 290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315468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自社環境で再構築する手順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005840" y="370332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5568" y="37033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docs/10-handover-guide.md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51560" y="4425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35608" y="438912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ローカルでの実行方法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51560" y="4828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435608" y="4791456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自社Azureでの構築方法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172200" y="3017520"/>
            <a:ext cx="5559552" cy="2514600"/>
          </a:xfrm>
          <a:prstGeom prst="roundRect">
            <a:avLst>
              <a:gd name="adj" fmla="val 2909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172200" y="315468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社内説明用の1ページ概要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6720840" y="370332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30568" y="37033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docs/11-demo-summary.md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766560" y="4425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150608" y="438912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課題と作成したアプリ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766560" y="4828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150608" y="4791456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AIが選んだ構成とその理由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ファイルの削除とサインアウトは、成果共有が終わってから全員で行います。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できあがったもの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アプリだけでなく、課題からアプリへ変える工程全体が成果物です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783080"/>
            <a:ext cx="804672" cy="80467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96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1783080"/>
            <a:ext cx="804672" cy="80467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880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要件・画面・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データ・構成選択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82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32704" y="1783080"/>
            <a:ext cx="804672" cy="80467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66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Pythonコード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68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18704" y="1783080"/>
            <a:ext cx="804672" cy="80467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452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 → Azure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54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04704" y="1783080"/>
            <a:ext cx="804672" cy="804672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04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738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説明資料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成果物一式：Webアプリ ＋ 設計書 ＋ プロンプト ＋ Azure環境の設計図 ＋ 再現手順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成果共有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ピックアップされた方に、60秒で成果を共有していただきます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834640" cy="2834640"/>
          </a:xfrm>
          <a:prstGeom prst="ellipse">
            <a:avLst/>
          </a:prstGeom>
          <a:solidFill>
            <a:srgbClr val="FBDDDC"/>
          </a:solidFill>
          <a:ln w="63500">
            <a:solidFill>
              <a:srgbClr val="C219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06240" y="15727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554480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選んだ業務課題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06240" y="213969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121408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作ったWebアプリ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240" y="270662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688336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AIが選んだAzure構成とその理由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06240" y="327355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3255264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どこまで動いたか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06240" y="38404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82219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帰社後に試したいこと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4800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5120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「○○という課題を選び、○○できるアプリを作りました。複数人で更新するのでAIはCosmos DBを選びました。」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5559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全員発表ではありません。講師が数名をピックアップします。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持ち帰る前の確認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成果共有が終わったら、認証情報を削除してサインアウトします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成果物の最終チェック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0939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205740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 00〜10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642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260604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設計書（docs/）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191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315468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Webアプリ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7398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70332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Azure環境の設計図（Terraform）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2885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" y="425196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持ち帰りガイド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4837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37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" y="480060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社内説明用の概要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45352" y="14173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サインアウトの4ステップ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2140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ターミナルで下のコマンドを実行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92240" y="276148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27432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CodeでGitHubからサインアウト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92240" y="340156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33832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ターミナルで az logout を実行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92240" y="404164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40233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ブラウザーでGitHub / Azureからサインアウト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92240" y="475488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の入力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.\scripts\prepare-handover.cmd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576072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必ず成果共有が終わってから実行してください。作成したフォルダーは、このPCにそのまま残ります。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付録1｜いまどこ？早見表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全STEPを1枚で確認できます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44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120640"/>
                <a:gridCol w="4434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いま何をしている？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何ができる？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環境確認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開発を始められる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課題を1つに絞る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業務課題が整理される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必要な機能を決める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画面と流れを決める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画面設計書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04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保存する情報を決める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データ設計書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AIがAzure構成を選ぶ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構成設計書（パターンA／B）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Azure環境をつくる（標準）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Terraform・Azureのリソース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07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プログラムをつくる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Python Webアプリ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9A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9A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自分のPCで動かす（必須ゴール）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アプリが動く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09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Azureで動かす（標準ゴール）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Azure上で動く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再現資料をつくる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持ち帰り一式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付録2｜困ったとき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困ったときは、まずこれを試してください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「/」でプロンプトが出ない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554480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3716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.github が一番上に見えるフォルダーを開いているか確認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76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ファイルが作られない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359152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7627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チャットのモードが「Agent」になっているか確認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980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同じエラーを繰り返す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3163824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98094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停止して、エラー画面を残したままスタッフを呼ぶ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7856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がエラーで止まった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06240" y="3968496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8561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エラー画面を残したまま、Azure担当のスタッフを呼ぶ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590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進行に遅れた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06240" y="4773168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5902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近くの方と一緒に進める（共同実施OK）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53212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一人で止まらず、手を挙げてスタッフを呼んでください。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付録2-2｜環境準備で困ったとき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よくある3つの環境トラブルを切り分けます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が認識されない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97764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CLI が未導入、またはインストール後に VS Code を開き直していない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1828800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3716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「休憩中にやること③」の手順で導入し、VS Codeをすべて閉じて開き直す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4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やターミナルが使えない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7764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フォルダーを開いたときに「信頼しない」を選び、制限モードになっている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800" y="3200400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7432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画面上部の「制限モード」を押して「信頼する」を選ぶ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1148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 login 後に自分のRGが見えない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977640" y="41148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別のアカウント、または別のサブスクリプションが選ばれている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43800" y="4572000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114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 account show で確認し、スタッフを呼ぶ。自分でRGを作らない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解決しない場合は、エラー画面を残したままスタッフを呼んでください。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付録3｜Copilotの実行確認が出たとき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Copilotの確認画面では、コマンドの種類を見て判断します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E8F5ED"/>
          </a:solidFill>
          <a:ln w="12700">
            <a:solidFill>
              <a:srgbClr val="1D9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「許可」してよい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Pythonのテスト（pytest）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0632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fmt / init / validate / plan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785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490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Azureアカウント・Blob・ログの確認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3E8"/>
          </a:solidFill>
          <a:ln w="12700">
            <a:solidFill>
              <a:srgbClr val="D96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「拒否」してスタッフを呼ぶ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8368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6772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Copilotが terraform apply / destroy を実行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0" y="30998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30632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requirements.txt にないパッケージの追加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0" y="3785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7728" y="37490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権限の変更・ファイルの一括削除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terraform apply は、STEP06で受講者自身が新しいターミナルに入力します（Copilotには実行させません）。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付録4｜今回の体験と本番利用の違い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今回の体験は、本番化の前段階です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今回の体験会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仮想ログイン（デモ機能）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01752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保存先は Blob か Cosmos DB の2択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694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65760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主要データ1種類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334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29768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最大3機能・最大3画面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EAFE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本番化するとき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8368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Entra ID などの認証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583680" y="3054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7728" y="301752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権限の最小化・閉域ネットワーク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83680" y="3694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67728" y="365760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バックアップ・監視とログ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583680" y="4334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67728" y="429768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AIが提案した理想構成の検討（docs/05）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今日つくるのは「本番システム」ではなく、課題をアプリに変える流れを体験するためのものです。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付録5｜帰社後にもう一度つくる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持ち帰ったフォルダーで、別の業務課題にも同じ流れを使えます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1783080"/>
            <a:ext cx="749808" cy="749808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0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自分のCopilotを準備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96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4136" y="1783080"/>
            <a:ext cx="749808" cy="749808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16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setup-local.cmd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を実行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16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環境の再作成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82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0136" y="1783080"/>
            <a:ext cx="749808" cy="7498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02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01-input.md を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02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新しい課題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68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46136" y="1783080"/>
            <a:ext cx="749808" cy="7498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6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88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/01 から順に実行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88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同じプロセス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54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32136" y="1783080"/>
            <a:ext cx="749808" cy="749808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32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674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Azureへ構築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74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管理者準備 → Terraform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6636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プロンプトの再実行には GitHub Copilot の契約が、Azureへの構築には Azure サブスクリプションと、管理者による権限の準備が必要です。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GitHub Copilotで業務課題をPython Webアプリにしてみよう</dc:title>
  <dc:subject>PptxGenJS Presentation</dc:subject>
  <dc:creator>朝山 悟</dc:creator>
  <lastModifiedBy>朝山 悟</lastModifiedBy>
  <revision>1</revision>
  <dcterms:created xsi:type="dcterms:W3CDTF">2026-10-27T08:07:38.3318929Z</dcterms:created>
  <dcterms:modified xsi:type="dcterms:W3CDTF">2026-10-27T08:07:38.3318929Z</dcterms:modified>
</coreProperties>
</file>