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6" d="100"/>
          <a:sy n="116" d="100"/>
        </p:scale>
        <p:origin x="82" y="3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574478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457200" y="6510528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8F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GitHub Copilot × Python Webアプリ開発ハンズオン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GitHub Copilotで、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C219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業務課題をPython Webアプリにしてみよう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658368" y="20116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課題整理から、設計、実装、Azureでの実行まで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731520" y="2880360"/>
            <a:ext cx="2377440" cy="603504"/>
          </a:xfrm>
          <a:prstGeom prst="rect">
            <a:avLst/>
          </a:prstGeom>
          <a:solidFill>
            <a:srgbClr val="FFF4C2"/>
          </a:solidFill>
          <a:ln w="12700">
            <a:solidFill>
              <a:srgbClr val="EADB8C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731520" y="2880360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A4A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手作業が多い…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960120" y="3657600"/>
            <a:ext cx="2377440" cy="603504"/>
          </a:xfrm>
          <a:prstGeom prst="rect">
            <a:avLst/>
          </a:prstGeom>
          <a:solidFill>
            <a:srgbClr val="FFF4C2"/>
          </a:solidFill>
          <a:ln w="12700">
            <a:solidFill>
              <a:srgbClr val="EADB8C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/>
          <p:nvPr/>
        </p:nvSpPr>
        <p:spPr>
          <a:xfrm>
            <a:off x="960120" y="3657600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A4A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情報がバラバラ…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31520" y="4434840"/>
            <a:ext cx="2377440" cy="603504"/>
          </a:xfrm>
          <a:prstGeom prst="rect">
            <a:avLst/>
          </a:prstGeom>
          <a:solidFill>
            <a:srgbClr val="FFF4C2"/>
          </a:solidFill>
          <a:ln w="12700">
            <a:solidFill>
              <a:srgbClr val="EADB8C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731520" y="4434840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A4A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集計が大変…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52578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あなたの業務課題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11880" y="3703320"/>
            <a:ext cx="822960" cy="457200"/>
          </a:xfrm>
          <a:prstGeom prst="rightArrow">
            <a:avLst/>
          </a:prstGeom>
          <a:solidFill>
            <a:srgbClr val="C8CFD9"/>
          </a:solidFill>
          <a:ln w="12700">
            <a:solidFill>
              <a:srgbClr val="C8CFD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Shape 12"/>
          <p:cNvSpPr/>
          <p:nvPr/>
        </p:nvSpPr>
        <p:spPr>
          <a:xfrm>
            <a:off x="4663440" y="3154680"/>
            <a:ext cx="1554480" cy="1554480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Text 13"/>
          <p:cNvSpPr/>
          <p:nvPr/>
        </p:nvSpPr>
        <p:spPr>
          <a:xfrm>
            <a:off x="4663440" y="3154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GitHub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Copilot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343400" y="4846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設計・構成選択・実装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46520" y="3703320"/>
            <a:ext cx="822960" cy="457200"/>
          </a:xfrm>
          <a:prstGeom prst="rightArrow">
            <a:avLst/>
          </a:prstGeom>
          <a:solidFill>
            <a:srgbClr val="C8CFD9"/>
          </a:solidFill>
          <a:ln w="12700">
            <a:solidFill>
              <a:srgbClr val="C8CFD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Shape 16"/>
          <p:cNvSpPr/>
          <p:nvPr/>
        </p:nvSpPr>
        <p:spPr>
          <a:xfrm>
            <a:off x="7452360" y="2697480"/>
            <a:ext cx="425196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C9D1DC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/>
          <p:cNvSpPr/>
          <p:nvPr/>
        </p:nvSpPr>
        <p:spPr>
          <a:xfrm>
            <a:off x="7452360" y="2697480"/>
            <a:ext cx="4251960" cy="365760"/>
          </a:xfrm>
          <a:prstGeom prst="rect">
            <a:avLst/>
          </a:prstGeom>
          <a:solidFill>
            <a:srgbClr val="142B4A"/>
          </a:solidFill>
          <a:ln w="12700">
            <a:solidFill>
              <a:srgbClr val="142B4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Shape 18"/>
          <p:cNvSpPr/>
          <p:nvPr/>
        </p:nvSpPr>
        <p:spPr>
          <a:xfrm>
            <a:off x="7589520" y="2834640"/>
            <a:ext cx="91440" cy="91440"/>
          </a:xfrm>
          <a:prstGeom prst="ellipse">
            <a:avLst/>
          </a:prstGeom>
          <a:solidFill>
            <a:srgbClr val="F26B6B"/>
          </a:solidFill>
          <a:ln w="12700">
            <a:solidFill>
              <a:srgbClr val="F26B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9"/>
          <p:cNvSpPr/>
          <p:nvPr/>
        </p:nvSpPr>
        <p:spPr>
          <a:xfrm>
            <a:off x="7772400" y="2834640"/>
            <a:ext cx="91440" cy="91440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Shape 20"/>
          <p:cNvSpPr/>
          <p:nvPr/>
        </p:nvSpPr>
        <p:spPr>
          <a:xfrm>
            <a:off x="7955280" y="2834640"/>
            <a:ext cx="91440" cy="91440"/>
          </a:xfrm>
          <a:prstGeom prst="ellipse">
            <a:avLst/>
          </a:prstGeom>
          <a:solidFill>
            <a:srgbClr val="5AC18E"/>
          </a:solidFill>
          <a:ln w="12700">
            <a:solidFill>
              <a:srgbClr val="5AC18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Text 21"/>
          <p:cNvSpPr/>
          <p:nvPr/>
        </p:nvSpPr>
        <p:spPr>
          <a:xfrm>
            <a:off x="8183880" y="26974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業務管理アプリ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562088" y="3172968"/>
            <a:ext cx="935431" cy="2011680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Text 23"/>
          <p:cNvSpPr/>
          <p:nvPr/>
        </p:nvSpPr>
        <p:spPr>
          <a:xfrm>
            <a:off x="7680960" y="3337560"/>
            <a:ext cx="7525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ホーム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680960" y="3721608"/>
            <a:ext cx="7525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一覧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680960" y="4105656"/>
            <a:ext cx="7525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新規登録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662111" y="3200400"/>
            <a:ext cx="28593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案件一覧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8662111" y="3630168"/>
            <a:ext cx="2859329" cy="32232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Text 28"/>
          <p:cNvSpPr/>
          <p:nvPr/>
        </p:nvSpPr>
        <p:spPr>
          <a:xfrm>
            <a:off x="8771839" y="3630168"/>
            <a:ext cx="1715597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業務改善ツール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0652760" y="3672459"/>
            <a:ext cx="749808" cy="237744"/>
          </a:xfrm>
          <a:prstGeom prst="roundRect">
            <a:avLst>
              <a:gd name="adj" fmla="val 57692"/>
            </a:avLst>
          </a:prstGeom>
          <a:solidFill>
            <a:srgbClr val="E8F5ED"/>
          </a:solidFill>
          <a:ln w="12700">
            <a:solidFill>
              <a:srgbClr val="E8F5E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Text 30"/>
          <p:cNvSpPr/>
          <p:nvPr/>
        </p:nvSpPr>
        <p:spPr>
          <a:xfrm>
            <a:off x="10652760" y="3672459"/>
            <a:ext cx="749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進行中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8662111" y="4007358"/>
            <a:ext cx="2859329" cy="322326"/>
          </a:xfrm>
          <a:prstGeom prst="rect">
            <a:avLst/>
          </a:prstGeom>
          <a:solidFill>
            <a:srgbClr val="F7F8FA"/>
          </a:solidFill>
          <a:ln w="12700">
            <a:solidFill>
              <a:srgbClr val="DDE2E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4" name="Text 32"/>
          <p:cNvSpPr/>
          <p:nvPr/>
        </p:nvSpPr>
        <p:spPr>
          <a:xfrm>
            <a:off x="8771839" y="4007358"/>
            <a:ext cx="1715597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申請フォーム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10652760" y="4049649"/>
            <a:ext cx="749808" cy="237744"/>
          </a:xfrm>
          <a:prstGeom prst="roundRect">
            <a:avLst>
              <a:gd name="adj" fmla="val 57692"/>
            </a:avLst>
          </a:prstGeom>
          <a:solidFill>
            <a:srgbClr val="FBDDDC"/>
          </a:solidFill>
          <a:ln w="12700">
            <a:solidFill>
              <a:srgbClr val="FBDDD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Text 34"/>
          <p:cNvSpPr/>
          <p:nvPr/>
        </p:nvSpPr>
        <p:spPr>
          <a:xfrm>
            <a:off x="10652760" y="4049649"/>
            <a:ext cx="749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219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未着手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662111" y="4384548"/>
            <a:ext cx="2859329" cy="32232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8" name="Text 36"/>
          <p:cNvSpPr/>
          <p:nvPr/>
        </p:nvSpPr>
        <p:spPr>
          <a:xfrm>
            <a:off x="8771839" y="4384548"/>
            <a:ext cx="1715597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データ集計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0652760" y="4426839"/>
            <a:ext cx="749808" cy="237744"/>
          </a:xfrm>
          <a:prstGeom prst="roundRect">
            <a:avLst>
              <a:gd name="adj" fmla="val 57692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0" name="Text 38"/>
          <p:cNvSpPr/>
          <p:nvPr/>
        </p:nvSpPr>
        <p:spPr>
          <a:xfrm>
            <a:off x="10652760" y="4426839"/>
            <a:ext cx="749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176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完了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8662111" y="4761738"/>
            <a:ext cx="2859329" cy="322326"/>
          </a:xfrm>
          <a:prstGeom prst="rect">
            <a:avLst/>
          </a:prstGeom>
          <a:solidFill>
            <a:srgbClr val="F7F8FA"/>
          </a:solidFill>
          <a:ln w="12700">
            <a:solidFill>
              <a:srgbClr val="DDE2E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2" name="Text 40"/>
          <p:cNvSpPr/>
          <p:nvPr/>
        </p:nvSpPr>
        <p:spPr>
          <a:xfrm>
            <a:off x="8771839" y="4761738"/>
            <a:ext cx="1715597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FAQ整備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10652760" y="4804029"/>
            <a:ext cx="749808" cy="237744"/>
          </a:xfrm>
          <a:prstGeom prst="roundRect">
            <a:avLst>
              <a:gd name="adj" fmla="val 57692"/>
            </a:avLst>
          </a:prstGeom>
          <a:solidFill>
            <a:srgbClr val="E8F5ED"/>
          </a:solidFill>
          <a:ln w="12700">
            <a:solidFill>
              <a:srgbClr val="E8F5E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4" name="Text 42"/>
          <p:cNvSpPr/>
          <p:nvPr/>
        </p:nvSpPr>
        <p:spPr>
          <a:xfrm>
            <a:off x="10652760" y="4804029"/>
            <a:ext cx="749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進行中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452360" y="5394960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Azureで動くWebアプリ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685800" y="5943600"/>
            <a:ext cx="1645920" cy="384048"/>
          </a:xfrm>
          <a:prstGeom prst="roundRect">
            <a:avLst>
              <a:gd name="adj" fmla="val 35714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7" name="Text 45"/>
          <p:cNvSpPr/>
          <p:nvPr/>
        </p:nvSpPr>
        <p:spPr>
          <a:xfrm>
            <a:off x="685800" y="594360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176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個人で開発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468880" y="5943600"/>
            <a:ext cx="2560320" cy="384048"/>
          </a:xfrm>
          <a:prstGeom prst="roundRect">
            <a:avLst>
              <a:gd name="adj" fmla="val 35714"/>
            </a:avLst>
          </a:prstGeom>
          <a:solidFill>
            <a:srgbClr val="E8F5ED"/>
          </a:solidFill>
          <a:ln w="12700">
            <a:solidFill>
              <a:srgbClr val="E8F5E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9" name="Text 47"/>
          <p:cNvSpPr/>
          <p:nvPr/>
        </p:nvSpPr>
        <p:spPr>
          <a:xfrm>
            <a:off x="2468880" y="59436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困った場合は共同実施OK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5166360" y="5943600"/>
            <a:ext cx="1645920" cy="384048"/>
          </a:xfrm>
          <a:prstGeom prst="roundRect">
            <a:avLst>
              <a:gd name="adj" fmla="val 35714"/>
            </a:avLst>
          </a:prstGeom>
          <a:solidFill>
            <a:srgbClr val="F2EAFE"/>
          </a:solidFill>
          <a:ln w="12700">
            <a:solidFill>
              <a:srgbClr val="F2EAF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1" name="Text 49"/>
          <p:cNvSpPr/>
          <p:nvPr/>
        </p:nvSpPr>
        <p:spPr>
          <a:xfrm>
            <a:off x="5166360" y="594360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A3F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初心者歓迎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7040880" y="598932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Microsoft AI Co-Innovation Lab Kobe × Microsoft Base Ritsumeikan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219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今日つくるもの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自分の業務課題を、Azureで動くWebアプリにします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429000" y="1417320"/>
            <a:ext cx="5349240" cy="393192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C9D1DC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3429000" y="1417320"/>
            <a:ext cx="5349240" cy="365760"/>
          </a:xfrm>
          <a:prstGeom prst="rect">
            <a:avLst/>
          </a:prstGeom>
          <a:solidFill>
            <a:srgbClr val="142B4A"/>
          </a:solidFill>
          <a:ln w="12700">
            <a:solidFill>
              <a:srgbClr val="142B4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3566160" y="1554480"/>
            <a:ext cx="91440" cy="91440"/>
          </a:xfrm>
          <a:prstGeom prst="ellipse">
            <a:avLst/>
          </a:prstGeom>
          <a:solidFill>
            <a:srgbClr val="F26B6B"/>
          </a:solidFill>
          <a:ln w="12700">
            <a:solidFill>
              <a:srgbClr val="F26B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3749040" y="1554480"/>
            <a:ext cx="91440" cy="91440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Shape 6"/>
          <p:cNvSpPr/>
          <p:nvPr/>
        </p:nvSpPr>
        <p:spPr>
          <a:xfrm>
            <a:off x="3931920" y="1554480"/>
            <a:ext cx="91440" cy="91440"/>
          </a:xfrm>
          <a:prstGeom prst="ellipse">
            <a:avLst/>
          </a:prstGeom>
          <a:solidFill>
            <a:srgbClr val="5AC18E"/>
          </a:solidFill>
          <a:ln w="12700">
            <a:solidFill>
              <a:srgbClr val="5AC18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/>
          <p:nvPr/>
        </p:nvSpPr>
        <p:spPr>
          <a:xfrm>
            <a:off x="4160520" y="1417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業務管理アプリ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538728" y="1892808"/>
            <a:ext cx="1176833" cy="3337560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3657600" y="2057400"/>
            <a:ext cx="9939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ホーム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0" y="2441448"/>
            <a:ext cx="9939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一覧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57600" y="2825496"/>
            <a:ext cx="9939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新規登録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80153" y="1920240"/>
            <a:ext cx="37152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案件一覧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880153" y="2350008"/>
            <a:ext cx="3715207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4989881" y="2350008"/>
            <a:ext cx="22291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業務改善ツール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726680" y="2414016"/>
            <a:ext cx="749808" cy="237744"/>
          </a:xfrm>
          <a:prstGeom prst="roundRect">
            <a:avLst>
              <a:gd name="adj" fmla="val 57692"/>
            </a:avLst>
          </a:prstGeom>
          <a:solidFill>
            <a:srgbClr val="E8F5ED"/>
          </a:solidFill>
          <a:ln w="12700">
            <a:solidFill>
              <a:srgbClr val="E8F5E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7726680" y="2414016"/>
            <a:ext cx="749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進行中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880153" y="2770632"/>
            <a:ext cx="3715207" cy="365760"/>
          </a:xfrm>
          <a:prstGeom prst="rect">
            <a:avLst/>
          </a:prstGeom>
          <a:solidFill>
            <a:srgbClr val="F7F8FA"/>
          </a:solidFill>
          <a:ln w="12700">
            <a:solidFill>
              <a:srgbClr val="DDE2E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/>
          <p:nvPr/>
        </p:nvSpPr>
        <p:spPr>
          <a:xfrm>
            <a:off x="4989881" y="2770632"/>
            <a:ext cx="22291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申請フォーム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726680" y="2834640"/>
            <a:ext cx="749808" cy="237744"/>
          </a:xfrm>
          <a:prstGeom prst="roundRect">
            <a:avLst>
              <a:gd name="adj" fmla="val 57692"/>
            </a:avLst>
          </a:prstGeom>
          <a:solidFill>
            <a:srgbClr val="FBDDDC"/>
          </a:solidFill>
          <a:ln w="12700">
            <a:solidFill>
              <a:srgbClr val="FBDDD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Text 20"/>
          <p:cNvSpPr/>
          <p:nvPr/>
        </p:nvSpPr>
        <p:spPr>
          <a:xfrm>
            <a:off x="7726680" y="2834640"/>
            <a:ext cx="749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219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未着手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880153" y="3191256"/>
            <a:ext cx="3715207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2"/>
          <p:cNvSpPr/>
          <p:nvPr/>
        </p:nvSpPr>
        <p:spPr>
          <a:xfrm>
            <a:off x="4989881" y="3191256"/>
            <a:ext cx="22291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データ集計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726680" y="3255264"/>
            <a:ext cx="749808" cy="237744"/>
          </a:xfrm>
          <a:prstGeom prst="roundRect">
            <a:avLst>
              <a:gd name="adj" fmla="val 57692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Text 24"/>
          <p:cNvSpPr/>
          <p:nvPr/>
        </p:nvSpPr>
        <p:spPr>
          <a:xfrm>
            <a:off x="7726680" y="3255264"/>
            <a:ext cx="749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176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完了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880153" y="3611880"/>
            <a:ext cx="3715207" cy="365760"/>
          </a:xfrm>
          <a:prstGeom prst="rect">
            <a:avLst/>
          </a:prstGeom>
          <a:solidFill>
            <a:srgbClr val="F7F8FA"/>
          </a:solidFill>
          <a:ln w="12700">
            <a:solidFill>
              <a:srgbClr val="DDE2E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Text 26"/>
          <p:cNvSpPr/>
          <p:nvPr/>
        </p:nvSpPr>
        <p:spPr>
          <a:xfrm>
            <a:off x="4989881" y="3611880"/>
            <a:ext cx="22291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FAQ整備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726680" y="3675888"/>
            <a:ext cx="749808" cy="237744"/>
          </a:xfrm>
          <a:prstGeom prst="roundRect">
            <a:avLst>
              <a:gd name="adj" fmla="val 57692"/>
            </a:avLst>
          </a:prstGeom>
          <a:solidFill>
            <a:srgbClr val="E8F5ED"/>
          </a:solidFill>
          <a:ln w="12700">
            <a:solidFill>
              <a:srgbClr val="E8F5E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Text 28"/>
          <p:cNvSpPr/>
          <p:nvPr/>
        </p:nvSpPr>
        <p:spPr>
          <a:xfrm>
            <a:off x="7726680" y="3675888"/>
            <a:ext cx="749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進行中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48640" y="173736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FBDDDC"/>
          </a:solidFill>
          <a:ln w="12700">
            <a:solidFill>
              <a:srgbClr val="FBDDDC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2" name="Text 30"/>
          <p:cNvSpPr/>
          <p:nvPr/>
        </p:nvSpPr>
        <p:spPr>
          <a:xfrm>
            <a:off x="548640" y="173736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C219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体験用ログイン</a:t>
            </a:r>
            <a:endParaRPr lang="en-US" sz="1900" dirty="0"/>
          </a:p>
        </p:txBody>
      </p:sp>
      <p:sp>
        <p:nvSpPr>
          <p:cNvPr id="33" name="Shape 31"/>
          <p:cNvSpPr/>
          <p:nvPr/>
        </p:nvSpPr>
        <p:spPr>
          <a:xfrm>
            <a:off x="548640" y="329184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4" name="Text 32"/>
          <p:cNvSpPr/>
          <p:nvPr/>
        </p:nvSpPr>
        <p:spPr>
          <a:xfrm>
            <a:off x="548640" y="329184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176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一覧表示</a:t>
            </a:r>
            <a:endParaRPr lang="en-US" sz="1900" dirty="0"/>
          </a:p>
        </p:txBody>
      </p:sp>
      <p:sp>
        <p:nvSpPr>
          <p:cNvPr id="35" name="Shape 33"/>
          <p:cNvSpPr/>
          <p:nvPr/>
        </p:nvSpPr>
        <p:spPr>
          <a:xfrm>
            <a:off x="9144000" y="173736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FBDDDC"/>
          </a:solidFill>
          <a:ln w="12700">
            <a:solidFill>
              <a:srgbClr val="FBDDDC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6" name="Text 34"/>
          <p:cNvSpPr/>
          <p:nvPr/>
        </p:nvSpPr>
        <p:spPr>
          <a:xfrm>
            <a:off x="9144000" y="173736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C219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登録・編集</a:t>
            </a:r>
            <a:endParaRPr lang="en-US" sz="1900" dirty="0"/>
          </a:p>
        </p:txBody>
      </p:sp>
      <p:sp>
        <p:nvSpPr>
          <p:cNvPr id="37" name="Shape 35"/>
          <p:cNvSpPr/>
          <p:nvPr/>
        </p:nvSpPr>
        <p:spPr>
          <a:xfrm>
            <a:off x="9144000" y="329184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E8F5ED"/>
          </a:solidFill>
          <a:ln w="12700">
            <a:solidFill>
              <a:srgbClr val="E8F5ED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8" name="Text 36"/>
          <p:cNvSpPr/>
          <p:nvPr/>
        </p:nvSpPr>
        <p:spPr>
          <a:xfrm>
            <a:off x="9144000" y="329184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データ保存</a:t>
            </a:r>
            <a:endParaRPr lang="en-US" sz="1900" dirty="0"/>
          </a:p>
        </p:txBody>
      </p:sp>
      <p:sp>
        <p:nvSpPr>
          <p:cNvPr id="39" name="Text 37"/>
          <p:cNvSpPr/>
          <p:nvPr/>
        </p:nvSpPr>
        <p:spPr>
          <a:xfrm>
            <a:off x="9144000" y="4279392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保存先はAIが選ぶ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（Blob Storage／Cosmos DB）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48640" y="562356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FFF3E8"/>
          </a:solidFill>
          <a:ln w="12700">
            <a:solidFill>
              <a:srgbClr val="F2C08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39"/>
          <p:cNvSpPr/>
          <p:nvPr/>
        </p:nvSpPr>
        <p:spPr>
          <a:xfrm>
            <a:off x="548640" y="56235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9660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注意：ログインは体験用のデモ機能です。本人確認やアクセス制御を行う認証機能ではありません。</a:t>
            </a:r>
            <a:endParaRPr lang="en-US" sz="1500" dirty="0"/>
          </a:p>
        </p:txBody>
      </p:sp>
      <p:sp>
        <p:nvSpPr>
          <p:cNvPr id="4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219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今日持ち帰れるもの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アプリだけでなく、もう一度つくる方法も持ち帰ります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520440" cy="1554480"/>
          </a:xfrm>
          <a:prstGeom prst="roundRect">
            <a:avLst>
              <a:gd name="adj" fmla="val 4706"/>
            </a:avLst>
          </a:prstGeom>
          <a:solidFill>
            <a:srgbClr val="FBDDDC"/>
          </a:solidFill>
          <a:ln w="12700">
            <a:solidFill>
              <a:srgbClr val="FBDDDC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822960" y="1901952"/>
            <a:ext cx="676656" cy="676656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822960" y="1901952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91640" y="181051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Webアプリ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691640" y="226771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Python / Flask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97680" y="1463040"/>
            <a:ext cx="3520440" cy="1554480"/>
          </a:xfrm>
          <a:prstGeom prst="roundRect">
            <a:avLst>
              <a:gd name="adj" fmla="val 4706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4572000" y="1901952"/>
            <a:ext cx="676656" cy="676656"/>
          </a:xfrm>
          <a:prstGeom prst="ellipse">
            <a:avLst/>
          </a:prstGeom>
          <a:solidFill>
            <a:srgbClr val="2176D2"/>
          </a:solidFill>
          <a:ln w="12700">
            <a:solidFill>
              <a:srgbClr val="2176D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4572000" y="1901952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40680" y="181051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設計書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5440680" y="226771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Markdown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6720" y="1463040"/>
            <a:ext cx="3520440" cy="1554480"/>
          </a:xfrm>
          <a:prstGeom prst="roundRect">
            <a:avLst>
              <a:gd name="adj" fmla="val 4706"/>
            </a:avLst>
          </a:prstGeom>
          <a:solidFill>
            <a:srgbClr val="F2EAFE"/>
          </a:solidFill>
          <a:ln w="12700">
            <a:solidFill>
              <a:srgbClr val="F2EAFE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13"/>
          <p:cNvSpPr/>
          <p:nvPr/>
        </p:nvSpPr>
        <p:spPr>
          <a:xfrm>
            <a:off x="8321040" y="1901952"/>
            <a:ext cx="676656" cy="676656"/>
          </a:xfrm>
          <a:prstGeom prst="ellipse">
            <a:avLst/>
          </a:prstGeom>
          <a:solidFill>
            <a:srgbClr val="7A3FB0"/>
          </a:solidFill>
          <a:ln w="12700">
            <a:solidFill>
              <a:srgbClr val="7A3FB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8321040" y="1901952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189720" y="181051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9189720" y="226771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00〜10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3337560"/>
            <a:ext cx="3520440" cy="1554480"/>
          </a:xfrm>
          <a:prstGeom prst="roundRect">
            <a:avLst>
              <a:gd name="adj" fmla="val 4706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0" name="Shape 18"/>
          <p:cNvSpPr/>
          <p:nvPr/>
        </p:nvSpPr>
        <p:spPr>
          <a:xfrm>
            <a:off x="822960" y="3776472"/>
            <a:ext cx="676656" cy="676656"/>
          </a:xfrm>
          <a:prstGeom prst="ellipse">
            <a:avLst/>
          </a:prstGeom>
          <a:solidFill>
            <a:srgbClr val="2176D2"/>
          </a:solidFill>
          <a:ln w="12700">
            <a:solidFill>
              <a:srgbClr val="2176D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9"/>
          <p:cNvSpPr/>
          <p:nvPr/>
        </p:nvSpPr>
        <p:spPr>
          <a:xfrm>
            <a:off x="822960" y="3776472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691640" y="36850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Azure環境の設計図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1691640" y="414223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Terraform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297680" y="3337560"/>
            <a:ext cx="3520440" cy="1554480"/>
          </a:xfrm>
          <a:prstGeom prst="roundRect">
            <a:avLst>
              <a:gd name="adj" fmla="val 4706"/>
            </a:avLst>
          </a:prstGeom>
          <a:solidFill>
            <a:srgbClr val="E8F5ED"/>
          </a:solidFill>
          <a:ln w="12700">
            <a:solidFill>
              <a:srgbClr val="E8F5ED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5" name="Shape 23"/>
          <p:cNvSpPr/>
          <p:nvPr/>
        </p:nvSpPr>
        <p:spPr>
          <a:xfrm>
            <a:off x="4572000" y="3776472"/>
            <a:ext cx="676656" cy="67665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Text 24"/>
          <p:cNvSpPr/>
          <p:nvPr/>
        </p:nvSpPr>
        <p:spPr>
          <a:xfrm>
            <a:off x="4572000" y="3776472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440680" y="36850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再現手順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5440680" y="414223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ローカル / Azure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046720" y="3337560"/>
            <a:ext cx="3520440" cy="1554480"/>
          </a:xfrm>
          <a:prstGeom prst="roundRect">
            <a:avLst>
              <a:gd name="adj" fmla="val 4706"/>
            </a:avLst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28"/>
          <p:cNvSpPr/>
          <p:nvPr/>
        </p:nvSpPr>
        <p:spPr>
          <a:xfrm>
            <a:off x="8321040" y="3776472"/>
            <a:ext cx="676656" cy="676656"/>
          </a:xfrm>
          <a:prstGeom prst="ellipse">
            <a:avLst/>
          </a:prstGeom>
          <a:solidFill>
            <a:srgbClr val="D9660B"/>
          </a:solidFill>
          <a:ln w="12700">
            <a:solidFill>
              <a:srgbClr val="D9660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29"/>
          <p:cNvSpPr/>
          <p:nvPr/>
        </p:nvSpPr>
        <p:spPr>
          <a:xfrm>
            <a:off x="8321040" y="3776472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9189720" y="36850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社内説明資料</a:t>
            </a:r>
            <a:endParaRPr lang="en-US" sz="1900" dirty="0"/>
          </a:p>
        </p:txBody>
      </p:sp>
      <p:sp>
        <p:nvSpPr>
          <p:cNvPr id="33" name="Text 31"/>
          <p:cNvSpPr/>
          <p:nvPr/>
        </p:nvSpPr>
        <p:spPr>
          <a:xfrm>
            <a:off x="9189720" y="414223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1ページ概要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48640" y="5486400"/>
            <a:ext cx="11109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219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「できたアプリ」と「もう一度つくる方法」をセットで持ち帰ります</a:t>
            </a:r>
            <a:endParaRPr lang="en-US" sz="200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219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全体ロードマップ（90分）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必須はSTEP08でPC上、標準はSTEP09でAzure上で動かすこと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783080" cy="219456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1783080" cy="457200"/>
          </a:xfrm>
          <a:prstGeom prst="rect">
            <a:avLst/>
          </a:prstGeom>
          <a:solidFill>
            <a:srgbClr val="142B4A"/>
          </a:solidFill>
          <a:ln w="12700">
            <a:solidFill>
              <a:srgbClr val="142B4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考える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89432" y="2103120"/>
            <a:ext cx="530352" cy="530352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/>
          <p:nvPr/>
        </p:nvSpPr>
        <p:spPr>
          <a:xfrm>
            <a:off x="789432" y="210312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00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560576" y="2103120"/>
            <a:ext cx="530352" cy="530352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1560576" y="210312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21792" y="2743200"/>
            <a:ext cx="16367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環境確認・課題整理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350008" y="2212848"/>
            <a:ext cx="192024" cy="310896"/>
          </a:xfrm>
          <a:prstGeom prst="rightArrow">
            <a:avLst/>
          </a:prstGeom>
          <a:solidFill>
            <a:srgbClr val="C8CFD9"/>
          </a:solidFill>
          <a:ln w="12700">
            <a:solidFill>
              <a:srgbClr val="C8CFD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2560320" y="1417320"/>
            <a:ext cx="301752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4" name="Shape 12"/>
          <p:cNvSpPr/>
          <p:nvPr/>
        </p:nvSpPr>
        <p:spPr>
          <a:xfrm>
            <a:off x="2560320" y="1417320"/>
            <a:ext cx="3017520" cy="457200"/>
          </a:xfrm>
          <a:prstGeom prst="rect">
            <a:avLst/>
          </a:prstGeom>
          <a:solidFill>
            <a:srgbClr val="142B4A"/>
          </a:solidFill>
          <a:ln w="12700">
            <a:solidFill>
              <a:srgbClr val="142B4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Text 13"/>
          <p:cNvSpPr/>
          <p:nvPr/>
        </p:nvSpPr>
        <p:spPr>
          <a:xfrm>
            <a:off x="2560320" y="1417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設計する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2739542" y="2103120"/>
            <a:ext cx="530352" cy="530352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/>
          <p:nvPr/>
        </p:nvSpPr>
        <p:spPr>
          <a:xfrm>
            <a:off x="2739542" y="210312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449117" y="2103120"/>
            <a:ext cx="530352" cy="530352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Text 17"/>
          <p:cNvSpPr/>
          <p:nvPr/>
        </p:nvSpPr>
        <p:spPr>
          <a:xfrm>
            <a:off x="3449117" y="210312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158691" y="2103120"/>
            <a:ext cx="530352" cy="530352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9"/>
          <p:cNvSpPr/>
          <p:nvPr/>
        </p:nvSpPr>
        <p:spPr>
          <a:xfrm>
            <a:off x="4158691" y="210312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04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868266" y="2103120"/>
            <a:ext cx="530352" cy="530352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Text 21"/>
          <p:cNvSpPr/>
          <p:nvPr/>
        </p:nvSpPr>
        <p:spPr>
          <a:xfrm>
            <a:off x="4868266" y="210312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2633472" y="2743200"/>
            <a:ext cx="28712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要件・画面・データ・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Azure構成の選択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596128" y="2212848"/>
            <a:ext cx="192024" cy="310896"/>
          </a:xfrm>
          <a:prstGeom prst="rightArrow">
            <a:avLst/>
          </a:prstGeom>
          <a:solidFill>
            <a:srgbClr val="C8CFD9"/>
          </a:solidFill>
          <a:ln w="12700">
            <a:solidFill>
              <a:srgbClr val="C8CFD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24"/>
          <p:cNvSpPr/>
          <p:nvPr/>
        </p:nvSpPr>
        <p:spPr>
          <a:xfrm>
            <a:off x="5806440" y="1417320"/>
            <a:ext cx="2103120" cy="21945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25"/>
          <p:cNvSpPr/>
          <p:nvPr/>
        </p:nvSpPr>
        <p:spPr>
          <a:xfrm>
            <a:off x="5806440" y="1417320"/>
            <a:ext cx="2103120" cy="457200"/>
          </a:xfrm>
          <a:prstGeom prst="rect">
            <a:avLst/>
          </a:prstGeom>
          <a:solidFill>
            <a:srgbClr val="142B4A"/>
          </a:solidFill>
          <a:ln w="12700">
            <a:solidFill>
              <a:srgbClr val="142B4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Text 26"/>
          <p:cNvSpPr/>
          <p:nvPr/>
        </p:nvSpPr>
        <p:spPr>
          <a:xfrm>
            <a:off x="5806440" y="1417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つくる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6153912" y="2103120"/>
            <a:ext cx="530352" cy="530352"/>
          </a:xfrm>
          <a:prstGeom prst="ellipse">
            <a:avLst/>
          </a:prstGeom>
          <a:solidFill>
            <a:srgbClr val="2176D2"/>
          </a:solidFill>
          <a:ln w="12700">
            <a:solidFill>
              <a:srgbClr val="2176D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Text 28"/>
          <p:cNvSpPr/>
          <p:nvPr/>
        </p:nvSpPr>
        <p:spPr>
          <a:xfrm>
            <a:off x="6153912" y="210312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06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7031736" y="2103120"/>
            <a:ext cx="530352" cy="530352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Text 30"/>
          <p:cNvSpPr/>
          <p:nvPr/>
        </p:nvSpPr>
        <p:spPr>
          <a:xfrm>
            <a:off x="7031736" y="210312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07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79592" y="2743200"/>
            <a:ext cx="19568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Azure構築・プログラム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7927848" y="2212848"/>
            <a:ext cx="192024" cy="310896"/>
          </a:xfrm>
          <a:prstGeom prst="rightArrow">
            <a:avLst/>
          </a:prstGeom>
          <a:solidFill>
            <a:srgbClr val="C8CFD9"/>
          </a:solidFill>
          <a:ln w="12700">
            <a:solidFill>
              <a:srgbClr val="C8CFD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5" name="Shape 33"/>
          <p:cNvSpPr/>
          <p:nvPr/>
        </p:nvSpPr>
        <p:spPr>
          <a:xfrm>
            <a:off x="8138160" y="1417320"/>
            <a:ext cx="2103120" cy="21945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6" name="Shape 34"/>
          <p:cNvSpPr/>
          <p:nvPr/>
        </p:nvSpPr>
        <p:spPr>
          <a:xfrm>
            <a:off x="8138160" y="1417320"/>
            <a:ext cx="2103120" cy="457200"/>
          </a:xfrm>
          <a:prstGeom prst="rect">
            <a:avLst/>
          </a:prstGeom>
          <a:solidFill>
            <a:srgbClr val="142B4A"/>
          </a:solidFill>
          <a:ln w="12700">
            <a:solidFill>
              <a:srgbClr val="142B4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Text 35"/>
          <p:cNvSpPr/>
          <p:nvPr/>
        </p:nvSpPr>
        <p:spPr>
          <a:xfrm>
            <a:off x="8138160" y="1417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動かす</a:t>
            </a:r>
            <a:endParaRPr lang="en-US" sz="1700" dirty="0"/>
          </a:p>
        </p:txBody>
      </p:sp>
      <p:sp>
        <p:nvSpPr>
          <p:cNvPr id="38" name="Shape 36"/>
          <p:cNvSpPr/>
          <p:nvPr/>
        </p:nvSpPr>
        <p:spPr>
          <a:xfrm>
            <a:off x="8485632" y="2103120"/>
            <a:ext cx="530352" cy="530352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9" name="Text 37"/>
          <p:cNvSpPr/>
          <p:nvPr/>
        </p:nvSpPr>
        <p:spPr>
          <a:xfrm>
            <a:off x="8485632" y="210312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08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9363456" y="2103120"/>
            <a:ext cx="530352" cy="530352"/>
          </a:xfrm>
          <a:prstGeom prst="ellipse">
            <a:avLst/>
          </a:prstGeom>
          <a:solidFill>
            <a:srgbClr val="2176D2"/>
          </a:solidFill>
          <a:ln w="12700">
            <a:solidFill>
              <a:srgbClr val="2176D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39"/>
          <p:cNvSpPr/>
          <p:nvPr/>
        </p:nvSpPr>
        <p:spPr>
          <a:xfrm>
            <a:off x="9363456" y="210312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09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8211312" y="2743200"/>
            <a:ext cx="19568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自分のPC → Azure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10259568" y="2212848"/>
            <a:ext cx="192024" cy="310896"/>
          </a:xfrm>
          <a:prstGeom prst="rightArrow">
            <a:avLst/>
          </a:prstGeom>
          <a:solidFill>
            <a:srgbClr val="C8CFD9"/>
          </a:solidFill>
          <a:ln w="12700">
            <a:solidFill>
              <a:srgbClr val="C8CFD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4" name="Shape 42"/>
          <p:cNvSpPr/>
          <p:nvPr/>
        </p:nvSpPr>
        <p:spPr>
          <a:xfrm>
            <a:off x="10469880" y="1417320"/>
            <a:ext cx="1600200" cy="219456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5" name="Shape 43"/>
          <p:cNvSpPr/>
          <p:nvPr/>
        </p:nvSpPr>
        <p:spPr>
          <a:xfrm>
            <a:off x="10469880" y="1417320"/>
            <a:ext cx="1600200" cy="457200"/>
          </a:xfrm>
          <a:prstGeom prst="rect">
            <a:avLst/>
          </a:prstGeom>
          <a:solidFill>
            <a:srgbClr val="142B4A"/>
          </a:solidFill>
          <a:ln w="12700">
            <a:solidFill>
              <a:srgbClr val="142B4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Text 44"/>
          <p:cNvSpPr/>
          <p:nvPr/>
        </p:nvSpPr>
        <p:spPr>
          <a:xfrm>
            <a:off x="10469880" y="141732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持ち帰る</a:t>
            </a:r>
            <a:endParaRPr lang="en-US" sz="1700" dirty="0"/>
          </a:p>
        </p:txBody>
      </p:sp>
      <p:sp>
        <p:nvSpPr>
          <p:cNvPr id="47" name="Shape 45"/>
          <p:cNvSpPr/>
          <p:nvPr/>
        </p:nvSpPr>
        <p:spPr>
          <a:xfrm>
            <a:off x="11004804" y="2103120"/>
            <a:ext cx="530352" cy="530352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8" name="Text 46"/>
          <p:cNvSpPr/>
          <p:nvPr/>
        </p:nvSpPr>
        <p:spPr>
          <a:xfrm>
            <a:off x="11004804" y="210312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10543032" y="2743200"/>
            <a:ext cx="1453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再現手順・説明資料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548640" y="3886200"/>
            <a:ext cx="5440680" cy="1325880"/>
          </a:xfrm>
          <a:prstGeom prst="roundRect">
            <a:avLst>
              <a:gd name="adj" fmla="val 5517"/>
            </a:avLst>
          </a:prstGeom>
          <a:solidFill>
            <a:srgbClr val="E8F5ED"/>
          </a:solidFill>
          <a:ln w="12700">
            <a:solidFill>
              <a:srgbClr val="E8F5E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1" name="Shape 49"/>
          <p:cNvSpPr/>
          <p:nvPr/>
        </p:nvSpPr>
        <p:spPr>
          <a:xfrm>
            <a:off x="777240" y="4114800"/>
            <a:ext cx="384048" cy="384048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2" name="Text 50"/>
          <p:cNvSpPr/>
          <p:nvPr/>
        </p:nvSpPr>
        <p:spPr>
          <a:xfrm>
            <a:off x="777240" y="4114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08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1280160" y="4069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必須ゴール（全員）</a:t>
            </a:r>
            <a:endParaRPr lang="en-US" sz="1700" dirty="0"/>
          </a:p>
        </p:txBody>
      </p:sp>
      <p:sp>
        <p:nvSpPr>
          <p:cNvPr id="54" name="Text 52"/>
          <p:cNvSpPr/>
          <p:nvPr/>
        </p:nvSpPr>
        <p:spPr>
          <a:xfrm>
            <a:off x="1280160" y="44805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自分のPCでアプリが動く</a:t>
            </a:r>
            <a:endParaRPr lang="en-US" sz="1500" dirty="0"/>
          </a:p>
        </p:txBody>
      </p:sp>
      <p:sp>
        <p:nvSpPr>
          <p:cNvPr id="55" name="Shape 53"/>
          <p:cNvSpPr/>
          <p:nvPr/>
        </p:nvSpPr>
        <p:spPr>
          <a:xfrm>
            <a:off x="6217920" y="3886200"/>
            <a:ext cx="5440680" cy="1325880"/>
          </a:xfrm>
          <a:prstGeom prst="roundRect">
            <a:avLst>
              <a:gd name="adj" fmla="val 551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6" name="Shape 54"/>
          <p:cNvSpPr/>
          <p:nvPr/>
        </p:nvSpPr>
        <p:spPr>
          <a:xfrm>
            <a:off x="6446520" y="4114800"/>
            <a:ext cx="384048" cy="384048"/>
          </a:xfrm>
          <a:prstGeom prst="ellipse">
            <a:avLst/>
          </a:prstGeom>
          <a:solidFill>
            <a:srgbClr val="2176D2"/>
          </a:solidFill>
          <a:ln w="12700">
            <a:solidFill>
              <a:srgbClr val="2176D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7" name="Text 55"/>
          <p:cNvSpPr/>
          <p:nvPr/>
        </p:nvSpPr>
        <p:spPr>
          <a:xfrm>
            <a:off x="6446520" y="4114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09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6949440" y="4069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176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標準ゴール（全員で挑戦）</a:t>
            </a:r>
            <a:endParaRPr lang="en-US" sz="1700" dirty="0"/>
          </a:p>
        </p:txBody>
      </p:sp>
      <p:sp>
        <p:nvSpPr>
          <p:cNvPr id="59" name="Text 57"/>
          <p:cNvSpPr/>
          <p:nvPr/>
        </p:nvSpPr>
        <p:spPr>
          <a:xfrm>
            <a:off x="6949440" y="44348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AIが選んだ構成をAzureに作り（06）、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Azure上でアプリが動く（09）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548640" y="5440680"/>
            <a:ext cx="11109960" cy="685800"/>
          </a:xfrm>
          <a:prstGeom prst="roundRect">
            <a:avLst>
              <a:gd name="adj" fmla="val 10667"/>
            </a:avLst>
          </a:prstGeom>
          <a:solidFill>
            <a:srgbClr val="FBDDDC"/>
          </a:solidFill>
          <a:ln w="12700">
            <a:solidFill>
              <a:srgbClr val="FBDDD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1" name="Text 59"/>
          <p:cNvSpPr/>
          <p:nvPr/>
        </p:nvSpPr>
        <p:spPr>
          <a:xfrm>
            <a:off x="548640" y="5440680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C219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遅れても大丈夫です。途中から再開できる完成版をスタッフが用意しています。</a:t>
            </a:r>
            <a:endParaRPr lang="en-US" sz="1700" dirty="0"/>
          </a:p>
        </p:txBody>
      </p:sp>
      <p:sp>
        <p:nvSpPr>
          <p:cNvPr id="6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219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休憩中にやること①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テンプレートをダウンロードして、VS Codeで開きます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658368" y="1554480"/>
            <a:ext cx="475488" cy="475488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658368" y="1554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94360" y="214884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テンプレートURLを開く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69748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配布されたURLを開き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緑の「Code」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→「Download ZIP」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090672" y="2377440"/>
            <a:ext cx="182880" cy="320040"/>
          </a:xfrm>
          <a:prstGeom prst="rightArrow">
            <a:avLst/>
          </a:prstGeom>
          <a:solidFill>
            <a:srgbClr val="C8CFD9"/>
          </a:solidFill>
          <a:ln w="12700">
            <a:solidFill>
              <a:srgbClr val="C8CFD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3291840" y="137160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1" name="Shape 9"/>
          <p:cNvSpPr/>
          <p:nvPr/>
        </p:nvSpPr>
        <p:spPr>
          <a:xfrm>
            <a:off x="3493008" y="1554480"/>
            <a:ext cx="475488" cy="475488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/>
          <p:nvPr/>
        </p:nvSpPr>
        <p:spPr>
          <a:xfrm>
            <a:off x="3493008" y="1554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29000" y="214884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2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C:\handson に展開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383280" y="269748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C:\hundson</a:t>
            </a:r>
            <a:r>
              <a:rPr lang="ja-JP" altLang="en-US" sz="12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フォルダを作成する</a:t>
            </a:r>
            <a:endParaRPr lang="en-US" altLang="ja-JP" sz="1200" dirty="0">
              <a:solidFill>
                <a:srgbClr val="25364D"/>
              </a:solidFill>
              <a:latin typeface="Yu Gothic" pitchFamily="34" charset="0"/>
              <a:ea typeface="Yu Gothic" pitchFamily="34" charset="-122"/>
              <a:cs typeface="Yu Gothic" pitchFamily="34" charset="-120"/>
            </a:endParaRPr>
          </a:p>
          <a:p>
            <a:pPr marL="0" indent="0" algn="ctr">
              <a:buNone/>
            </a:pPr>
            <a:r>
              <a:rPr lang="en-US" altLang="ja-JP" sz="12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ZIP</a:t>
            </a:r>
            <a:r>
              <a:rPr lang="ja-JP" altLang="en-US" sz="12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ファイルを配置</a:t>
            </a:r>
            <a:endParaRPr lang="en-US" sz="1200" dirty="0">
              <a:solidFill>
                <a:srgbClr val="25364D"/>
              </a:solidFill>
              <a:latin typeface="Yu Gothic" pitchFamily="34" charset="0"/>
              <a:ea typeface="Yu Gothic" pitchFamily="34" charset="-122"/>
              <a:cs typeface="Yu Gothic" pitchFamily="34" charset="-120"/>
            </a:endParaRPr>
          </a:p>
          <a:p>
            <a:pPr marL="0" indent="0" algn="ctr">
              <a:buNone/>
            </a:pPr>
            <a:r>
              <a:rPr lang="en-US" sz="1200" dirty="0" err="1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ZIPを右クリック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→「</a:t>
            </a:r>
            <a:r>
              <a:rPr lang="en-US" sz="1200" dirty="0" err="1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すべて展開</a:t>
            </a:r>
            <a:r>
              <a:rPr lang="en-US" sz="12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」</a:t>
            </a:r>
          </a:p>
          <a:p>
            <a:pPr marL="0" indent="0" algn="ctr">
              <a:buNone/>
            </a:pPr>
            <a:r>
              <a:rPr lang="ja-JP" altLang="en-US" sz="12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</a:t>
            </a:r>
            <a:r>
              <a:rPr lang="en-US" sz="1200" dirty="0" err="1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展開先：C</a:t>
            </a:r>
            <a:r>
              <a:rPr lang="en-US" sz="12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:\</a:t>
            </a:r>
            <a:r>
              <a:rPr lang="en-US" sz="1200" dirty="0" err="1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handson</a:t>
            </a:r>
            <a:r>
              <a:rPr lang="ja-JP" altLang="en-US" sz="12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）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25312" y="2377440"/>
            <a:ext cx="182880" cy="320040"/>
          </a:xfrm>
          <a:prstGeom prst="rightArrow">
            <a:avLst/>
          </a:prstGeom>
          <a:solidFill>
            <a:srgbClr val="C8CFD9"/>
          </a:solidFill>
          <a:ln w="12700">
            <a:solidFill>
              <a:srgbClr val="C8CFD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Shape 14"/>
          <p:cNvSpPr/>
          <p:nvPr/>
        </p:nvSpPr>
        <p:spPr>
          <a:xfrm>
            <a:off x="6126480" y="137160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6327648" y="1554480"/>
            <a:ext cx="475488" cy="475488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6327648" y="1554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263640" y="214884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フォルダー名を変更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17920" y="269748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末尾の「-main」を消して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copilot-webapp-handson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にする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759952" y="2377440"/>
            <a:ext cx="182880" cy="320040"/>
          </a:xfrm>
          <a:prstGeom prst="rightArrow">
            <a:avLst/>
          </a:prstGeom>
          <a:solidFill>
            <a:srgbClr val="C8CFD9"/>
          </a:solidFill>
          <a:ln w="12700">
            <a:solidFill>
              <a:srgbClr val="C8CFD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Shape 20"/>
          <p:cNvSpPr/>
          <p:nvPr/>
        </p:nvSpPr>
        <p:spPr>
          <a:xfrm>
            <a:off x="8961120" y="137160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3" name="Shape 21"/>
          <p:cNvSpPr/>
          <p:nvPr/>
        </p:nvSpPr>
        <p:spPr>
          <a:xfrm>
            <a:off x="9162288" y="1554480"/>
            <a:ext cx="475488" cy="475488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2"/>
          <p:cNvSpPr/>
          <p:nvPr/>
        </p:nvSpPr>
        <p:spPr>
          <a:xfrm>
            <a:off x="9162288" y="1554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098280" y="214884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VS Codeで開く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052560" y="269748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 → フォルダーを開く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確認画面では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「はい、作成者を信頼します」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069080"/>
            <a:ext cx="6400800" cy="2148840"/>
          </a:xfrm>
          <a:prstGeom prst="roundRect">
            <a:avLst>
              <a:gd name="adj" fmla="val 3404"/>
            </a:avLst>
          </a:prstGeom>
          <a:solidFill>
            <a:srgbClr val="1C2736"/>
          </a:solidFill>
          <a:ln w="12700">
            <a:solidFill>
              <a:srgbClr val="1C2736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8" name="Text 26"/>
          <p:cNvSpPr/>
          <p:nvPr/>
        </p:nvSpPr>
        <p:spPr>
          <a:xfrm>
            <a:off x="685800" y="41605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正しいフォルダーを開いた状態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77240" y="4526280"/>
            <a:ext cx="5852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DDE6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COPILOT-WEBAPP-HANDSON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DDE6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 .github     ← 一番上に見えればOK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DDE6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 .vscode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DDE6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 docs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DDE6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 guide       ← この資料があります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DDE6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 scripts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7086600" y="4069080"/>
            <a:ext cx="4645152" cy="1005840"/>
          </a:xfrm>
          <a:prstGeom prst="roundRect">
            <a:avLst>
              <a:gd name="adj" fmla="val 7273"/>
            </a:avLst>
          </a:prstGeom>
          <a:solidFill>
            <a:srgbClr val="FFF3E8"/>
          </a:solidFill>
          <a:ln w="12700">
            <a:solidFill>
              <a:srgbClr val="F2C08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29"/>
          <p:cNvSpPr/>
          <p:nvPr/>
        </p:nvSpPr>
        <p:spPr>
          <a:xfrm>
            <a:off x="7269480" y="4114800"/>
            <a:ext cx="4343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660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.github が見えない＝1つ外側を開いています。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D9660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もう1階層内側のフォルダーを開き直します。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086600" y="5212080"/>
            <a:ext cx="4645152" cy="1005840"/>
          </a:xfrm>
          <a:prstGeom prst="roundRect">
            <a:avLst>
              <a:gd name="adj" fmla="val 7273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3" name="Text 31"/>
          <p:cNvSpPr/>
          <p:nvPr/>
        </p:nvSpPr>
        <p:spPr>
          <a:xfrm>
            <a:off x="7269480" y="525780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76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この資料の場所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269480" y="555955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guide\handson-guide.pptx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269480" y="587044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ここから先は、この資料を見ながら進めます</a:t>
            </a:r>
            <a:endParaRPr lang="en-US" sz="11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219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休憩中にやること②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配布アカウントでサインインし、実行環境をセットアップします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57784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/>
          <p:nvPr/>
        </p:nvSpPr>
        <p:spPr>
          <a:xfrm>
            <a:off x="685800" y="150876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219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GitHubにサインイン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938528"/>
            <a:ext cx="292608" cy="292608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685800" y="1938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97280" y="1920240"/>
            <a:ext cx="4800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VS Code 左下の人型アイコン（アカウント）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85800" y="2450592"/>
            <a:ext cx="292608" cy="292608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685800" y="24505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97280" y="2432304"/>
            <a:ext cx="4800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「GitHubでサインイン」を選ぶ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2962656"/>
            <a:ext cx="292608" cy="292608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/>
          <p:nvPr/>
        </p:nvSpPr>
        <p:spPr>
          <a:xfrm>
            <a:off x="685800" y="29626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97280" y="2944368"/>
            <a:ext cx="4800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ブラウザーで配布カードのGitHubアカウントを入力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85800" y="3474720"/>
            <a:ext cx="292608" cy="292608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685800" y="3474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97280" y="3456432"/>
            <a:ext cx="4800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右上のCopilotアイコンからチャットが開ける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45352" y="1371600"/>
            <a:ext cx="548640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9" name="Text 17"/>
          <p:cNvSpPr/>
          <p:nvPr/>
        </p:nvSpPr>
        <p:spPr>
          <a:xfrm>
            <a:off x="6473952" y="150876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219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セットアップを実行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473952" y="1938528"/>
            <a:ext cx="292608" cy="292608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9"/>
          <p:cNvSpPr/>
          <p:nvPr/>
        </p:nvSpPr>
        <p:spPr>
          <a:xfrm>
            <a:off x="6473952" y="1938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85432" y="1920240"/>
            <a:ext cx="4709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メニュー「ターミナル」→「新しいターミナル」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73952" y="2450592"/>
            <a:ext cx="292608" cy="292608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2"/>
          <p:cNvSpPr/>
          <p:nvPr/>
        </p:nvSpPr>
        <p:spPr>
          <a:xfrm>
            <a:off x="6473952" y="24505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885432" y="2432304"/>
            <a:ext cx="4709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下のコマンドを入力して Enter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473952" y="2962656"/>
            <a:ext cx="292608" cy="292608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Text 25"/>
          <p:cNvSpPr/>
          <p:nvPr/>
        </p:nvSpPr>
        <p:spPr>
          <a:xfrm>
            <a:off x="6473952" y="29626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885432" y="2944368"/>
            <a:ext cx="4709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最後に「Setup completed.」と表示される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73952" y="3520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数分かかります。止まって見えても待ちます。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57200" y="4343400"/>
            <a:ext cx="11274552" cy="548640"/>
          </a:xfrm>
          <a:prstGeom prst="roundRect">
            <a:avLst>
              <a:gd name="adj" fmla="val 10000"/>
            </a:avLst>
          </a:prstGeom>
          <a:solidFill>
            <a:srgbClr val="1C2736"/>
          </a:solidFill>
          <a:ln w="12700">
            <a:solidFill>
              <a:srgbClr val="1C273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29"/>
          <p:cNvSpPr/>
          <p:nvPr/>
        </p:nvSpPr>
        <p:spPr>
          <a:xfrm>
            <a:off x="594360" y="43434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FC0D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ターミナルに入力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148840" y="4343400"/>
            <a:ext cx="9445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CE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.\scripts\setup-local.cmd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457200" y="5120640"/>
            <a:ext cx="11274552" cy="1051560"/>
          </a:xfrm>
          <a:prstGeom prst="roundRect">
            <a:avLst>
              <a:gd name="adj" fmla="val 6957"/>
            </a:avLst>
          </a:prstGeom>
          <a:solidFill>
            <a:srgbClr val="FFF3E8"/>
          </a:solidFill>
          <a:ln w="12700">
            <a:solidFill>
              <a:srgbClr val="F2C08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4" name="Text 32"/>
          <p:cNvSpPr/>
          <p:nvPr/>
        </p:nvSpPr>
        <p:spPr>
          <a:xfrm>
            <a:off x="685800" y="5120640"/>
            <a:ext cx="10835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9660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個人のGitHubアカウントでサインイン済みの場合は、いったんサインアウトし、配布カードのアカウントでサインインし直します。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D9660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ここでは、まだCopilotにプロンプトを入力しません。</a:t>
            </a:r>
            <a:endParaRPr lang="en-US" sz="140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219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休憩中にやること③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必要なソフトがそろっているか、ターミナルで確認します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1274552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658368" y="1572768"/>
            <a:ext cx="402336" cy="402336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658368" y="15727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417320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Python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520440" y="1572768"/>
            <a:ext cx="3291840" cy="402336"/>
          </a:xfrm>
          <a:prstGeom prst="roundRect">
            <a:avLst>
              <a:gd name="adj" fmla="val 11364"/>
            </a:avLst>
          </a:prstGeom>
          <a:solidFill>
            <a:srgbClr val="EEF1F5"/>
          </a:solidFill>
          <a:ln w="12700">
            <a:solidFill>
              <a:srgbClr val="D3D9E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/>
          <p:nvPr/>
        </p:nvSpPr>
        <p:spPr>
          <a:xfrm>
            <a:off x="3630168" y="1572768"/>
            <a:ext cx="3072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2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--version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086600" y="1417320"/>
            <a:ext cx="4480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OK：Python 3.10 以上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286000"/>
            <a:ext cx="11274552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658368" y="2441448"/>
            <a:ext cx="402336" cy="402336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/>
          <p:nvPr/>
        </p:nvSpPr>
        <p:spPr>
          <a:xfrm>
            <a:off x="658368" y="2441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34440" y="2286000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Azure CLI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3520440" y="2441448"/>
            <a:ext cx="3291840" cy="402336"/>
          </a:xfrm>
          <a:prstGeom prst="roundRect">
            <a:avLst>
              <a:gd name="adj" fmla="val 11364"/>
            </a:avLst>
          </a:prstGeom>
          <a:solidFill>
            <a:srgbClr val="EEF1F5"/>
          </a:solidFill>
          <a:ln w="12700">
            <a:solidFill>
              <a:srgbClr val="D3D9E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3630168" y="2441448"/>
            <a:ext cx="3072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2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 version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086600" y="2286000"/>
            <a:ext cx="4480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OK：バージョンが表示される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7200" y="3154680"/>
            <a:ext cx="11274552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/>
          <p:cNvSpPr/>
          <p:nvPr/>
        </p:nvSpPr>
        <p:spPr>
          <a:xfrm>
            <a:off x="658368" y="3310128"/>
            <a:ext cx="402336" cy="402336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/>
          <p:nvPr/>
        </p:nvSpPr>
        <p:spPr>
          <a:xfrm>
            <a:off x="658368" y="33101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34440" y="3154680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Terraform CLI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3520440" y="3310128"/>
            <a:ext cx="3291840" cy="402336"/>
          </a:xfrm>
          <a:prstGeom prst="roundRect">
            <a:avLst>
              <a:gd name="adj" fmla="val 11364"/>
            </a:avLst>
          </a:prstGeom>
          <a:solidFill>
            <a:srgbClr val="EEF1F5"/>
          </a:solidFill>
          <a:ln w="12700">
            <a:solidFill>
              <a:srgbClr val="D3D9E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Text 21"/>
          <p:cNvSpPr/>
          <p:nvPr/>
        </p:nvSpPr>
        <p:spPr>
          <a:xfrm>
            <a:off x="3630168" y="3310128"/>
            <a:ext cx="3072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2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version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086600" y="3154680"/>
            <a:ext cx="4480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OK：Terraform v1.5 以上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457200" y="4160520"/>
            <a:ext cx="11274552" cy="2011680"/>
          </a:xfrm>
          <a:prstGeom prst="roundRect">
            <a:avLst>
              <a:gd name="adj" fmla="val 3636"/>
            </a:avLst>
          </a:prstGeom>
          <a:solidFill>
            <a:srgbClr val="FBDDDC"/>
          </a:solidFill>
          <a:ln w="12700">
            <a:solidFill>
              <a:srgbClr val="FBDDD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Text 24"/>
          <p:cNvSpPr/>
          <p:nvPr/>
        </p:nvSpPr>
        <p:spPr>
          <a:xfrm>
            <a:off x="685800" y="425196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219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「terraform は認識されません」と出たとき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85800" y="461772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VS Codeの「HashiCorp Terraform」拡張機能だけでは terraform コマンドは使えません。CLI本体を入れます。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85800" y="5029200"/>
            <a:ext cx="10835640" cy="457200"/>
          </a:xfrm>
          <a:prstGeom prst="roundRect">
            <a:avLst>
              <a:gd name="adj" fmla="val 12000"/>
            </a:avLst>
          </a:prstGeom>
          <a:solidFill>
            <a:srgbClr val="1C2736"/>
          </a:solidFill>
          <a:ln w="12700">
            <a:solidFill>
              <a:srgbClr val="1C273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Text 27"/>
          <p:cNvSpPr/>
          <p:nvPr/>
        </p:nvSpPr>
        <p:spPr>
          <a:xfrm>
            <a:off x="822960" y="50292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FC0D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ターミナルに入力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377440" y="5029200"/>
            <a:ext cx="9006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7CE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winget install -e --id Hashicorp.Terraform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85800" y="557784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インストール後、VS Codeのウィンドウをすべて閉じて開き直し、もう一度 terraform version で確認します。</a:t>
            </a:r>
            <a:endParaRPr lang="en-US" sz="13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219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Copilotの使い方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Copilotでは、毎回同じ6つの操作を繰り返します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204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777240" y="1645920"/>
            <a:ext cx="420624" cy="420624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777240" y="1645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25880" y="1618488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新しいチャットを開く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1325880" y="2286000"/>
            <a:ext cx="2468880" cy="420624"/>
          </a:xfrm>
          <a:prstGeom prst="roundRect">
            <a:avLst>
              <a:gd name="adj" fmla="val 10870"/>
            </a:avLst>
          </a:prstGeom>
          <a:solidFill>
            <a:srgbClr val="EEF1F5"/>
          </a:solidFill>
          <a:ln w="12700">
            <a:solidFill>
              <a:srgbClr val="D3D9E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/>
          <p:nvPr/>
        </p:nvSpPr>
        <p:spPr>
          <a:xfrm>
            <a:off x="1435608" y="2286000"/>
            <a:ext cx="2249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＋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297680" y="1417320"/>
            <a:ext cx="35204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1" name="Shape 9"/>
          <p:cNvSpPr/>
          <p:nvPr/>
        </p:nvSpPr>
        <p:spPr>
          <a:xfrm>
            <a:off x="4526280" y="1645920"/>
            <a:ext cx="420624" cy="420624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/>
          <p:nvPr/>
        </p:nvSpPr>
        <p:spPr>
          <a:xfrm>
            <a:off x="4526280" y="1645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74920" y="1618488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Agentモードを確認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5074920" y="2286000"/>
            <a:ext cx="2468880" cy="420624"/>
          </a:xfrm>
          <a:prstGeom prst="roundRect">
            <a:avLst>
              <a:gd name="adj" fmla="val 10870"/>
            </a:avLst>
          </a:prstGeom>
          <a:solidFill>
            <a:srgbClr val="EEF1F5"/>
          </a:solidFill>
          <a:ln w="12700">
            <a:solidFill>
              <a:srgbClr val="D3D9E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Text 13"/>
          <p:cNvSpPr/>
          <p:nvPr/>
        </p:nvSpPr>
        <p:spPr>
          <a:xfrm>
            <a:off x="5184648" y="2286000"/>
            <a:ext cx="2249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046720" y="1417320"/>
            <a:ext cx="35204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8275320" y="1645920"/>
            <a:ext cx="420624" cy="420624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8275320" y="1645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823960" y="1618488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「/」を入力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8823960" y="2286000"/>
            <a:ext cx="2468880" cy="420624"/>
          </a:xfrm>
          <a:prstGeom prst="roundRect">
            <a:avLst>
              <a:gd name="adj" fmla="val 10870"/>
            </a:avLst>
          </a:prstGeom>
          <a:solidFill>
            <a:srgbClr val="EEF1F5"/>
          </a:solidFill>
          <a:ln w="12700">
            <a:solidFill>
              <a:srgbClr val="D3D9E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9"/>
          <p:cNvSpPr/>
          <p:nvPr/>
        </p:nvSpPr>
        <p:spPr>
          <a:xfrm>
            <a:off x="8933688" y="2286000"/>
            <a:ext cx="2249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3337560"/>
            <a:ext cx="35204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3" name="Shape 21"/>
          <p:cNvSpPr/>
          <p:nvPr/>
        </p:nvSpPr>
        <p:spPr>
          <a:xfrm>
            <a:off x="777240" y="3566160"/>
            <a:ext cx="420624" cy="420624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2"/>
          <p:cNvSpPr/>
          <p:nvPr/>
        </p:nvSpPr>
        <p:spPr>
          <a:xfrm>
            <a:off x="777240" y="35661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325880" y="3538728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プロンプトを選ぶ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1325880" y="4206240"/>
            <a:ext cx="2468880" cy="420624"/>
          </a:xfrm>
          <a:prstGeom prst="roundRect">
            <a:avLst>
              <a:gd name="adj" fmla="val 10870"/>
            </a:avLst>
          </a:prstGeom>
          <a:solidFill>
            <a:srgbClr val="EEF1F5"/>
          </a:solidFill>
          <a:ln w="12700">
            <a:solidFill>
              <a:srgbClr val="D3D9E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Text 25"/>
          <p:cNvSpPr/>
          <p:nvPr/>
        </p:nvSpPr>
        <p:spPr>
          <a:xfrm>
            <a:off x="1435608" y="4206240"/>
            <a:ext cx="2249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/02-requirements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297680" y="3337560"/>
            <a:ext cx="35204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9" name="Shape 27"/>
          <p:cNvSpPr/>
          <p:nvPr/>
        </p:nvSpPr>
        <p:spPr>
          <a:xfrm>
            <a:off x="4526280" y="3566160"/>
            <a:ext cx="420624" cy="420624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Text 28"/>
          <p:cNvSpPr/>
          <p:nvPr/>
        </p:nvSpPr>
        <p:spPr>
          <a:xfrm>
            <a:off x="4526280" y="35661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074920" y="3538728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送信する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5074920" y="4206240"/>
            <a:ext cx="2468880" cy="420624"/>
          </a:xfrm>
          <a:prstGeom prst="roundRect">
            <a:avLst>
              <a:gd name="adj" fmla="val 10870"/>
            </a:avLst>
          </a:prstGeom>
          <a:solidFill>
            <a:srgbClr val="EEF1F5"/>
          </a:solidFill>
          <a:ln w="12700">
            <a:solidFill>
              <a:srgbClr val="D3D9E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3" name="Text 31"/>
          <p:cNvSpPr/>
          <p:nvPr/>
        </p:nvSpPr>
        <p:spPr>
          <a:xfrm>
            <a:off x="5184648" y="4206240"/>
            <a:ext cx="2249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▶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8046720" y="3337560"/>
            <a:ext cx="35204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5" name="Shape 33"/>
          <p:cNvSpPr/>
          <p:nvPr/>
        </p:nvSpPr>
        <p:spPr>
          <a:xfrm>
            <a:off x="8275320" y="3566160"/>
            <a:ext cx="420624" cy="420624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Text 34"/>
          <p:cNvSpPr/>
          <p:nvPr/>
        </p:nvSpPr>
        <p:spPr>
          <a:xfrm>
            <a:off x="8275320" y="35661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8823960" y="3538728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生成ファイルを確認</a:t>
            </a:r>
            <a:endParaRPr lang="en-US" sz="1700" dirty="0"/>
          </a:p>
        </p:txBody>
      </p:sp>
      <p:sp>
        <p:nvSpPr>
          <p:cNvPr id="38" name="Shape 36"/>
          <p:cNvSpPr/>
          <p:nvPr/>
        </p:nvSpPr>
        <p:spPr>
          <a:xfrm>
            <a:off x="8823960" y="4206240"/>
            <a:ext cx="2468880" cy="420624"/>
          </a:xfrm>
          <a:prstGeom prst="roundRect">
            <a:avLst>
              <a:gd name="adj" fmla="val 10870"/>
            </a:avLst>
          </a:prstGeom>
          <a:solidFill>
            <a:srgbClr val="EEF1F5"/>
          </a:solidFill>
          <a:ln w="12700">
            <a:solidFill>
              <a:srgbClr val="D3D9E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9" name="Text 37"/>
          <p:cNvSpPr/>
          <p:nvPr/>
        </p:nvSpPr>
        <p:spPr>
          <a:xfrm>
            <a:off x="8933688" y="4206240"/>
            <a:ext cx="2249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548640" y="5440680"/>
            <a:ext cx="11109960" cy="640080"/>
          </a:xfrm>
          <a:prstGeom prst="roundRect">
            <a:avLst>
              <a:gd name="adj" fmla="val 11429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39"/>
          <p:cNvSpPr/>
          <p:nvPr/>
        </p:nvSpPr>
        <p:spPr>
          <a:xfrm>
            <a:off x="548640" y="544068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176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STEPごとに「＋」で新しいチャットを開きます。前の内容は、作成されたMarkdownファイルから読み込まれます。</a:t>
            </a:r>
            <a:endParaRPr lang="en-US" sz="1500" dirty="0"/>
          </a:p>
        </p:txBody>
      </p:sp>
      <p:sp>
        <p:nvSpPr>
          <p:cNvPr id="4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82880"/>
            <a:ext cx="1188720" cy="384048"/>
          </a:xfrm>
          <a:prstGeom prst="roundRect">
            <a:avLst>
              <a:gd name="adj" fmla="val 14286"/>
            </a:avLst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00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783080" y="16459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環境確認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183880" y="164592"/>
            <a:ext cx="35478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00／10　14:40〜14:45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04088" y="1069848"/>
            <a:ext cx="5486400" cy="0"/>
          </a:xfrm>
          <a:prstGeom prst="line">
            <a:avLst/>
          </a:prstGeom>
          <a:noFill/>
          <a:ln w="25400">
            <a:solidFill>
              <a:srgbClr val="C8CFD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548640" y="914400"/>
            <a:ext cx="310896" cy="310896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/>
          <p:nvPr/>
        </p:nvSpPr>
        <p:spPr>
          <a:xfrm>
            <a:off x="54864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8328" y="621792"/>
            <a:ext cx="731520" cy="237744"/>
          </a:xfrm>
          <a:prstGeom prst="roundRect">
            <a:avLst>
              <a:gd name="adj" fmla="val 57692"/>
            </a:avLst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338328" y="62179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いまここ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09728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/>
          <p:nvPr/>
        </p:nvSpPr>
        <p:spPr>
          <a:xfrm>
            <a:off x="109728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64592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164592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19456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219456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4320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274320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9184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/>
          <p:nvPr/>
        </p:nvSpPr>
        <p:spPr>
          <a:xfrm>
            <a:off x="329184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84048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Text 20"/>
          <p:cNvSpPr/>
          <p:nvPr/>
        </p:nvSpPr>
        <p:spPr>
          <a:xfrm>
            <a:off x="384048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06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8912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2"/>
          <p:cNvSpPr/>
          <p:nvPr/>
        </p:nvSpPr>
        <p:spPr>
          <a:xfrm>
            <a:off x="438912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07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93776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Text 24"/>
          <p:cNvSpPr/>
          <p:nvPr/>
        </p:nvSpPr>
        <p:spPr>
          <a:xfrm>
            <a:off x="493776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08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Text 26"/>
          <p:cNvSpPr/>
          <p:nvPr/>
        </p:nvSpPr>
        <p:spPr>
          <a:xfrm>
            <a:off x="548640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Text 28"/>
          <p:cNvSpPr/>
          <p:nvPr/>
        </p:nvSpPr>
        <p:spPr>
          <a:xfrm>
            <a:off x="603504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138160" y="1005840"/>
            <a:ext cx="146304" cy="146304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Text 30"/>
          <p:cNvSpPr/>
          <p:nvPr/>
        </p:nvSpPr>
        <p:spPr>
          <a:xfrm>
            <a:off x="8348472" y="9509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完了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345168" y="1005840"/>
            <a:ext cx="146304" cy="146304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4" name="Text 32"/>
          <p:cNvSpPr/>
          <p:nvPr/>
        </p:nvSpPr>
        <p:spPr>
          <a:xfrm>
            <a:off x="9555480" y="9509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いまここ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10552176" y="1005840"/>
            <a:ext cx="146304" cy="146304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Text 34"/>
          <p:cNvSpPr/>
          <p:nvPr/>
        </p:nvSpPr>
        <p:spPr>
          <a:xfrm>
            <a:off x="10762488" y="9509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これから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57200" y="1847088"/>
            <a:ext cx="64008" cy="384048"/>
          </a:xfrm>
          <a:prstGeom prst="rect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8" name="Text 36"/>
          <p:cNvSpPr/>
          <p:nvPr/>
        </p:nvSpPr>
        <p:spPr>
          <a:xfrm>
            <a:off x="640080" y="1828800"/>
            <a:ext cx="11064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これからの作業を始められる状態か確認します。</a:t>
            </a:r>
            <a:endParaRPr lang="en-US" sz="1900" dirty="0"/>
          </a:p>
        </p:txBody>
      </p:sp>
      <p:sp>
        <p:nvSpPr>
          <p:cNvPr id="39" name="Shape 37"/>
          <p:cNvSpPr/>
          <p:nvPr/>
        </p:nvSpPr>
        <p:spPr>
          <a:xfrm>
            <a:off x="457200" y="2377440"/>
            <a:ext cx="11274552" cy="420624"/>
          </a:xfrm>
          <a:prstGeom prst="roundRect">
            <a:avLst>
              <a:gd name="adj" fmla="val 13043"/>
            </a:avLst>
          </a:prstGeom>
          <a:solidFill>
            <a:srgbClr val="1C2736"/>
          </a:solidFill>
          <a:ln w="12700">
            <a:solidFill>
              <a:srgbClr val="1C273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0" name="Text 38"/>
          <p:cNvSpPr/>
          <p:nvPr/>
        </p:nvSpPr>
        <p:spPr>
          <a:xfrm>
            <a:off x="594360" y="237744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FC0D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ターミナルに入力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2148840" y="2377440"/>
            <a:ext cx="9445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E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 login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457200" y="2907792"/>
            <a:ext cx="56235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3" name="Text 41"/>
          <p:cNvSpPr/>
          <p:nvPr/>
        </p:nvSpPr>
        <p:spPr>
          <a:xfrm>
            <a:off x="685800" y="30449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219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いまやること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685800" y="3456432"/>
            <a:ext cx="292608" cy="292608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5" name="Text 43"/>
          <p:cNvSpPr/>
          <p:nvPr/>
        </p:nvSpPr>
        <p:spPr>
          <a:xfrm>
            <a:off x="685800" y="34564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1097280" y="343814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配布カードのAzureアカウントでサインイン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685800" y="3858768"/>
            <a:ext cx="292608" cy="292608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8" name="Text 46"/>
          <p:cNvSpPr/>
          <p:nvPr/>
        </p:nvSpPr>
        <p:spPr>
          <a:xfrm>
            <a:off x="685800" y="3858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1097280" y="384048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チャットのモードを「Agent」にする</a:t>
            </a:r>
            <a:endParaRPr lang="en-US" sz="1500" dirty="0"/>
          </a:p>
        </p:txBody>
      </p:sp>
      <p:sp>
        <p:nvSpPr>
          <p:cNvPr id="50" name="Shape 48"/>
          <p:cNvSpPr/>
          <p:nvPr/>
        </p:nvSpPr>
        <p:spPr>
          <a:xfrm>
            <a:off x="685800" y="4261104"/>
            <a:ext cx="292608" cy="292608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1" name="Text 49"/>
          <p:cNvSpPr/>
          <p:nvPr/>
        </p:nvSpPr>
        <p:spPr>
          <a:xfrm>
            <a:off x="685800" y="4261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1097280" y="424281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/00-environment-check を実行する</a:t>
            </a:r>
            <a:endParaRPr lang="en-US" sz="1500" dirty="0"/>
          </a:p>
        </p:txBody>
      </p:sp>
      <p:sp>
        <p:nvSpPr>
          <p:cNvPr id="53" name="Shape 51"/>
          <p:cNvSpPr/>
          <p:nvPr/>
        </p:nvSpPr>
        <p:spPr>
          <a:xfrm>
            <a:off x="6309360" y="2907792"/>
            <a:ext cx="5422392" cy="1783080"/>
          </a:xfrm>
          <a:prstGeom prst="roundRect">
            <a:avLst>
              <a:gd name="adj" fmla="val 4103"/>
            </a:avLst>
          </a:prstGeom>
          <a:solidFill>
            <a:srgbClr val="FBFCFD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4" name="Text 52"/>
          <p:cNvSpPr/>
          <p:nvPr/>
        </p:nvSpPr>
        <p:spPr>
          <a:xfrm>
            <a:off x="6537960" y="30449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76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できあがるもの</a:t>
            </a:r>
            <a:endParaRPr lang="en-US" sz="1500" dirty="0"/>
          </a:p>
        </p:txBody>
      </p:sp>
      <p:sp>
        <p:nvSpPr>
          <p:cNvPr id="55" name="Shape 53"/>
          <p:cNvSpPr/>
          <p:nvPr/>
        </p:nvSpPr>
        <p:spPr>
          <a:xfrm>
            <a:off x="6565392" y="3474720"/>
            <a:ext cx="201168" cy="256032"/>
          </a:xfrm>
          <a:prstGeom prst="rect">
            <a:avLst/>
          </a:prstGeom>
          <a:solidFill>
            <a:srgbClr val="FFFFFF"/>
          </a:solidFill>
          <a:ln w="15240">
            <a:solidFill>
              <a:srgbClr val="2176D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6" name="Text 54"/>
          <p:cNvSpPr/>
          <p:nvPr/>
        </p:nvSpPr>
        <p:spPr>
          <a:xfrm>
            <a:off x="6876288" y="3438144"/>
            <a:ext cx="4690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2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docs/00-environment-check.md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457200" y="4800600"/>
            <a:ext cx="5623560" cy="1527048"/>
          </a:xfrm>
          <a:prstGeom prst="roundRect">
            <a:avLst>
              <a:gd name="adj" fmla="val 4790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8" name="Text 56"/>
          <p:cNvSpPr/>
          <p:nvPr/>
        </p:nvSpPr>
        <p:spPr>
          <a:xfrm>
            <a:off x="685800" y="493776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ここまでできたら次へ</a:t>
            </a:r>
            <a:endParaRPr lang="en-US" sz="1500" dirty="0"/>
          </a:p>
        </p:txBody>
      </p:sp>
      <p:sp>
        <p:nvSpPr>
          <p:cNvPr id="59" name="Shape 57"/>
          <p:cNvSpPr/>
          <p:nvPr/>
        </p:nvSpPr>
        <p:spPr>
          <a:xfrm>
            <a:off x="713232" y="534009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0" name="Text 58"/>
          <p:cNvSpPr/>
          <p:nvPr/>
        </p:nvSpPr>
        <p:spPr>
          <a:xfrm>
            <a:off x="713232" y="5340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1097280" y="5303520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Copilotが応答する</a:t>
            </a:r>
            <a:endParaRPr lang="en-US" sz="1400" dirty="0"/>
          </a:p>
        </p:txBody>
      </p:sp>
      <p:sp>
        <p:nvSpPr>
          <p:cNvPr id="62" name="Shape 60"/>
          <p:cNvSpPr/>
          <p:nvPr/>
        </p:nvSpPr>
        <p:spPr>
          <a:xfrm>
            <a:off x="713232" y="5669280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3" name="Text 61"/>
          <p:cNvSpPr/>
          <p:nvPr/>
        </p:nvSpPr>
        <p:spPr>
          <a:xfrm>
            <a:off x="713232" y="56692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1097280" y="5632704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結果に「NG：0件」と表示される</a:t>
            </a:r>
            <a:endParaRPr lang="en-US" sz="1400" dirty="0"/>
          </a:p>
        </p:txBody>
      </p:sp>
      <p:sp>
        <p:nvSpPr>
          <p:cNvPr id="65" name="Shape 63"/>
          <p:cNvSpPr/>
          <p:nvPr/>
        </p:nvSpPr>
        <p:spPr>
          <a:xfrm>
            <a:off x="713232" y="5998464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6" name="Text 64"/>
          <p:cNvSpPr/>
          <p:nvPr/>
        </p:nvSpPr>
        <p:spPr>
          <a:xfrm>
            <a:off x="713232" y="5998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097280" y="5961888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terraform version が表示される（1.5以上）</a:t>
            </a:r>
            <a:endParaRPr lang="en-US" sz="1400" dirty="0"/>
          </a:p>
        </p:txBody>
      </p:sp>
      <p:sp>
        <p:nvSpPr>
          <p:cNvPr id="68" name="Shape 66"/>
          <p:cNvSpPr/>
          <p:nvPr/>
        </p:nvSpPr>
        <p:spPr>
          <a:xfrm>
            <a:off x="6309360" y="4800600"/>
            <a:ext cx="5422392" cy="1527048"/>
          </a:xfrm>
          <a:prstGeom prst="roundRect">
            <a:avLst>
              <a:gd name="adj" fmla="val 4790"/>
            </a:avLst>
          </a:prstGeom>
          <a:solidFill>
            <a:srgbClr val="EEF1F5"/>
          </a:solidFill>
          <a:ln w="1270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9" name="Text 67"/>
          <p:cNvSpPr/>
          <p:nvPr/>
        </p:nvSpPr>
        <p:spPr>
          <a:xfrm>
            <a:off x="6537960" y="493776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このSTEPでは…</a:t>
            </a:r>
            <a:endParaRPr lang="en-US" sz="1500" dirty="0"/>
          </a:p>
        </p:txBody>
      </p:sp>
      <p:sp>
        <p:nvSpPr>
          <p:cNvPr id="70" name="Text 68"/>
          <p:cNvSpPr/>
          <p:nvPr/>
        </p:nvSpPr>
        <p:spPr>
          <a:xfrm>
            <a:off x="6537960" y="5276088"/>
            <a:ext cx="4983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ここでは、アプリをつくりません。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NGがあれば手を挙げてスタッフを呼んでください。</a:t>
            </a:r>
            <a:endParaRPr lang="en-US" sz="1500" dirty="0"/>
          </a:p>
        </p:txBody>
      </p:sp>
      <p:sp>
        <p:nvSpPr>
          <p:cNvPr id="7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82880"/>
            <a:ext cx="1188720" cy="384048"/>
          </a:xfrm>
          <a:prstGeom prst="roundRect">
            <a:avLst>
              <a:gd name="adj" fmla="val 14286"/>
            </a:avLst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01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783080" y="16459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業務課題の整理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183880" y="164592"/>
            <a:ext cx="35478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01／10　14:45〜14:50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04088" y="1069848"/>
            <a:ext cx="5486400" cy="0"/>
          </a:xfrm>
          <a:prstGeom prst="line">
            <a:avLst/>
          </a:prstGeom>
          <a:noFill/>
          <a:ln w="25400">
            <a:solidFill>
              <a:srgbClr val="C8CFD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54864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/>
          <p:nvPr/>
        </p:nvSpPr>
        <p:spPr>
          <a:xfrm>
            <a:off x="54864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097280" y="914400"/>
            <a:ext cx="310896" cy="310896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109728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86968" y="621792"/>
            <a:ext cx="731520" cy="237744"/>
          </a:xfrm>
          <a:prstGeom prst="roundRect">
            <a:avLst>
              <a:gd name="adj" fmla="val 57692"/>
            </a:avLst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/>
          <p:nvPr/>
        </p:nvSpPr>
        <p:spPr>
          <a:xfrm>
            <a:off x="886968" y="62179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いまここ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64592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164592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19456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219456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4320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274320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9184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/>
          <p:nvPr/>
        </p:nvSpPr>
        <p:spPr>
          <a:xfrm>
            <a:off x="329184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84048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Text 20"/>
          <p:cNvSpPr/>
          <p:nvPr/>
        </p:nvSpPr>
        <p:spPr>
          <a:xfrm>
            <a:off x="384048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06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8912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2"/>
          <p:cNvSpPr/>
          <p:nvPr/>
        </p:nvSpPr>
        <p:spPr>
          <a:xfrm>
            <a:off x="438912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07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93776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Text 24"/>
          <p:cNvSpPr/>
          <p:nvPr/>
        </p:nvSpPr>
        <p:spPr>
          <a:xfrm>
            <a:off x="493776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08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Text 26"/>
          <p:cNvSpPr/>
          <p:nvPr/>
        </p:nvSpPr>
        <p:spPr>
          <a:xfrm>
            <a:off x="548640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Text 28"/>
          <p:cNvSpPr/>
          <p:nvPr/>
        </p:nvSpPr>
        <p:spPr>
          <a:xfrm>
            <a:off x="603504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138160" y="1005840"/>
            <a:ext cx="146304" cy="146304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Text 30"/>
          <p:cNvSpPr/>
          <p:nvPr/>
        </p:nvSpPr>
        <p:spPr>
          <a:xfrm>
            <a:off x="8348472" y="9509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完了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345168" y="1005840"/>
            <a:ext cx="146304" cy="146304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4" name="Text 32"/>
          <p:cNvSpPr/>
          <p:nvPr/>
        </p:nvSpPr>
        <p:spPr>
          <a:xfrm>
            <a:off x="9555480" y="9509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いまここ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10552176" y="1005840"/>
            <a:ext cx="146304" cy="146304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Text 34"/>
          <p:cNvSpPr/>
          <p:nvPr/>
        </p:nvSpPr>
        <p:spPr>
          <a:xfrm>
            <a:off x="10762488" y="9509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これから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57200" y="1847088"/>
            <a:ext cx="64008" cy="384048"/>
          </a:xfrm>
          <a:prstGeom prst="rect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8" name="Text 36"/>
          <p:cNvSpPr/>
          <p:nvPr/>
        </p:nvSpPr>
        <p:spPr>
          <a:xfrm>
            <a:off x="640080" y="1828800"/>
            <a:ext cx="11064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アイデアソンの内容を「開発できる課題1つ」に絞ります。</a:t>
            </a:r>
            <a:endParaRPr lang="en-US" sz="1900" dirty="0"/>
          </a:p>
        </p:txBody>
      </p:sp>
      <p:sp>
        <p:nvSpPr>
          <p:cNvPr id="39" name="Shape 37"/>
          <p:cNvSpPr/>
          <p:nvPr/>
        </p:nvSpPr>
        <p:spPr>
          <a:xfrm>
            <a:off x="457200" y="2395728"/>
            <a:ext cx="56235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0" name="Text 38"/>
          <p:cNvSpPr/>
          <p:nvPr/>
        </p:nvSpPr>
        <p:spPr>
          <a:xfrm>
            <a:off x="685800" y="253288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219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いまやること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685800" y="2944368"/>
            <a:ext cx="292608" cy="292608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2" name="Text 40"/>
          <p:cNvSpPr/>
          <p:nvPr/>
        </p:nvSpPr>
        <p:spPr>
          <a:xfrm>
            <a:off x="685800" y="29443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097280" y="292608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docs/01-input.md に記入・保存する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685800" y="3383280"/>
            <a:ext cx="292608" cy="292608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5" name="Text 43"/>
          <p:cNvSpPr/>
          <p:nvPr/>
        </p:nvSpPr>
        <p:spPr>
          <a:xfrm>
            <a:off x="685800" y="3383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1097280" y="336499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「＋」で新しいチャットを開く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685800" y="3822192"/>
            <a:ext cx="292608" cy="292608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8" name="Text 46"/>
          <p:cNvSpPr/>
          <p:nvPr/>
        </p:nvSpPr>
        <p:spPr>
          <a:xfrm>
            <a:off x="685800" y="38221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1097280" y="380390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/01-business-problem を実行する</a:t>
            </a:r>
            <a:endParaRPr lang="en-US" sz="1500" dirty="0"/>
          </a:p>
        </p:txBody>
      </p:sp>
      <p:sp>
        <p:nvSpPr>
          <p:cNvPr id="50" name="Shape 48"/>
          <p:cNvSpPr/>
          <p:nvPr/>
        </p:nvSpPr>
        <p:spPr>
          <a:xfrm>
            <a:off x="6309360" y="2395728"/>
            <a:ext cx="5422392" cy="2011680"/>
          </a:xfrm>
          <a:prstGeom prst="roundRect">
            <a:avLst>
              <a:gd name="adj" fmla="val 3636"/>
            </a:avLst>
          </a:prstGeom>
          <a:solidFill>
            <a:srgbClr val="FBFCFD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1" name="Text 49"/>
          <p:cNvSpPr/>
          <p:nvPr/>
        </p:nvSpPr>
        <p:spPr>
          <a:xfrm>
            <a:off x="6537960" y="253288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76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できあがるもの</a:t>
            </a:r>
            <a:endParaRPr lang="en-US" sz="1500" dirty="0"/>
          </a:p>
        </p:txBody>
      </p:sp>
      <p:sp>
        <p:nvSpPr>
          <p:cNvPr id="52" name="Shape 50"/>
          <p:cNvSpPr/>
          <p:nvPr/>
        </p:nvSpPr>
        <p:spPr>
          <a:xfrm>
            <a:off x="6565392" y="2962656"/>
            <a:ext cx="201168" cy="256032"/>
          </a:xfrm>
          <a:prstGeom prst="rect">
            <a:avLst/>
          </a:prstGeom>
          <a:solidFill>
            <a:srgbClr val="FFFFFF"/>
          </a:solidFill>
          <a:ln w="15240">
            <a:solidFill>
              <a:srgbClr val="2176D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3" name="Text 51"/>
          <p:cNvSpPr/>
          <p:nvPr/>
        </p:nvSpPr>
        <p:spPr>
          <a:xfrm>
            <a:off x="6876288" y="2926080"/>
            <a:ext cx="4690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2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docs/01-business-problem.md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457200" y="4590288"/>
            <a:ext cx="56235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5" name="Text 53"/>
          <p:cNvSpPr/>
          <p:nvPr/>
        </p:nvSpPr>
        <p:spPr>
          <a:xfrm>
            <a:off x="685800" y="47274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ここまでできたら次へ</a:t>
            </a:r>
            <a:endParaRPr lang="en-US" sz="1500" dirty="0"/>
          </a:p>
        </p:txBody>
      </p:sp>
      <p:sp>
        <p:nvSpPr>
          <p:cNvPr id="56" name="Shape 54"/>
          <p:cNvSpPr/>
          <p:nvPr/>
        </p:nvSpPr>
        <p:spPr>
          <a:xfrm>
            <a:off x="713232" y="5129784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7" name="Text 55"/>
          <p:cNvSpPr/>
          <p:nvPr/>
        </p:nvSpPr>
        <p:spPr>
          <a:xfrm>
            <a:off x="713232" y="51297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1097280" y="5093208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誰の課題か分かる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713232" y="5495544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0" name="Text 58"/>
          <p:cNvSpPr/>
          <p:nvPr/>
        </p:nvSpPr>
        <p:spPr>
          <a:xfrm>
            <a:off x="713232" y="54955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1097280" y="5458968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解決したいことが1つ</a:t>
            </a:r>
            <a:endParaRPr lang="en-US" sz="1400" dirty="0"/>
          </a:p>
        </p:txBody>
      </p:sp>
      <p:sp>
        <p:nvSpPr>
          <p:cNvPr id="62" name="Shape 60"/>
          <p:cNvSpPr/>
          <p:nvPr/>
        </p:nvSpPr>
        <p:spPr>
          <a:xfrm>
            <a:off x="713232" y="5861304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3" name="Text 61"/>
          <p:cNvSpPr/>
          <p:nvPr/>
        </p:nvSpPr>
        <p:spPr>
          <a:xfrm>
            <a:off x="713232" y="58613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1097280" y="5824728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何人で使うか・管理したい情報がある</a:t>
            </a:r>
            <a:endParaRPr lang="en-US" sz="1400" dirty="0"/>
          </a:p>
        </p:txBody>
      </p:sp>
      <p:sp>
        <p:nvSpPr>
          <p:cNvPr id="65" name="Shape 63"/>
          <p:cNvSpPr/>
          <p:nvPr/>
        </p:nvSpPr>
        <p:spPr>
          <a:xfrm>
            <a:off x="6309360" y="4590288"/>
            <a:ext cx="5422392" cy="1737360"/>
          </a:xfrm>
          <a:prstGeom prst="roundRect">
            <a:avLst>
              <a:gd name="adj" fmla="val 4211"/>
            </a:avLst>
          </a:prstGeom>
          <a:solidFill>
            <a:srgbClr val="EEF1F5"/>
          </a:solidFill>
          <a:ln w="1270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6" name="Text 64"/>
          <p:cNvSpPr/>
          <p:nvPr/>
        </p:nvSpPr>
        <p:spPr>
          <a:xfrm>
            <a:off x="6537960" y="47274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このSTEPでは…</a:t>
            </a:r>
            <a:endParaRPr lang="en-US" sz="1500" dirty="0"/>
          </a:p>
        </p:txBody>
      </p:sp>
      <p:sp>
        <p:nvSpPr>
          <p:cNvPr id="67" name="Text 65"/>
          <p:cNvSpPr/>
          <p:nvPr/>
        </p:nvSpPr>
        <p:spPr>
          <a:xfrm>
            <a:off x="6537960" y="5065776"/>
            <a:ext cx="4983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何人で使うか、同時に更新する人がいるかも書きます。STEP05でAIが構成を選ぶ材料になります。</a:t>
            </a:r>
            <a:endParaRPr lang="en-US" sz="1500" dirty="0"/>
          </a:p>
        </p:txBody>
      </p:sp>
      <p:sp>
        <p:nvSpPr>
          <p:cNvPr id="6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82880"/>
            <a:ext cx="1188720" cy="384048"/>
          </a:xfrm>
          <a:prstGeom prst="roundRect">
            <a:avLst>
              <a:gd name="adj" fmla="val 14286"/>
            </a:avLst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02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783080" y="16459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要件定義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183880" y="164592"/>
            <a:ext cx="35478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02／10　14:50〜14:57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04088" y="1069848"/>
            <a:ext cx="5486400" cy="0"/>
          </a:xfrm>
          <a:prstGeom prst="line">
            <a:avLst/>
          </a:prstGeom>
          <a:noFill/>
          <a:ln w="25400">
            <a:solidFill>
              <a:srgbClr val="C8CFD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54864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/>
          <p:nvPr/>
        </p:nvSpPr>
        <p:spPr>
          <a:xfrm>
            <a:off x="54864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09728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109728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645920" y="914400"/>
            <a:ext cx="310896" cy="310896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/>
          <p:nvPr/>
        </p:nvSpPr>
        <p:spPr>
          <a:xfrm>
            <a:off x="164592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435608" y="621792"/>
            <a:ext cx="731520" cy="237744"/>
          </a:xfrm>
          <a:prstGeom prst="roundRect">
            <a:avLst>
              <a:gd name="adj" fmla="val 57692"/>
            </a:avLst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1435608" y="62179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いまここ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19456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219456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4320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274320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9184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/>
          <p:nvPr/>
        </p:nvSpPr>
        <p:spPr>
          <a:xfrm>
            <a:off x="329184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84048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Text 20"/>
          <p:cNvSpPr/>
          <p:nvPr/>
        </p:nvSpPr>
        <p:spPr>
          <a:xfrm>
            <a:off x="384048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06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8912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2"/>
          <p:cNvSpPr/>
          <p:nvPr/>
        </p:nvSpPr>
        <p:spPr>
          <a:xfrm>
            <a:off x="438912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07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93776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Text 24"/>
          <p:cNvSpPr/>
          <p:nvPr/>
        </p:nvSpPr>
        <p:spPr>
          <a:xfrm>
            <a:off x="493776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08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Text 26"/>
          <p:cNvSpPr/>
          <p:nvPr/>
        </p:nvSpPr>
        <p:spPr>
          <a:xfrm>
            <a:off x="548640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Text 28"/>
          <p:cNvSpPr/>
          <p:nvPr/>
        </p:nvSpPr>
        <p:spPr>
          <a:xfrm>
            <a:off x="603504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138160" y="1005840"/>
            <a:ext cx="146304" cy="146304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Text 30"/>
          <p:cNvSpPr/>
          <p:nvPr/>
        </p:nvSpPr>
        <p:spPr>
          <a:xfrm>
            <a:off x="8348472" y="9509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完了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345168" y="1005840"/>
            <a:ext cx="146304" cy="146304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4" name="Text 32"/>
          <p:cNvSpPr/>
          <p:nvPr/>
        </p:nvSpPr>
        <p:spPr>
          <a:xfrm>
            <a:off x="9555480" y="9509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いまここ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10552176" y="1005840"/>
            <a:ext cx="146304" cy="146304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Text 34"/>
          <p:cNvSpPr/>
          <p:nvPr/>
        </p:nvSpPr>
        <p:spPr>
          <a:xfrm>
            <a:off x="10762488" y="9509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これから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57200" y="1847088"/>
            <a:ext cx="64008" cy="384048"/>
          </a:xfrm>
          <a:prstGeom prst="rect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8" name="Text 36"/>
          <p:cNvSpPr/>
          <p:nvPr/>
        </p:nvSpPr>
        <p:spPr>
          <a:xfrm>
            <a:off x="640080" y="1828800"/>
            <a:ext cx="11064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業務課題を、アプリに必要な機能へ変換します。</a:t>
            </a:r>
            <a:endParaRPr lang="en-US" sz="1900" dirty="0"/>
          </a:p>
        </p:txBody>
      </p:sp>
      <p:sp>
        <p:nvSpPr>
          <p:cNvPr id="39" name="Shape 37"/>
          <p:cNvSpPr/>
          <p:nvPr/>
        </p:nvSpPr>
        <p:spPr>
          <a:xfrm>
            <a:off x="457200" y="2395728"/>
            <a:ext cx="56235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0" name="Text 38"/>
          <p:cNvSpPr/>
          <p:nvPr/>
        </p:nvSpPr>
        <p:spPr>
          <a:xfrm>
            <a:off x="685800" y="253288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219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いまやること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685800" y="2944368"/>
            <a:ext cx="292608" cy="292608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2" name="Text 40"/>
          <p:cNvSpPr/>
          <p:nvPr/>
        </p:nvSpPr>
        <p:spPr>
          <a:xfrm>
            <a:off x="685800" y="29443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097280" y="292608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「＋」で新しいチャットを開く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685800" y="3383280"/>
            <a:ext cx="292608" cy="292608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5" name="Text 43"/>
          <p:cNvSpPr/>
          <p:nvPr/>
        </p:nvSpPr>
        <p:spPr>
          <a:xfrm>
            <a:off x="685800" y="3383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1097280" y="336499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/02-requirements を実行する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685800" y="3822192"/>
            <a:ext cx="292608" cy="292608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8" name="Text 46"/>
          <p:cNvSpPr/>
          <p:nvPr/>
        </p:nvSpPr>
        <p:spPr>
          <a:xfrm>
            <a:off x="685800" y="38221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1097280" y="380390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機能が3つ以内か確認する</a:t>
            </a:r>
            <a:endParaRPr lang="en-US" sz="1500" dirty="0"/>
          </a:p>
        </p:txBody>
      </p:sp>
      <p:sp>
        <p:nvSpPr>
          <p:cNvPr id="50" name="Shape 48"/>
          <p:cNvSpPr/>
          <p:nvPr/>
        </p:nvSpPr>
        <p:spPr>
          <a:xfrm>
            <a:off x="6309360" y="2395728"/>
            <a:ext cx="5422392" cy="2011680"/>
          </a:xfrm>
          <a:prstGeom prst="roundRect">
            <a:avLst>
              <a:gd name="adj" fmla="val 3636"/>
            </a:avLst>
          </a:prstGeom>
          <a:solidFill>
            <a:srgbClr val="FBFCFD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1" name="Text 49"/>
          <p:cNvSpPr/>
          <p:nvPr/>
        </p:nvSpPr>
        <p:spPr>
          <a:xfrm>
            <a:off x="6537960" y="253288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76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できあがるもの</a:t>
            </a:r>
            <a:endParaRPr lang="en-US" sz="1500" dirty="0"/>
          </a:p>
        </p:txBody>
      </p:sp>
      <p:sp>
        <p:nvSpPr>
          <p:cNvPr id="52" name="Shape 50"/>
          <p:cNvSpPr/>
          <p:nvPr/>
        </p:nvSpPr>
        <p:spPr>
          <a:xfrm>
            <a:off x="6565392" y="2962656"/>
            <a:ext cx="201168" cy="256032"/>
          </a:xfrm>
          <a:prstGeom prst="rect">
            <a:avLst/>
          </a:prstGeom>
          <a:solidFill>
            <a:srgbClr val="FFFFFF"/>
          </a:solidFill>
          <a:ln w="15240">
            <a:solidFill>
              <a:srgbClr val="2176D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3" name="Text 51"/>
          <p:cNvSpPr/>
          <p:nvPr/>
        </p:nvSpPr>
        <p:spPr>
          <a:xfrm>
            <a:off x="6876288" y="2926080"/>
            <a:ext cx="4690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2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docs/02-requirements.md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457200" y="4590288"/>
            <a:ext cx="56235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5" name="Text 53"/>
          <p:cNvSpPr/>
          <p:nvPr/>
        </p:nvSpPr>
        <p:spPr>
          <a:xfrm>
            <a:off x="685800" y="47274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ここまでできたら次へ</a:t>
            </a:r>
            <a:endParaRPr lang="en-US" sz="1500" dirty="0"/>
          </a:p>
        </p:txBody>
      </p:sp>
      <p:sp>
        <p:nvSpPr>
          <p:cNvPr id="56" name="Shape 54"/>
          <p:cNvSpPr/>
          <p:nvPr/>
        </p:nvSpPr>
        <p:spPr>
          <a:xfrm>
            <a:off x="713232" y="5129784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7" name="Text 55"/>
          <p:cNvSpPr/>
          <p:nvPr/>
        </p:nvSpPr>
        <p:spPr>
          <a:xfrm>
            <a:off x="713232" y="51297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1097280" y="5093208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機能が F-01〜F-03 まで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713232" y="5495544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0" name="Text 58"/>
          <p:cNvSpPr/>
          <p:nvPr/>
        </p:nvSpPr>
        <p:spPr>
          <a:xfrm>
            <a:off x="713232" y="54955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1097280" y="5458968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「今回作らないもの」がある</a:t>
            </a:r>
            <a:endParaRPr lang="en-US" sz="1400" dirty="0"/>
          </a:p>
        </p:txBody>
      </p:sp>
      <p:sp>
        <p:nvSpPr>
          <p:cNvPr id="62" name="Shape 60"/>
          <p:cNvSpPr/>
          <p:nvPr/>
        </p:nvSpPr>
        <p:spPr>
          <a:xfrm>
            <a:off x="713232" y="5861304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3" name="Text 61"/>
          <p:cNvSpPr/>
          <p:nvPr/>
        </p:nvSpPr>
        <p:spPr>
          <a:xfrm>
            <a:off x="713232" y="58613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1097280" y="5824728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各機能に完成の条件がある</a:t>
            </a:r>
            <a:endParaRPr lang="en-US" sz="1400" dirty="0"/>
          </a:p>
        </p:txBody>
      </p:sp>
      <p:sp>
        <p:nvSpPr>
          <p:cNvPr id="65" name="Shape 63"/>
          <p:cNvSpPr/>
          <p:nvPr/>
        </p:nvSpPr>
        <p:spPr>
          <a:xfrm>
            <a:off x="6309360" y="4590288"/>
            <a:ext cx="5422392" cy="1737360"/>
          </a:xfrm>
          <a:prstGeom prst="roundRect">
            <a:avLst>
              <a:gd name="adj" fmla="val 4211"/>
            </a:avLst>
          </a:prstGeom>
          <a:solidFill>
            <a:srgbClr val="EEF1F5"/>
          </a:solidFill>
          <a:ln w="1270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6" name="Text 64"/>
          <p:cNvSpPr/>
          <p:nvPr/>
        </p:nvSpPr>
        <p:spPr>
          <a:xfrm>
            <a:off x="6537960" y="47274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このSTEPでは…</a:t>
            </a:r>
            <a:endParaRPr lang="en-US" sz="1500" dirty="0"/>
          </a:p>
        </p:txBody>
      </p:sp>
      <p:sp>
        <p:nvSpPr>
          <p:cNvPr id="67" name="Text 65"/>
          <p:cNvSpPr/>
          <p:nvPr/>
        </p:nvSpPr>
        <p:spPr>
          <a:xfrm>
            <a:off x="6537960" y="5065776"/>
            <a:ext cx="4983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機能を増やす時間ではありません。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最大3つに絞ります。</a:t>
            </a:r>
            <a:endParaRPr lang="en-US" sz="1500" dirty="0"/>
          </a:p>
        </p:txBody>
      </p:sp>
      <p:sp>
        <p:nvSpPr>
          <p:cNvPr id="6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82880"/>
            <a:ext cx="1188720" cy="384048"/>
          </a:xfrm>
          <a:prstGeom prst="roundRect">
            <a:avLst>
              <a:gd name="adj" fmla="val 14286"/>
            </a:avLst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03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783080" y="16459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画面設計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183880" y="164592"/>
            <a:ext cx="35478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03／10　14:57〜15:03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04088" y="1069848"/>
            <a:ext cx="5486400" cy="0"/>
          </a:xfrm>
          <a:prstGeom prst="line">
            <a:avLst/>
          </a:prstGeom>
          <a:noFill/>
          <a:ln w="25400">
            <a:solidFill>
              <a:srgbClr val="C8CFD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54864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/>
          <p:nvPr/>
        </p:nvSpPr>
        <p:spPr>
          <a:xfrm>
            <a:off x="54864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09728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109728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64592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/>
          <p:nvPr/>
        </p:nvSpPr>
        <p:spPr>
          <a:xfrm>
            <a:off x="164592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194560" y="914400"/>
            <a:ext cx="310896" cy="310896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219456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984248" y="621792"/>
            <a:ext cx="731520" cy="237744"/>
          </a:xfrm>
          <a:prstGeom prst="roundRect">
            <a:avLst>
              <a:gd name="adj" fmla="val 57692"/>
            </a:avLst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1984248" y="62179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いまここ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4320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274320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9184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/>
          <p:nvPr/>
        </p:nvSpPr>
        <p:spPr>
          <a:xfrm>
            <a:off x="329184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84048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Text 20"/>
          <p:cNvSpPr/>
          <p:nvPr/>
        </p:nvSpPr>
        <p:spPr>
          <a:xfrm>
            <a:off x="384048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06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8912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2"/>
          <p:cNvSpPr/>
          <p:nvPr/>
        </p:nvSpPr>
        <p:spPr>
          <a:xfrm>
            <a:off x="438912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07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93776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Text 24"/>
          <p:cNvSpPr/>
          <p:nvPr/>
        </p:nvSpPr>
        <p:spPr>
          <a:xfrm>
            <a:off x="493776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08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Text 26"/>
          <p:cNvSpPr/>
          <p:nvPr/>
        </p:nvSpPr>
        <p:spPr>
          <a:xfrm>
            <a:off x="548640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Text 28"/>
          <p:cNvSpPr/>
          <p:nvPr/>
        </p:nvSpPr>
        <p:spPr>
          <a:xfrm>
            <a:off x="603504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138160" y="1005840"/>
            <a:ext cx="146304" cy="146304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Text 30"/>
          <p:cNvSpPr/>
          <p:nvPr/>
        </p:nvSpPr>
        <p:spPr>
          <a:xfrm>
            <a:off x="8348472" y="9509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完了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345168" y="1005840"/>
            <a:ext cx="146304" cy="146304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4" name="Text 32"/>
          <p:cNvSpPr/>
          <p:nvPr/>
        </p:nvSpPr>
        <p:spPr>
          <a:xfrm>
            <a:off x="9555480" y="9509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いまここ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10552176" y="1005840"/>
            <a:ext cx="146304" cy="146304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Text 34"/>
          <p:cNvSpPr/>
          <p:nvPr/>
        </p:nvSpPr>
        <p:spPr>
          <a:xfrm>
            <a:off x="10762488" y="9509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これから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57200" y="1847088"/>
            <a:ext cx="64008" cy="384048"/>
          </a:xfrm>
          <a:prstGeom prst="rect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8" name="Text 36"/>
          <p:cNvSpPr/>
          <p:nvPr/>
        </p:nvSpPr>
        <p:spPr>
          <a:xfrm>
            <a:off x="640080" y="1828800"/>
            <a:ext cx="11064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利用者が操作する画面と、その流れを決めます。</a:t>
            </a:r>
            <a:endParaRPr lang="en-US" sz="1900" dirty="0"/>
          </a:p>
        </p:txBody>
      </p:sp>
      <p:sp>
        <p:nvSpPr>
          <p:cNvPr id="39" name="Shape 37"/>
          <p:cNvSpPr/>
          <p:nvPr/>
        </p:nvSpPr>
        <p:spPr>
          <a:xfrm>
            <a:off x="457200" y="2395728"/>
            <a:ext cx="56235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0" name="Text 38"/>
          <p:cNvSpPr/>
          <p:nvPr/>
        </p:nvSpPr>
        <p:spPr>
          <a:xfrm>
            <a:off x="685800" y="253288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219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いまやること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685800" y="2944368"/>
            <a:ext cx="292608" cy="292608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2" name="Text 40"/>
          <p:cNvSpPr/>
          <p:nvPr/>
        </p:nvSpPr>
        <p:spPr>
          <a:xfrm>
            <a:off x="685800" y="29443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097280" y="292608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/03-screen-design を実行する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685800" y="3383280"/>
            <a:ext cx="292608" cy="292608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5" name="Text 43"/>
          <p:cNvSpPr/>
          <p:nvPr/>
        </p:nvSpPr>
        <p:spPr>
          <a:xfrm>
            <a:off x="685800" y="3383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1097280" y="336499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画面名・入力項目・ボタンを確認する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685800" y="3822192"/>
            <a:ext cx="292608" cy="292608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8" name="Text 46"/>
          <p:cNvSpPr/>
          <p:nvPr/>
        </p:nvSpPr>
        <p:spPr>
          <a:xfrm>
            <a:off x="685800" y="38221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1097280" y="380390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各機能に対応する画面があるか確認する</a:t>
            </a:r>
            <a:endParaRPr lang="en-US" sz="1500" dirty="0"/>
          </a:p>
        </p:txBody>
      </p:sp>
      <p:sp>
        <p:nvSpPr>
          <p:cNvPr id="50" name="Shape 48"/>
          <p:cNvSpPr/>
          <p:nvPr/>
        </p:nvSpPr>
        <p:spPr>
          <a:xfrm>
            <a:off x="6309360" y="2395728"/>
            <a:ext cx="5422392" cy="2011680"/>
          </a:xfrm>
          <a:prstGeom prst="roundRect">
            <a:avLst>
              <a:gd name="adj" fmla="val 3636"/>
            </a:avLst>
          </a:prstGeom>
          <a:solidFill>
            <a:srgbClr val="FBFCFD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1" name="Text 49"/>
          <p:cNvSpPr/>
          <p:nvPr/>
        </p:nvSpPr>
        <p:spPr>
          <a:xfrm>
            <a:off x="6537960" y="253288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76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できあがるもの</a:t>
            </a:r>
            <a:endParaRPr lang="en-US" sz="1500" dirty="0"/>
          </a:p>
        </p:txBody>
      </p:sp>
      <p:sp>
        <p:nvSpPr>
          <p:cNvPr id="52" name="Shape 50"/>
          <p:cNvSpPr/>
          <p:nvPr/>
        </p:nvSpPr>
        <p:spPr>
          <a:xfrm>
            <a:off x="6565392" y="2962656"/>
            <a:ext cx="201168" cy="256032"/>
          </a:xfrm>
          <a:prstGeom prst="rect">
            <a:avLst/>
          </a:prstGeom>
          <a:solidFill>
            <a:srgbClr val="FFFFFF"/>
          </a:solidFill>
          <a:ln w="15240">
            <a:solidFill>
              <a:srgbClr val="2176D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3" name="Text 51"/>
          <p:cNvSpPr/>
          <p:nvPr/>
        </p:nvSpPr>
        <p:spPr>
          <a:xfrm>
            <a:off x="6876288" y="2926080"/>
            <a:ext cx="4690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2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docs/03-screen-design.md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457200" y="4590288"/>
            <a:ext cx="56235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5" name="Text 53"/>
          <p:cNvSpPr/>
          <p:nvPr/>
        </p:nvSpPr>
        <p:spPr>
          <a:xfrm>
            <a:off x="685800" y="47274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ここまでできたら次へ</a:t>
            </a:r>
            <a:endParaRPr lang="en-US" sz="1500" dirty="0"/>
          </a:p>
        </p:txBody>
      </p:sp>
      <p:sp>
        <p:nvSpPr>
          <p:cNvPr id="56" name="Shape 54"/>
          <p:cNvSpPr/>
          <p:nvPr/>
        </p:nvSpPr>
        <p:spPr>
          <a:xfrm>
            <a:off x="713232" y="5129784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7" name="Text 55"/>
          <p:cNvSpPr/>
          <p:nvPr/>
        </p:nvSpPr>
        <p:spPr>
          <a:xfrm>
            <a:off x="713232" y="51297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1097280" y="5093208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主要画面が3つ以内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713232" y="5495544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0" name="Text 58"/>
          <p:cNvSpPr/>
          <p:nvPr/>
        </p:nvSpPr>
        <p:spPr>
          <a:xfrm>
            <a:off x="713232" y="54955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1097280" y="5458968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各機能に対応する画面がある</a:t>
            </a:r>
            <a:endParaRPr lang="en-US" sz="1400" dirty="0"/>
          </a:p>
        </p:txBody>
      </p:sp>
      <p:sp>
        <p:nvSpPr>
          <p:cNvPr id="62" name="Shape 60"/>
          <p:cNvSpPr/>
          <p:nvPr/>
        </p:nvSpPr>
        <p:spPr>
          <a:xfrm>
            <a:off x="713232" y="5861304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3" name="Text 61"/>
          <p:cNvSpPr/>
          <p:nvPr/>
        </p:nvSpPr>
        <p:spPr>
          <a:xfrm>
            <a:off x="713232" y="58613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1097280" y="5824728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デモログインの注記がある</a:t>
            </a:r>
            <a:endParaRPr lang="en-US" sz="1400" dirty="0"/>
          </a:p>
        </p:txBody>
      </p:sp>
      <p:sp>
        <p:nvSpPr>
          <p:cNvPr id="65" name="Shape 63"/>
          <p:cNvSpPr/>
          <p:nvPr/>
        </p:nvSpPr>
        <p:spPr>
          <a:xfrm>
            <a:off x="6309360" y="4590288"/>
            <a:ext cx="5422392" cy="1737360"/>
          </a:xfrm>
          <a:prstGeom prst="roundRect">
            <a:avLst>
              <a:gd name="adj" fmla="val 4211"/>
            </a:avLst>
          </a:prstGeom>
          <a:solidFill>
            <a:srgbClr val="EEF1F5"/>
          </a:solidFill>
          <a:ln w="1270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6" name="Text 64"/>
          <p:cNvSpPr/>
          <p:nvPr/>
        </p:nvSpPr>
        <p:spPr>
          <a:xfrm>
            <a:off x="6537960" y="47274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このSTEPでは…</a:t>
            </a:r>
            <a:endParaRPr lang="en-US" sz="1500" dirty="0"/>
          </a:p>
        </p:txBody>
      </p:sp>
      <p:sp>
        <p:nvSpPr>
          <p:cNvPr id="67" name="Text 65"/>
          <p:cNvSpPr/>
          <p:nvPr/>
        </p:nvSpPr>
        <p:spPr>
          <a:xfrm>
            <a:off x="6537960" y="5065776"/>
            <a:ext cx="4983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完成アプリの見た目ではなく、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画面の設計図を決めています。</a:t>
            </a:r>
            <a:endParaRPr lang="en-US" sz="1500" dirty="0"/>
          </a:p>
        </p:txBody>
      </p:sp>
      <p:sp>
        <p:nvSpPr>
          <p:cNvPr id="6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82880"/>
            <a:ext cx="1188720" cy="384048"/>
          </a:xfrm>
          <a:prstGeom prst="roundRect">
            <a:avLst>
              <a:gd name="adj" fmla="val 14286"/>
            </a:avLst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04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783080" y="16459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データ設計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183880" y="164592"/>
            <a:ext cx="35478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04／10　15:03〜15:09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04088" y="1069848"/>
            <a:ext cx="5486400" cy="0"/>
          </a:xfrm>
          <a:prstGeom prst="line">
            <a:avLst/>
          </a:prstGeom>
          <a:noFill/>
          <a:ln w="25400">
            <a:solidFill>
              <a:srgbClr val="C8CFD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54864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/>
          <p:nvPr/>
        </p:nvSpPr>
        <p:spPr>
          <a:xfrm>
            <a:off x="54864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09728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109728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64592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/>
          <p:nvPr/>
        </p:nvSpPr>
        <p:spPr>
          <a:xfrm>
            <a:off x="164592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19456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219456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0" y="914400"/>
            <a:ext cx="310896" cy="310896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274320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04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532888" y="621792"/>
            <a:ext cx="731520" cy="237744"/>
          </a:xfrm>
          <a:prstGeom prst="roundRect">
            <a:avLst>
              <a:gd name="adj" fmla="val 57692"/>
            </a:avLst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2532888" y="62179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いまここ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29184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/>
          <p:nvPr/>
        </p:nvSpPr>
        <p:spPr>
          <a:xfrm>
            <a:off x="329184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84048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Text 20"/>
          <p:cNvSpPr/>
          <p:nvPr/>
        </p:nvSpPr>
        <p:spPr>
          <a:xfrm>
            <a:off x="384048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06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8912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2"/>
          <p:cNvSpPr/>
          <p:nvPr/>
        </p:nvSpPr>
        <p:spPr>
          <a:xfrm>
            <a:off x="438912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07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93776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Text 24"/>
          <p:cNvSpPr/>
          <p:nvPr/>
        </p:nvSpPr>
        <p:spPr>
          <a:xfrm>
            <a:off x="493776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08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Text 26"/>
          <p:cNvSpPr/>
          <p:nvPr/>
        </p:nvSpPr>
        <p:spPr>
          <a:xfrm>
            <a:off x="548640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Text 28"/>
          <p:cNvSpPr/>
          <p:nvPr/>
        </p:nvSpPr>
        <p:spPr>
          <a:xfrm>
            <a:off x="603504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138160" y="1005840"/>
            <a:ext cx="146304" cy="146304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Text 30"/>
          <p:cNvSpPr/>
          <p:nvPr/>
        </p:nvSpPr>
        <p:spPr>
          <a:xfrm>
            <a:off x="8348472" y="9509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完了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345168" y="1005840"/>
            <a:ext cx="146304" cy="146304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4" name="Text 32"/>
          <p:cNvSpPr/>
          <p:nvPr/>
        </p:nvSpPr>
        <p:spPr>
          <a:xfrm>
            <a:off x="9555480" y="9509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いまここ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10552176" y="1005840"/>
            <a:ext cx="146304" cy="146304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Text 34"/>
          <p:cNvSpPr/>
          <p:nvPr/>
        </p:nvSpPr>
        <p:spPr>
          <a:xfrm>
            <a:off x="10762488" y="9509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これから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57200" y="1847088"/>
            <a:ext cx="64008" cy="384048"/>
          </a:xfrm>
          <a:prstGeom prst="rect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8" name="Text 36"/>
          <p:cNvSpPr/>
          <p:nvPr/>
        </p:nvSpPr>
        <p:spPr>
          <a:xfrm>
            <a:off x="640080" y="1828800"/>
            <a:ext cx="11064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画面で入力した情報を、保存できる形に整理します。</a:t>
            </a:r>
            <a:endParaRPr lang="en-US" sz="1900" dirty="0"/>
          </a:p>
        </p:txBody>
      </p:sp>
      <p:sp>
        <p:nvSpPr>
          <p:cNvPr id="39" name="Shape 37"/>
          <p:cNvSpPr/>
          <p:nvPr/>
        </p:nvSpPr>
        <p:spPr>
          <a:xfrm>
            <a:off x="457200" y="2395728"/>
            <a:ext cx="56235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0" name="Text 38"/>
          <p:cNvSpPr/>
          <p:nvPr/>
        </p:nvSpPr>
        <p:spPr>
          <a:xfrm>
            <a:off x="685800" y="253288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219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いまやること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685800" y="2944368"/>
            <a:ext cx="292608" cy="292608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2" name="Text 40"/>
          <p:cNvSpPr/>
          <p:nvPr/>
        </p:nvSpPr>
        <p:spPr>
          <a:xfrm>
            <a:off x="685800" y="29443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097280" y="292608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/04-data-design を実行する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685800" y="3383280"/>
            <a:ext cx="292608" cy="292608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5" name="Text 43"/>
          <p:cNvSpPr/>
          <p:nvPr/>
        </p:nvSpPr>
        <p:spPr>
          <a:xfrm>
            <a:off x="685800" y="3383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1097280" y="336499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項目名とデータ例を確認する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685800" y="3822192"/>
            <a:ext cx="292608" cy="292608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8" name="Text 46"/>
          <p:cNvSpPr/>
          <p:nvPr/>
        </p:nvSpPr>
        <p:spPr>
          <a:xfrm>
            <a:off x="685800" y="38221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1097280" y="380390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サンプルデータ3件を確認する</a:t>
            </a:r>
            <a:endParaRPr lang="en-US" sz="1500" dirty="0"/>
          </a:p>
        </p:txBody>
      </p:sp>
      <p:sp>
        <p:nvSpPr>
          <p:cNvPr id="50" name="Shape 48"/>
          <p:cNvSpPr/>
          <p:nvPr/>
        </p:nvSpPr>
        <p:spPr>
          <a:xfrm>
            <a:off x="6309360" y="2395728"/>
            <a:ext cx="5422392" cy="2011680"/>
          </a:xfrm>
          <a:prstGeom prst="roundRect">
            <a:avLst>
              <a:gd name="adj" fmla="val 3636"/>
            </a:avLst>
          </a:prstGeom>
          <a:solidFill>
            <a:srgbClr val="FBFCFD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1" name="Text 49"/>
          <p:cNvSpPr/>
          <p:nvPr/>
        </p:nvSpPr>
        <p:spPr>
          <a:xfrm>
            <a:off x="6537960" y="253288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76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できあがるもの</a:t>
            </a:r>
            <a:endParaRPr lang="en-US" sz="1500" dirty="0"/>
          </a:p>
        </p:txBody>
      </p:sp>
      <p:sp>
        <p:nvSpPr>
          <p:cNvPr id="52" name="Shape 50"/>
          <p:cNvSpPr/>
          <p:nvPr/>
        </p:nvSpPr>
        <p:spPr>
          <a:xfrm>
            <a:off x="6565392" y="2962656"/>
            <a:ext cx="201168" cy="256032"/>
          </a:xfrm>
          <a:prstGeom prst="rect">
            <a:avLst/>
          </a:prstGeom>
          <a:solidFill>
            <a:srgbClr val="FFFFFF"/>
          </a:solidFill>
          <a:ln w="15240">
            <a:solidFill>
              <a:srgbClr val="2176D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3" name="Text 51"/>
          <p:cNvSpPr/>
          <p:nvPr/>
        </p:nvSpPr>
        <p:spPr>
          <a:xfrm>
            <a:off x="6876288" y="2926080"/>
            <a:ext cx="4690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2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docs/04-data-design.md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6565392" y="3346704"/>
            <a:ext cx="201168" cy="256032"/>
          </a:xfrm>
          <a:prstGeom prst="rect">
            <a:avLst/>
          </a:prstGeom>
          <a:solidFill>
            <a:srgbClr val="FFFFFF"/>
          </a:solidFill>
          <a:ln w="15240">
            <a:solidFill>
              <a:srgbClr val="2176D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5" name="Text 53"/>
          <p:cNvSpPr/>
          <p:nvPr/>
        </p:nvSpPr>
        <p:spPr>
          <a:xfrm>
            <a:off x="6876288" y="3310128"/>
            <a:ext cx="4690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2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data/sample-items.json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457200" y="4590288"/>
            <a:ext cx="56235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7" name="Text 55"/>
          <p:cNvSpPr/>
          <p:nvPr/>
        </p:nvSpPr>
        <p:spPr>
          <a:xfrm>
            <a:off x="685800" y="47274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ここまでできたら次へ</a:t>
            </a:r>
            <a:endParaRPr lang="en-US" sz="1500" dirty="0"/>
          </a:p>
        </p:txBody>
      </p:sp>
      <p:sp>
        <p:nvSpPr>
          <p:cNvPr id="58" name="Shape 56"/>
          <p:cNvSpPr/>
          <p:nvPr/>
        </p:nvSpPr>
        <p:spPr>
          <a:xfrm>
            <a:off x="713232" y="5129784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9" name="Text 57"/>
          <p:cNvSpPr/>
          <p:nvPr/>
        </p:nvSpPr>
        <p:spPr>
          <a:xfrm>
            <a:off x="713232" y="51297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1097280" y="5093208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管理するデータが1種類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713232" y="5495544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2" name="Text 60"/>
          <p:cNvSpPr/>
          <p:nvPr/>
        </p:nvSpPr>
        <p:spPr>
          <a:xfrm>
            <a:off x="713232" y="54955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1097280" y="5458968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画面の項目と一致している</a:t>
            </a:r>
            <a:endParaRPr lang="en-US" sz="1400" dirty="0"/>
          </a:p>
        </p:txBody>
      </p:sp>
      <p:sp>
        <p:nvSpPr>
          <p:cNvPr id="64" name="Shape 62"/>
          <p:cNvSpPr/>
          <p:nvPr/>
        </p:nvSpPr>
        <p:spPr>
          <a:xfrm>
            <a:off x="713232" y="5861304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5" name="Text 63"/>
          <p:cNvSpPr/>
          <p:nvPr/>
        </p:nvSpPr>
        <p:spPr>
          <a:xfrm>
            <a:off x="713232" y="58613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1097280" y="5824728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サンプルが3件・実在の情報なし</a:t>
            </a:r>
            <a:endParaRPr lang="en-US" sz="1400" dirty="0"/>
          </a:p>
        </p:txBody>
      </p:sp>
      <p:sp>
        <p:nvSpPr>
          <p:cNvPr id="67" name="Shape 65"/>
          <p:cNvSpPr/>
          <p:nvPr/>
        </p:nvSpPr>
        <p:spPr>
          <a:xfrm>
            <a:off x="6309360" y="4590288"/>
            <a:ext cx="5422392" cy="1737360"/>
          </a:xfrm>
          <a:prstGeom prst="roundRect">
            <a:avLst>
              <a:gd name="adj" fmla="val 4211"/>
            </a:avLst>
          </a:prstGeom>
          <a:solidFill>
            <a:srgbClr val="FFF3E8"/>
          </a:solidFill>
          <a:ln w="12700">
            <a:solidFill>
              <a:srgbClr val="F2C08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8" name="Text 66"/>
          <p:cNvSpPr/>
          <p:nvPr/>
        </p:nvSpPr>
        <p:spPr>
          <a:xfrm>
            <a:off x="6537960" y="47274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660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注意</a:t>
            </a:r>
            <a:endParaRPr lang="en-US" sz="1500" dirty="0"/>
          </a:p>
        </p:txBody>
      </p:sp>
      <p:sp>
        <p:nvSpPr>
          <p:cNvPr id="69" name="Text 67"/>
          <p:cNvSpPr/>
          <p:nvPr/>
        </p:nvSpPr>
        <p:spPr>
          <a:xfrm>
            <a:off x="6537960" y="5065776"/>
            <a:ext cx="4983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実在する顧客名や個人情報は入力しません。保存先はまだ決めません（次のSTEPでAIが選びます）。</a:t>
            </a:r>
            <a:endParaRPr lang="en-US" sz="1500" dirty="0"/>
          </a:p>
        </p:txBody>
      </p:sp>
      <p:sp>
        <p:nvSpPr>
          <p:cNvPr id="7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82880"/>
            <a:ext cx="1188720" cy="384048"/>
          </a:xfrm>
          <a:prstGeom prst="roundRect">
            <a:avLst>
              <a:gd name="adj" fmla="val 14286"/>
            </a:avLst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05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783080" y="16459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Azure構成の選択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183880" y="164592"/>
            <a:ext cx="35478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05／10　15:09〜15:15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04088" y="1069848"/>
            <a:ext cx="5486400" cy="0"/>
          </a:xfrm>
          <a:prstGeom prst="line">
            <a:avLst/>
          </a:prstGeom>
          <a:noFill/>
          <a:ln w="25400">
            <a:solidFill>
              <a:srgbClr val="C8CFD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54864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/>
          <p:nvPr/>
        </p:nvSpPr>
        <p:spPr>
          <a:xfrm>
            <a:off x="54864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09728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109728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64592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/>
          <p:nvPr/>
        </p:nvSpPr>
        <p:spPr>
          <a:xfrm>
            <a:off x="164592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19456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219456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274320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04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91840" y="914400"/>
            <a:ext cx="310896" cy="310896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329184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081528" y="621792"/>
            <a:ext cx="731520" cy="237744"/>
          </a:xfrm>
          <a:prstGeom prst="roundRect">
            <a:avLst>
              <a:gd name="adj" fmla="val 57692"/>
            </a:avLst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/>
          <p:nvPr/>
        </p:nvSpPr>
        <p:spPr>
          <a:xfrm>
            <a:off x="3081528" y="62179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いまここ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84048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Text 20"/>
          <p:cNvSpPr/>
          <p:nvPr/>
        </p:nvSpPr>
        <p:spPr>
          <a:xfrm>
            <a:off x="384048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06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8912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2"/>
          <p:cNvSpPr/>
          <p:nvPr/>
        </p:nvSpPr>
        <p:spPr>
          <a:xfrm>
            <a:off x="438912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07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93776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Text 24"/>
          <p:cNvSpPr/>
          <p:nvPr/>
        </p:nvSpPr>
        <p:spPr>
          <a:xfrm>
            <a:off x="493776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08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Text 26"/>
          <p:cNvSpPr/>
          <p:nvPr/>
        </p:nvSpPr>
        <p:spPr>
          <a:xfrm>
            <a:off x="548640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Text 28"/>
          <p:cNvSpPr/>
          <p:nvPr/>
        </p:nvSpPr>
        <p:spPr>
          <a:xfrm>
            <a:off x="603504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138160" y="1005840"/>
            <a:ext cx="146304" cy="146304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Text 30"/>
          <p:cNvSpPr/>
          <p:nvPr/>
        </p:nvSpPr>
        <p:spPr>
          <a:xfrm>
            <a:off x="8348472" y="9509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完了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345168" y="1005840"/>
            <a:ext cx="146304" cy="146304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4" name="Text 32"/>
          <p:cNvSpPr/>
          <p:nvPr/>
        </p:nvSpPr>
        <p:spPr>
          <a:xfrm>
            <a:off x="9555480" y="9509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いまここ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10552176" y="1005840"/>
            <a:ext cx="146304" cy="146304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Text 34"/>
          <p:cNvSpPr/>
          <p:nvPr/>
        </p:nvSpPr>
        <p:spPr>
          <a:xfrm>
            <a:off x="10762488" y="9509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これから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57200" y="1847088"/>
            <a:ext cx="64008" cy="384048"/>
          </a:xfrm>
          <a:prstGeom prst="rect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8" name="Text 36"/>
          <p:cNvSpPr/>
          <p:nvPr/>
        </p:nvSpPr>
        <p:spPr>
          <a:xfrm>
            <a:off x="640080" y="1828800"/>
            <a:ext cx="11064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課題に合わせて、AIがデータの保存先（Azureの構成）を選びます。</a:t>
            </a:r>
            <a:endParaRPr lang="en-US" sz="1900" dirty="0"/>
          </a:p>
        </p:txBody>
      </p:sp>
      <p:sp>
        <p:nvSpPr>
          <p:cNvPr id="39" name="Shape 37"/>
          <p:cNvSpPr/>
          <p:nvPr/>
        </p:nvSpPr>
        <p:spPr>
          <a:xfrm>
            <a:off x="457200" y="2395728"/>
            <a:ext cx="457200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0" name="Text 38"/>
          <p:cNvSpPr/>
          <p:nvPr/>
        </p:nvSpPr>
        <p:spPr>
          <a:xfrm>
            <a:off x="685800" y="2560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219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いまやること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685800" y="2990088"/>
            <a:ext cx="292608" cy="292608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2" name="Text 40"/>
          <p:cNvSpPr/>
          <p:nvPr/>
        </p:nvSpPr>
        <p:spPr>
          <a:xfrm>
            <a:off x="685800" y="2990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097280" y="2971800"/>
            <a:ext cx="3794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/05-architecture を実行する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85800" y="3557016"/>
            <a:ext cx="292608" cy="292608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5" name="Text 43"/>
          <p:cNvSpPr/>
          <p:nvPr/>
        </p:nvSpPr>
        <p:spPr>
          <a:xfrm>
            <a:off x="685800" y="35570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1097280" y="3538728"/>
            <a:ext cx="3794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docs/05-architecture.md の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1行目でパターンを確認する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685800" y="4123944"/>
            <a:ext cx="292608" cy="292608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8" name="Text 46"/>
          <p:cNvSpPr/>
          <p:nvPr/>
        </p:nvSpPr>
        <p:spPr>
          <a:xfrm>
            <a:off x="685800" y="4123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1097280" y="4105656"/>
            <a:ext cx="3794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選んだ理由を読む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5257800" y="2395728"/>
            <a:ext cx="3200400" cy="2377440"/>
          </a:xfrm>
          <a:prstGeom prst="roundRect">
            <a:avLst>
              <a:gd name="adj" fmla="val 3077"/>
            </a:avLst>
          </a:prstGeom>
          <a:solidFill>
            <a:srgbClr val="E3F4F5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1" name="Text 49"/>
          <p:cNvSpPr/>
          <p:nvPr/>
        </p:nvSpPr>
        <p:spPr>
          <a:xfrm>
            <a:off x="5257800" y="25146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7C8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パターンA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57800" y="280720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Blob Storage</a:t>
            </a:r>
            <a:endParaRPr lang="en-US" sz="2000" dirty="0"/>
          </a:p>
        </p:txBody>
      </p:sp>
      <p:sp>
        <p:nvSpPr>
          <p:cNvPr id="53" name="Shape 51"/>
          <p:cNvSpPr/>
          <p:nvPr/>
        </p:nvSpPr>
        <p:spPr>
          <a:xfrm>
            <a:off x="5532120" y="337413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4" name="Text 52"/>
          <p:cNvSpPr/>
          <p:nvPr/>
        </p:nvSpPr>
        <p:spPr>
          <a:xfrm>
            <a:off x="5532120" y="33741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7C8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5916168" y="3337560"/>
            <a:ext cx="235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少人数で使う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5532120" y="3794760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7" name="Text 55"/>
          <p:cNvSpPr/>
          <p:nvPr/>
        </p:nvSpPr>
        <p:spPr>
          <a:xfrm>
            <a:off x="5532120" y="37947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7C8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5916168" y="3758184"/>
            <a:ext cx="235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データは数百件程度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5532120" y="4215384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0" name="Text 58"/>
          <p:cNvSpPr/>
          <p:nvPr/>
        </p:nvSpPr>
        <p:spPr>
          <a:xfrm>
            <a:off x="5532120" y="42153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7C8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5916168" y="4178808"/>
            <a:ext cx="235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一覧と登録が中心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8531352" y="2395728"/>
            <a:ext cx="3200400" cy="2377440"/>
          </a:xfrm>
          <a:prstGeom prst="roundRect">
            <a:avLst>
              <a:gd name="adj" fmla="val 3077"/>
            </a:avLst>
          </a:prstGeom>
          <a:solidFill>
            <a:srgbClr val="F2EAFE"/>
          </a:solidFill>
          <a:ln w="12700">
            <a:solidFill>
              <a:srgbClr val="7A3FB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3" name="Text 61"/>
          <p:cNvSpPr/>
          <p:nvPr/>
        </p:nvSpPr>
        <p:spPr>
          <a:xfrm>
            <a:off x="8531352" y="25146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A3F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パターンB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8531352" y="280720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Cosmos DB</a:t>
            </a:r>
            <a:endParaRPr lang="en-US" sz="2000" dirty="0"/>
          </a:p>
        </p:txBody>
      </p:sp>
      <p:sp>
        <p:nvSpPr>
          <p:cNvPr id="65" name="Shape 63"/>
          <p:cNvSpPr/>
          <p:nvPr/>
        </p:nvSpPr>
        <p:spPr>
          <a:xfrm>
            <a:off x="8805672" y="337413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7A3FB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6" name="Text 64"/>
          <p:cNvSpPr/>
          <p:nvPr/>
        </p:nvSpPr>
        <p:spPr>
          <a:xfrm>
            <a:off x="8805672" y="33741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A3F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9189720" y="3337560"/>
            <a:ext cx="235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複数の人が同時に更新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8805672" y="3794760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7A3FB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9" name="Text 67"/>
          <p:cNvSpPr/>
          <p:nvPr/>
        </p:nvSpPr>
        <p:spPr>
          <a:xfrm>
            <a:off x="8805672" y="37947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A3F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200" dirty="0"/>
          </a:p>
        </p:txBody>
      </p:sp>
      <p:sp>
        <p:nvSpPr>
          <p:cNvPr id="70" name="Text 68"/>
          <p:cNvSpPr/>
          <p:nvPr/>
        </p:nvSpPr>
        <p:spPr>
          <a:xfrm>
            <a:off x="9189720" y="3758184"/>
            <a:ext cx="235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件数が増える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8805672" y="4215384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7A3FB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2" name="Text 70"/>
          <p:cNvSpPr/>
          <p:nvPr/>
        </p:nvSpPr>
        <p:spPr>
          <a:xfrm>
            <a:off x="8805672" y="42153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A3F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200" dirty="0"/>
          </a:p>
        </p:txBody>
      </p:sp>
      <p:sp>
        <p:nvSpPr>
          <p:cNvPr id="73" name="Text 71"/>
          <p:cNvSpPr/>
          <p:nvPr/>
        </p:nvSpPr>
        <p:spPr>
          <a:xfrm>
            <a:off x="9189720" y="4178808"/>
            <a:ext cx="235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検索・絞り込みしたい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457200" y="4956048"/>
            <a:ext cx="56235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75" name="Text 73"/>
          <p:cNvSpPr/>
          <p:nvPr/>
        </p:nvSpPr>
        <p:spPr>
          <a:xfrm>
            <a:off x="685800" y="50932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ここまでできたら次へ</a:t>
            </a:r>
            <a:endParaRPr lang="en-US" sz="1500" dirty="0"/>
          </a:p>
        </p:txBody>
      </p:sp>
      <p:sp>
        <p:nvSpPr>
          <p:cNvPr id="76" name="Shape 74"/>
          <p:cNvSpPr/>
          <p:nvPr/>
        </p:nvSpPr>
        <p:spPr>
          <a:xfrm>
            <a:off x="713232" y="5504688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7" name="Text 75"/>
          <p:cNvSpPr/>
          <p:nvPr/>
        </p:nvSpPr>
        <p:spPr>
          <a:xfrm>
            <a:off x="713232" y="55046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200" dirty="0"/>
          </a:p>
        </p:txBody>
      </p:sp>
      <p:sp>
        <p:nvSpPr>
          <p:cNvPr id="78" name="Text 76"/>
          <p:cNvSpPr/>
          <p:nvPr/>
        </p:nvSpPr>
        <p:spPr>
          <a:xfrm>
            <a:off x="1097280" y="5468112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「選択：パターンA」または「B」と書かれている</a:t>
            </a:r>
            <a:endParaRPr lang="en-US" sz="1400" dirty="0"/>
          </a:p>
        </p:txBody>
      </p:sp>
      <p:sp>
        <p:nvSpPr>
          <p:cNvPr id="79" name="Shape 77"/>
          <p:cNvSpPr/>
          <p:nvPr/>
        </p:nvSpPr>
        <p:spPr>
          <a:xfrm>
            <a:off x="713232" y="588873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0" name="Text 78"/>
          <p:cNvSpPr/>
          <p:nvPr/>
        </p:nvSpPr>
        <p:spPr>
          <a:xfrm>
            <a:off x="713232" y="5888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200" dirty="0"/>
          </a:p>
        </p:txBody>
      </p:sp>
      <p:sp>
        <p:nvSpPr>
          <p:cNvPr id="81" name="Text 79"/>
          <p:cNvSpPr/>
          <p:nvPr/>
        </p:nvSpPr>
        <p:spPr>
          <a:xfrm>
            <a:off x="1097280" y="5852160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選んだ理由が自分の課題と合っている</a:t>
            </a:r>
            <a:endParaRPr lang="en-US" sz="1400" dirty="0"/>
          </a:p>
        </p:txBody>
      </p:sp>
      <p:sp>
        <p:nvSpPr>
          <p:cNvPr id="82" name="Shape 80"/>
          <p:cNvSpPr/>
          <p:nvPr/>
        </p:nvSpPr>
        <p:spPr>
          <a:xfrm>
            <a:off x="6309360" y="4956048"/>
            <a:ext cx="5422392" cy="1371600"/>
          </a:xfrm>
          <a:prstGeom prst="roundRect">
            <a:avLst>
              <a:gd name="adj" fmla="val 5333"/>
            </a:avLst>
          </a:prstGeom>
          <a:solidFill>
            <a:srgbClr val="EEF1F5"/>
          </a:solidFill>
          <a:ln w="1270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3" name="Text 81"/>
          <p:cNvSpPr/>
          <p:nvPr/>
        </p:nvSpPr>
        <p:spPr>
          <a:xfrm>
            <a:off x="6537960" y="50932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このSTEPでは…</a:t>
            </a:r>
            <a:endParaRPr lang="en-US" sz="1500" dirty="0"/>
          </a:p>
        </p:txBody>
      </p:sp>
      <p:sp>
        <p:nvSpPr>
          <p:cNvPr id="84" name="Text 82"/>
          <p:cNvSpPr/>
          <p:nvPr/>
        </p:nvSpPr>
        <p:spPr>
          <a:xfrm>
            <a:off x="6537960" y="5440680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隣の人と構成が違っていて大丈夫です。</a:t>
            </a:r>
            <a:endParaRPr lang="en-US" sz="1350" dirty="0"/>
          </a:p>
          <a:p>
            <a:pPr marL="0" indent="0">
              <a:buNone/>
            </a:pPr>
            <a:r>
              <a:rPr lang="en-US" sz="1350" b="1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理由が違うと思えば「同時に更新するのは10人」など伝えて見直してもらいます。</a:t>
            </a:r>
            <a:endParaRPr lang="en-US" sz="1350" dirty="0"/>
          </a:p>
        </p:txBody>
      </p:sp>
      <p:sp>
        <p:nvSpPr>
          <p:cNvPr id="8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82880"/>
            <a:ext cx="1188720" cy="384048"/>
          </a:xfrm>
          <a:prstGeom prst="roundRect">
            <a:avLst>
              <a:gd name="adj" fmla="val 14286"/>
            </a:avLst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06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783080" y="16459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Azure環境をつくる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720840" y="219456"/>
            <a:ext cx="1371600" cy="310896"/>
          </a:xfrm>
          <a:prstGeom prst="roundRect">
            <a:avLst>
              <a:gd name="adj" fmla="val 44118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6720840" y="21945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76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標準ゴール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183880" y="164592"/>
            <a:ext cx="35478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06／10　15:15〜15:25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04088" y="1069848"/>
            <a:ext cx="5486400" cy="0"/>
          </a:xfrm>
          <a:prstGeom prst="line">
            <a:avLst/>
          </a:prstGeom>
          <a:noFill/>
          <a:ln w="25400">
            <a:solidFill>
              <a:srgbClr val="C8CFD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54864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54864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09728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/>
          <p:nvPr/>
        </p:nvSpPr>
        <p:spPr>
          <a:xfrm>
            <a:off x="109728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64592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164592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19456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219456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4320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274320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9184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/>
          <p:nvPr/>
        </p:nvSpPr>
        <p:spPr>
          <a:xfrm>
            <a:off x="329184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840480" y="914400"/>
            <a:ext cx="310896" cy="310896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Text 20"/>
          <p:cNvSpPr/>
          <p:nvPr/>
        </p:nvSpPr>
        <p:spPr>
          <a:xfrm>
            <a:off x="384048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06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30168" y="621792"/>
            <a:ext cx="731520" cy="237744"/>
          </a:xfrm>
          <a:prstGeom prst="roundRect">
            <a:avLst>
              <a:gd name="adj" fmla="val 57692"/>
            </a:avLst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2"/>
          <p:cNvSpPr/>
          <p:nvPr/>
        </p:nvSpPr>
        <p:spPr>
          <a:xfrm>
            <a:off x="3630168" y="62179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いまここ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38912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Text 24"/>
          <p:cNvSpPr/>
          <p:nvPr/>
        </p:nvSpPr>
        <p:spPr>
          <a:xfrm>
            <a:off x="438912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07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93776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Text 26"/>
          <p:cNvSpPr/>
          <p:nvPr/>
        </p:nvSpPr>
        <p:spPr>
          <a:xfrm>
            <a:off x="493776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08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Text 28"/>
          <p:cNvSpPr/>
          <p:nvPr/>
        </p:nvSpPr>
        <p:spPr>
          <a:xfrm>
            <a:off x="548640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09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03504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Text 30"/>
          <p:cNvSpPr/>
          <p:nvPr/>
        </p:nvSpPr>
        <p:spPr>
          <a:xfrm>
            <a:off x="603504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138160" y="1005840"/>
            <a:ext cx="146304" cy="146304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4" name="Text 32"/>
          <p:cNvSpPr/>
          <p:nvPr/>
        </p:nvSpPr>
        <p:spPr>
          <a:xfrm>
            <a:off x="8348472" y="9509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完了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9345168" y="1005840"/>
            <a:ext cx="146304" cy="146304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Text 34"/>
          <p:cNvSpPr/>
          <p:nvPr/>
        </p:nvSpPr>
        <p:spPr>
          <a:xfrm>
            <a:off x="9555480" y="9509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いまここ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0552176" y="1005840"/>
            <a:ext cx="146304" cy="146304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8" name="Text 36"/>
          <p:cNvSpPr/>
          <p:nvPr/>
        </p:nvSpPr>
        <p:spPr>
          <a:xfrm>
            <a:off x="10762488" y="9509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これから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" y="1847088"/>
            <a:ext cx="64008" cy="384048"/>
          </a:xfrm>
          <a:prstGeom prst="rect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0" name="Text 38"/>
          <p:cNvSpPr/>
          <p:nvPr/>
        </p:nvSpPr>
        <p:spPr>
          <a:xfrm>
            <a:off x="640080" y="1828800"/>
            <a:ext cx="11064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AIが選んだ構成の設計図（Terraform）をつくり、自分でAzureに構築を始めます。</a:t>
            </a:r>
            <a:endParaRPr lang="en-US" sz="1900" dirty="0"/>
          </a:p>
        </p:txBody>
      </p:sp>
      <p:sp>
        <p:nvSpPr>
          <p:cNvPr id="41" name="Shape 39"/>
          <p:cNvSpPr/>
          <p:nvPr/>
        </p:nvSpPr>
        <p:spPr>
          <a:xfrm>
            <a:off x="457200" y="2377440"/>
            <a:ext cx="11274552" cy="420624"/>
          </a:xfrm>
          <a:prstGeom prst="roundRect">
            <a:avLst>
              <a:gd name="adj" fmla="val 13043"/>
            </a:avLst>
          </a:prstGeom>
          <a:solidFill>
            <a:srgbClr val="1C2736"/>
          </a:solidFill>
          <a:ln w="12700">
            <a:solidFill>
              <a:srgbClr val="1C273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2" name="Text 40"/>
          <p:cNvSpPr/>
          <p:nvPr/>
        </p:nvSpPr>
        <p:spPr>
          <a:xfrm>
            <a:off x="594360" y="237744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FC0D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ターミナルに入力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2148840" y="2377440"/>
            <a:ext cx="9445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E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.\scripts\init-tfvars.cmd -ResourceGroup &lt;配布カードのRG名&gt;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457200" y="2907792"/>
            <a:ext cx="56235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5" name="Text 43"/>
          <p:cNvSpPr/>
          <p:nvPr/>
        </p:nvSpPr>
        <p:spPr>
          <a:xfrm>
            <a:off x="685800" y="30449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219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いまやること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685800" y="3456432"/>
            <a:ext cx="292608" cy="292608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7" name="Text 45"/>
          <p:cNvSpPr/>
          <p:nvPr/>
        </p:nvSpPr>
        <p:spPr>
          <a:xfrm>
            <a:off x="685800" y="34564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1097280" y="343814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上のコマンドを実行（&lt;&gt;は配布カードの値に）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685800" y="3858768"/>
            <a:ext cx="292608" cy="292608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0" name="Text 48"/>
          <p:cNvSpPr/>
          <p:nvPr/>
        </p:nvSpPr>
        <p:spPr>
          <a:xfrm>
            <a:off x="685800" y="3858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097280" y="384048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/06-infrastructure を実行（planまで）</a:t>
            </a:r>
            <a:endParaRPr lang="en-US" sz="1500" dirty="0"/>
          </a:p>
        </p:txBody>
      </p:sp>
      <p:sp>
        <p:nvSpPr>
          <p:cNvPr id="52" name="Shape 50"/>
          <p:cNvSpPr/>
          <p:nvPr/>
        </p:nvSpPr>
        <p:spPr>
          <a:xfrm>
            <a:off x="685800" y="4261104"/>
            <a:ext cx="292608" cy="292608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3" name="Text 51"/>
          <p:cNvSpPr/>
          <p:nvPr/>
        </p:nvSpPr>
        <p:spPr>
          <a:xfrm>
            <a:off x="685800" y="4261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1097280" y="424281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新しいターミナルで apply → yes</a:t>
            </a:r>
            <a:endParaRPr lang="en-US" sz="1500" dirty="0"/>
          </a:p>
        </p:txBody>
      </p:sp>
      <p:sp>
        <p:nvSpPr>
          <p:cNvPr id="55" name="Shape 53"/>
          <p:cNvSpPr/>
          <p:nvPr/>
        </p:nvSpPr>
        <p:spPr>
          <a:xfrm>
            <a:off x="6309360" y="2907792"/>
            <a:ext cx="5422392" cy="1783080"/>
          </a:xfrm>
          <a:prstGeom prst="roundRect">
            <a:avLst>
              <a:gd name="adj" fmla="val 4103"/>
            </a:avLst>
          </a:prstGeom>
          <a:solidFill>
            <a:srgbClr val="FBFCFD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6" name="Text 54"/>
          <p:cNvSpPr/>
          <p:nvPr/>
        </p:nvSpPr>
        <p:spPr>
          <a:xfrm>
            <a:off x="6537960" y="30449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76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できあがるもの</a:t>
            </a:r>
            <a:endParaRPr lang="en-US" sz="1500" dirty="0"/>
          </a:p>
        </p:txBody>
      </p:sp>
      <p:sp>
        <p:nvSpPr>
          <p:cNvPr id="57" name="Shape 55"/>
          <p:cNvSpPr/>
          <p:nvPr/>
        </p:nvSpPr>
        <p:spPr>
          <a:xfrm>
            <a:off x="6565392" y="3474720"/>
            <a:ext cx="201168" cy="256032"/>
          </a:xfrm>
          <a:prstGeom prst="rect">
            <a:avLst/>
          </a:prstGeom>
          <a:solidFill>
            <a:srgbClr val="FFFFFF"/>
          </a:solidFill>
          <a:ln w="15240">
            <a:solidFill>
              <a:srgbClr val="2176D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8" name="Text 56"/>
          <p:cNvSpPr/>
          <p:nvPr/>
        </p:nvSpPr>
        <p:spPr>
          <a:xfrm>
            <a:off x="6876288" y="3438144"/>
            <a:ext cx="4690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2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infra/terraform/main.tf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6565392" y="3858768"/>
            <a:ext cx="201168" cy="256032"/>
          </a:xfrm>
          <a:prstGeom prst="rect">
            <a:avLst/>
          </a:prstGeom>
          <a:solidFill>
            <a:srgbClr val="FFFFFF"/>
          </a:solidFill>
          <a:ln w="15240">
            <a:solidFill>
              <a:srgbClr val="2176D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0" name="Text 58"/>
          <p:cNvSpPr/>
          <p:nvPr/>
        </p:nvSpPr>
        <p:spPr>
          <a:xfrm>
            <a:off x="6876288" y="3822192"/>
            <a:ext cx="4690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2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infra/terraform/outputs.tf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6565392" y="4242816"/>
            <a:ext cx="201168" cy="256032"/>
          </a:xfrm>
          <a:prstGeom prst="rect">
            <a:avLst/>
          </a:prstGeom>
          <a:solidFill>
            <a:srgbClr val="FFFFFF"/>
          </a:solidFill>
          <a:ln w="15240">
            <a:solidFill>
              <a:srgbClr val="2176D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2" name="Text 60"/>
          <p:cNvSpPr/>
          <p:nvPr/>
        </p:nvSpPr>
        <p:spPr>
          <a:xfrm>
            <a:off x="6876288" y="4206240"/>
            <a:ext cx="4690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2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docs/06-infrastructure.md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457200" y="4800600"/>
            <a:ext cx="5623560" cy="1527048"/>
          </a:xfrm>
          <a:prstGeom prst="roundRect">
            <a:avLst>
              <a:gd name="adj" fmla="val 4790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64" name="Text 62"/>
          <p:cNvSpPr/>
          <p:nvPr/>
        </p:nvSpPr>
        <p:spPr>
          <a:xfrm>
            <a:off x="685800" y="493776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ここまでできたら次へ</a:t>
            </a:r>
            <a:endParaRPr lang="en-US" sz="1500" dirty="0"/>
          </a:p>
        </p:txBody>
      </p:sp>
      <p:sp>
        <p:nvSpPr>
          <p:cNvPr id="65" name="Shape 63"/>
          <p:cNvSpPr/>
          <p:nvPr/>
        </p:nvSpPr>
        <p:spPr>
          <a:xfrm>
            <a:off x="713232" y="534009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6" name="Text 64"/>
          <p:cNvSpPr/>
          <p:nvPr/>
        </p:nvSpPr>
        <p:spPr>
          <a:xfrm>
            <a:off x="713232" y="5340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097280" y="5303520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plan の結果にエラーがない</a:t>
            </a:r>
            <a:endParaRPr lang="en-US" sz="1400" dirty="0"/>
          </a:p>
        </p:txBody>
      </p:sp>
      <p:sp>
        <p:nvSpPr>
          <p:cNvPr id="68" name="Shape 66"/>
          <p:cNvSpPr/>
          <p:nvPr/>
        </p:nvSpPr>
        <p:spPr>
          <a:xfrm>
            <a:off x="713232" y="5669280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9" name="Text 67"/>
          <p:cNvSpPr/>
          <p:nvPr/>
        </p:nvSpPr>
        <p:spPr>
          <a:xfrm>
            <a:off x="713232" y="56692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200" dirty="0"/>
          </a:p>
        </p:txBody>
      </p:sp>
      <p:sp>
        <p:nvSpPr>
          <p:cNvPr id="70" name="Text 68"/>
          <p:cNvSpPr/>
          <p:nvPr/>
        </p:nvSpPr>
        <p:spPr>
          <a:xfrm>
            <a:off x="1097280" y="5632704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新しいターミナルで apply を開始した</a:t>
            </a:r>
            <a:endParaRPr lang="en-US" sz="1400" dirty="0"/>
          </a:p>
        </p:txBody>
      </p:sp>
      <p:sp>
        <p:nvSpPr>
          <p:cNvPr id="71" name="Shape 69"/>
          <p:cNvSpPr/>
          <p:nvPr/>
        </p:nvSpPr>
        <p:spPr>
          <a:xfrm>
            <a:off x="713232" y="5998464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2" name="Text 70"/>
          <p:cNvSpPr/>
          <p:nvPr/>
        </p:nvSpPr>
        <p:spPr>
          <a:xfrm>
            <a:off x="713232" y="5998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200" dirty="0"/>
          </a:p>
        </p:txBody>
      </p:sp>
      <p:sp>
        <p:nvSpPr>
          <p:cNvPr id="73" name="Text 71"/>
          <p:cNvSpPr/>
          <p:nvPr/>
        </p:nvSpPr>
        <p:spPr>
          <a:xfrm>
            <a:off x="1097280" y="5961888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終わるのを待たずに STEP07 へ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309360" y="4800600"/>
            <a:ext cx="5422392" cy="1527048"/>
          </a:xfrm>
          <a:prstGeom prst="roundRect">
            <a:avLst>
              <a:gd name="adj" fmla="val 4790"/>
            </a:avLst>
          </a:prstGeom>
          <a:solidFill>
            <a:srgbClr val="FFF3E8"/>
          </a:solidFill>
          <a:ln w="12700">
            <a:solidFill>
              <a:srgbClr val="F2C08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5" name="Text 73"/>
          <p:cNvSpPr/>
          <p:nvPr/>
        </p:nvSpPr>
        <p:spPr>
          <a:xfrm>
            <a:off x="6537960" y="493776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660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注意</a:t>
            </a:r>
            <a:endParaRPr lang="en-US" sz="1500" dirty="0"/>
          </a:p>
        </p:txBody>
      </p:sp>
      <p:sp>
        <p:nvSpPr>
          <p:cNvPr id="76" name="Text 74"/>
          <p:cNvSpPr/>
          <p:nvPr/>
        </p:nvSpPr>
        <p:spPr>
          <a:xfrm>
            <a:off x="6537960" y="5276088"/>
            <a:ext cx="4983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plan が通ったら、ターミナルの「＋」で新しいターミナルを開いて入力：</a:t>
            </a:r>
            <a:endParaRPr lang="en-US" sz="1250" dirty="0"/>
          </a:p>
          <a:p>
            <a:pPr marL="0" indent="0">
              <a:buNone/>
            </a:pPr>
            <a:r>
              <a:rPr lang="en-US" sz="1250" b="1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terraform -chdir=infra/terraform apply</a:t>
            </a:r>
            <a:endParaRPr lang="en-US" sz="1250" dirty="0"/>
          </a:p>
          <a:p>
            <a:pPr marL="0" indent="0">
              <a:buNone/>
            </a:pPr>
            <a:r>
              <a:rPr lang="en-US" sz="1250" b="1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Copilotには実行させません。そのターミナルは閉じません。</a:t>
            </a:r>
            <a:endParaRPr lang="en-US" sz="1250" dirty="0"/>
          </a:p>
        </p:txBody>
      </p:sp>
      <p:sp>
        <p:nvSpPr>
          <p:cNvPr id="7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82880"/>
            <a:ext cx="1188720" cy="384048"/>
          </a:xfrm>
          <a:prstGeom prst="roundRect">
            <a:avLst>
              <a:gd name="adj" fmla="val 14286"/>
            </a:avLst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07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783080" y="16459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アプリ実装（前半）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183880" y="164592"/>
            <a:ext cx="35478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07／10　15:25〜15:47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04088" y="1069848"/>
            <a:ext cx="5486400" cy="0"/>
          </a:xfrm>
          <a:prstGeom prst="line">
            <a:avLst/>
          </a:prstGeom>
          <a:noFill/>
          <a:ln w="25400">
            <a:solidFill>
              <a:srgbClr val="C8CFD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54864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/>
          <p:nvPr/>
        </p:nvSpPr>
        <p:spPr>
          <a:xfrm>
            <a:off x="54864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09728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109728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64592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/>
          <p:nvPr/>
        </p:nvSpPr>
        <p:spPr>
          <a:xfrm>
            <a:off x="164592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19456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219456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274320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04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9184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329184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84048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/>
          <p:nvPr/>
        </p:nvSpPr>
        <p:spPr>
          <a:xfrm>
            <a:off x="384048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389120" y="914400"/>
            <a:ext cx="310896" cy="310896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Text 20"/>
          <p:cNvSpPr/>
          <p:nvPr/>
        </p:nvSpPr>
        <p:spPr>
          <a:xfrm>
            <a:off x="438912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178808" y="621792"/>
            <a:ext cx="731520" cy="237744"/>
          </a:xfrm>
          <a:prstGeom prst="roundRect">
            <a:avLst>
              <a:gd name="adj" fmla="val 57692"/>
            </a:avLst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2"/>
          <p:cNvSpPr/>
          <p:nvPr/>
        </p:nvSpPr>
        <p:spPr>
          <a:xfrm>
            <a:off x="4178808" y="62179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いまここ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93776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Text 24"/>
          <p:cNvSpPr/>
          <p:nvPr/>
        </p:nvSpPr>
        <p:spPr>
          <a:xfrm>
            <a:off x="493776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08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Text 26"/>
          <p:cNvSpPr/>
          <p:nvPr/>
        </p:nvSpPr>
        <p:spPr>
          <a:xfrm>
            <a:off x="548640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Text 28"/>
          <p:cNvSpPr/>
          <p:nvPr/>
        </p:nvSpPr>
        <p:spPr>
          <a:xfrm>
            <a:off x="603504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138160" y="1005840"/>
            <a:ext cx="146304" cy="146304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Text 30"/>
          <p:cNvSpPr/>
          <p:nvPr/>
        </p:nvSpPr>
        <p:spPr>
          <a:xfrm>
            <a:off x="8348472" y="9509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完了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345168" y="1005840"/>
            <a:ext cx="146304" cy="146304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4" name="Text 32"/>
          <p:cNvSpPr/>
          <p:nvPr/>
        </p:nvSpPr>
        <p:spPr>
          <a:xfrm>
            <a:off x="9555480" y="9509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いまここ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10552176" y="1005840"/>
            <a:ext cx="146304" cy="146304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Text 34"/>
          <p:cNvSpPr/>
          <p:nvPr/>
        </p:nvSpPr>
        <p:spPr>
          <a:xfrm>
            <a:off x="10762488" y="9509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これから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57200" y="1847088"/>
            <a:ext cx="64008" cy="384048"/>
          </a:xfrm>
          <a:prstGeom prst="rect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8" name="Text 36"/>
          <p:cNvSpPr/>
          <p:nvPr/>
        </p:nvSpPr>
        <p:spPr>
          <a:xfrm>
            <a:off x="640080" y="1828800"/>
            <a:ext cx="11064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設計書をもとに、Copilotが実際のPython Webアプリをつくります。</a:t>
            </a:r>
            <a:endParaRPr lang="en-US" sz="1900" dirty="0"/>
          </a:p>
        </p:txBody>
      </p:sp>
      <p:sp>
        <p:nvSpPr>
          <p:cNvPr id="39" name="Shape 37"/>
          <p:cNvSpPr/>
          <p:nvPr/>
        </p:nvSpPr>
        <p:spPr>
          <a:xfrm>
            <a:off x="457200" y="2395728"/>
            <a:ext cx="420624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0" name="Text 38"/>
          <p:cNvSpPr/>
          <p:nvPr/>
        </p:nvSpPr>
        <p:spPr>
          <a:xfrm>
            <a:off x="685800" y="2560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219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いまやること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685800" y="3035808"/>
            <a:ext cx="292608" cy="292608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2" name="Text 40"/>
          <p:cNvSpPr/>
          <p:nvPr/>
        </p:nvSpPr>
        <p:spPr>
          <a:xfrm>
            <a:off x="685800" y="3035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097280" y="301752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/07-implementation を実行する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85800" y="3584448"/>
            <a:ext cx="292608" cy="292608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5" name="Text 43"/>
          <p:cNvSpPr/>
          <p:nvPr/>
        </p:nvSpPr>
        <p:spPr>
          <a:xfrm>
            <a:off x="685800" y="3584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1097280" y="356616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ファイルの変更は「保持」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685800" y="4133088"/>
            <a:ext cx="292608" cy="292608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8" name="Text 46"/>
          <p:cNvSpPr/>
          <p:nvPr/>
        </p:nvSpPr>
        <p:spPr>
          <a:xfrm>
            <a:off x="685800" y="4133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1097280" y="411480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コマンドの確認は内容を見て「許可」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892040" y="2395728"/>
            <a:ext cx="6839712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1" name="Text 49"/>
          <p:cNvSpPr/>
          <p:nvPr/>
        </p:nvSpPr>
        <p:spPr>
          <a:xfrm>
            <a:off x="5120640" y="2560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76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Copilotが進める順番</a:t>
            </a:r>
            <a:endParaRPr lang="en-US" sz="1500" dirty="0"/>
          </a:p>
        </p:txBody>
      </p:sp>
      <p:sp>
        <p:nvSpPr>
          <p:cNvPr id="52" name="Shape 50"/>
          <p:cNvSpPr/>
          <p:nvPr/>
        </p:nvSpPr>
        <p:spPr>
          <a:xfrm>
            <a:off x="5120640" y="3063240"/>
            <a:ext cx="1325880" cy="1188720"/>
          </a:xfrm>
          <a:prstGeom prst="roundRect">
            <a:avLst>
              <a:gd name="adj" fmla="val 6154"/>
            </a:avLst>
          </a:prstGeom>
          <a:solidFill>
            <a:srgbClr val="EAF2FC"/>
          </a:solidFill>
          <a:ln w="12700">
            <a:solidFill>
              <a:srgbClr val="2176D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3" name="Text 51"/>
          <p:cNvSpPr/>
          <p:nvPr/>
        </p:nvSpPr>
        <p:spPr>
          <a:xfrm>
            <a:off x="5120640" y="3127248"/>
            <a:ext cx="1325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176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データの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2176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入力チェック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5120640" y="384048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models.py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6492240" y="3520440"/>
            <a:ext cx="228600" cy="274320"/>
          </a:xfrm>
          <a:prstGeom prst="rightArrow">
            <a:avLst/>
          </a:prstGeom>
          <a:solidFill>
            <a:srgbClr val="C8CFD9"/>
          </a:solidFill>
          <a:ln w="12700">
            <a:solidFill>
              <a:srgbClr val="C8CFD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6" name="Shape 54"/>
          <p:cNvSpPr/>
          <p:nvPr/>
        </p:nvSpPr>
        <p:spPr>
          <a:xfrm>
            <a:off x="6766560" y="3063240"/>
            <a:ext cx="1325880" cy="1188720"/>
          </a:xfrm>
          <a:prstGeom prst="roundRect">
            <a:avLst>
              <a:gd name="adj" fmla="val 6154"/>
            </a:avLst>
          </a:prstGeom>
          <a:solidFill>
            <a:srgbClr val="EAF2FC"/>
          </a:solidFill>
          <a:ln w="12700">
            <a:solidFill>
              <a:srgbClr val="2176D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7" name="Text 55"/>
          <p:cNvSpPr/>
          <p:nvPr/>
        </p:nvSpPr>
        <p:spPr>
          <a:xfrm>
            <a:off x="6766560" y="3127248"/>
            <a:ext cx="1325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176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画面の処理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6766560" y="384048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routes.py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8138160" y="3520440"/>
            <a:ext cx="228600" cy="274320"/>
          </a:xfrm>
          <a:prstGeom prst="rightArrow">
            <a:avLst/>
          </a:prstGeom>
          <a:solidFill>
            <a:srgbClr val="C8CFD9"/>
          </a:solidFill>
          <a:ln w="12700">
            <a:solidFill>
              <a:srgbClr val="C8CFD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0" name="Shape 58"/>
          <p:cNvSpPr/>
          <p:nvPr/>
        </p:nvSpPr>
        <p:spPr>
          <a:xfrm>
            <a:off x="8412480" y="3063240"/>
            <a:ext cx="1325880" cy="1188720"/>
          </a:xfrm>
          <a:prstGeom prst="roundRect">
            <a:avLst>
              <a:gd name="adj" fmla="val 6154"/>
            </a:avLst>
          </a:prstGeom>
          <a:solidFill>
            <a:srgbClr val="EAF2FC"/>
          </a:solidFill>
          <a:ln w="12700">
            <a:solidFill>
              <a:srgbClr val="2176D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1" name="Text 59"/>
          <p:cNvSpPr/>
          <p:nvPr/>
        </p:nvSpPr>
        <p:spPr>
          <a:xfrm>
            <a:off x="8412480" y="3127248"/>
            <a:ext cx="1325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176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HTML画面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8412480" y="384048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templates/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9784080" y="3520440"/>
            <a:ext cx="228600" cy="274320"/>
          </a:xfrm>
          <a:prstGeom prst="rightArrow">
            <a:avLst/>
          </a:prstGeom>
          <a:solidFill>
            <a:srgbClr val="C8CFD9"/>
          </a:solidFill>
          <a:ln w="12700">
            <a:solidFill>
              <a:srgbClr val="C8CFD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4" name="Shape 62"/>
          <p:cNvSpPr/>
          <p:nvPr/>
        </p:nvSpPr>
        <p:spPr>
          <a:xfrm>
            <a:off x="10058400" y="3063240"/>
            <a:ext cx="1325880" cy="1188720"/>
          </a:xfrm>
          <a:prstGeom prst="roundRect">
            <a:avLst>
              <a:gd name="adj" fmla="val 6154"/>
            </a:avLst>
          </a:prstGeom>
          <a:solidFill>
            <a:srgbClr val="E8F5ED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5" name="Text 63"/>
          <p:cNvSpPr/>
          <p:nvPr/>
        </p:nvSpPr>
        <p:spPr>
          <a:xfrm>
            <a:off x="10058400" y="3127248"/>
            <a:ext cx="1325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</a:t>
            </a:r>
            <a:endParaRPr lang="en-US" sz="1300" dirty="0"/>
          </a:p>
        </p:txBody>
      </p:sp>
      <p:sp>
        <p:nvSpPr>
          <p:cNvPr id="66" name="Text 64"/>
          <p:cNvSpPr/>
          <p:nvPr/>
        </p:nvSpPr>
        <p:spPr>
          <a:xfrm>
            <a:off x="10058400" y="384048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5120640" y="4526280"/>
            <a:ext cx="6382512" cy="640080"/>
          </a:xfrm>
          <a:prstGeom prst="roundRect">
            <a:avLst>
              <a:gd name="adj" fmla="val 11429"/>
            </a:avLst>
          </a:prstGeom>
          <a:solidFill>
            <a:srgbClr val="FBDDDC"/>
          </a:solidFill>
          <a:ln w="12700">
            <a:solidFill>
              <a:srgbClr val="FBDDD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8" name="Text 66"/>
          <p:cNvSpPr/>
          <p:nvPr/>
        </p:nvSpPr>
        <p:spPr>
          <a:xfrm>
            <a:off x="5120640" y="4526280"/>
            <a:ext cx="6382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219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ここから初めて、実際のプログラムをつくります。</a:t>
            </a:r>
            <a:endParaRPr lang="en-US" sz="1600" dirty="0"/>
          </a:p>
        </p:txBody>
      </p:sp>
      <p:sp>
        <p:nvSpPr>
          <p:cNvPr id="69" name="Shape 67"/>
          <p:cNvSpPr/>
          <p:nvPr/>
        </p:nvSpPr>
        <p:spPr>
          <a:xfrm>
            <a:off x="457200" y="5596128"/>
            <a:ext cx="11274552" cy="566928"/>
          </a:xfrm>
          <a:prstGeom prst="roundRect">
            <a:avLst>
              <a:gd name="adj" fmla="val 12903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0" name="Text 68"/>
          <p:cNvSpPr/>
          <p:nvPr/>
        </p:nvSpPr>
        <p:spPr>
          <a:xfrm>
            <a:off x="457200" y="55961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176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その裏で、apply のターミナルが Azure 環境をつくっています。閉じずに、ときどき「Apply complete!」を確認しましょう。</a:t>
            </a:r>
            <a:endParaRPr lang="en-US" sz="1400" dirty="0"/>
          </a:p>
        </p:txBody>
      </p:sp>
      <p:sp>
        <p:nvSpPr>
          <p:cNvPr id="7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82880"/>
            <a:ext cx="1188720" cy="384048"/>
          </a:xfrm>
          <a:prstGeom prst="roundRect">
            <a:avLst>
              <a:gd name="adj" fmla="val 14286"/>
            </a:avLst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07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783080" y="16459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アプリ実装（後半）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183880" y="164592"/>
            <a:ext cx="35478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07／10　15:25〜15:47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04088" y="1069848"/>
            <a:ext cx="5486400" cy="0"/>
          </a:xfrm>
          <a:prstGeom prst="line">
            <a:avLst/>
          </a:prstGeom>
          <a:noFill/>
          <a:ln w="25400">
            <a:solidFill>
              <a:srgbClr val="C8CFD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54864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/>
          <p:nvPr/>
        </p:nvSpPr>
        <p:spPr>
          <a:xfrm>
            <a:off x="54864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09728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109728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64592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/>
          <p:nvPr/>
        </p:nvSpPr>
        <p:spPr>
          <a:xfrm>
            <a:off x="164592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19456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219456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274320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04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9184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329184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84048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/>
          <p:nvPr/>
        </p:nvSpPr>
        <p:spPr>
          <a:xfrm>
            <a:off x="384048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389120" y="914400"/>
            <a:ext cx="310896" cy="310896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Text 20"/>
          <p:cNvSpPr/>
          <p:nvPr/>
        </p:nvSpPr>
        <p:spPr>
          <a:xfrm>
            <a:off x="438912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178808" y="621792"/>
            <a:ext cx="731520" cy="237744"/>
          </a:xfrm>
          <a:prstGeom prst="roundRect">
            <a:avLst>
              <a:gd name="adj" fmla="val 57692"/>
            </a:avLst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2"/>
          <p:cNvSpPr/>
          <p:nvPr/>
        </p:nvSpPr>
        <p:spPr>
          <a:xfrm>
            <a:off x="4178808" y="62179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いまここ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93776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Text 24"/>
          <p:cNvSpPr/>
          <p:nvPr/>
        </p:nvSpPr>
        <p:spPr>
          <a:xfrm>
            <a:off x="493776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08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Text 26"/>
          <p:cNvSpPr/>
          <p:nvPr/>
        </p:nvSpPr>
        <p:spPr>
          <a:xfrm>
            <a:off x="548640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Text 28"/>
          <p:cNvSpPr/>
          <p:nvPr/>
        </p:nvSpPr>
        <p:spPr>
          <a:xfrm>
            <a:off x="603504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138160" y="1005840"/>
            <a:ext cx="146304" cy="146304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Text 30"/>
          <p:cNvSpPr/>
          <p:nvPr/>
        </p:nvSpPr>
        <p:spPr>
          <a:xfrm>
            <a:off x="8348472" y="9509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完了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345168" y="1005840"/>
            <a:ext cx="146304" cy="146304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4" name="Text 32"/>
          <p:cNvSpPr/>
          <p:nvPr/>
        </p:nvSpPr>
        <p:spPr>
          <a:xfrm>
            <a:off x="9555480" y="9509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いまここ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10552176" y="1005840"/>
            <a:ext cx="146304" cy="146304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Text 34"/>
          <p:cNvSpPr/>
          <p:nvPr/>
        </p:nvSpPr>
        <p:spPr>
          <a:xfrm>
            <a:off x="10762488" y="9509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これから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57200" y="1847088"/>
            <a:ext cx="64008" cy="384048"/>
          </a:xfrm>
          <a:prstGeom prst="rect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8" name="Text 36"/>
          <p:cNvSpPr/>
          <p:nvPr/>
        </p:nvSpPr>
        <p:spPr>
          <a:xfrm>
            <a:off x="640080" y="1828800"/>
            <a:ext cx="11064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テスト結果に「passed」と表示されれば完了です。</a:t>
            </a:r>
            <a:endParaRPr lang="en-US" sz="1900" dirty="0"/>
          </a:p>
        </p:txBody>
      </p:sp>
      <p:sp>
        <p:nvSpPr>
          <p:cNvPr id="39" name="Shape 37"/>
          <p:cNvSpPr/>
          <p:nvPr/>
        </p:nvSpPr>
        <p:spPr>
          <a:xfrm>
            <a:off x="457200" y="2395728"/>
            <a:ext cx="5303520" cy="3749040"/>
          </a:xfrm>
          <a:prstGeom prst="roundRect">
            <a:avLst>
              <a:gd name="adj" fmla="val 1951"/>
            </a:avLst>
          </a:prstGeom>
          <a:solidFill>
            <a:srgbClr val="FBFCFD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0" name="Text 38"/>
          <p:cNvSpPr/>
          <p:nvPr/>
        </p:nvSpPr>
        <p:spPr>
          <a:xfrm>
            <a:off x="685800" y="2560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76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できあがるもの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777240" y="297180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42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webapp/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142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 routes.py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142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 models.py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142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 templates/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142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 static/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142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tests/test_routes.py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142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docs/07-implementation-result.md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5989320" y="2395728"/>
            <a:ext cx="5742432" cy="1691640"/>
          </a:xfrm>
          <a:prstGeom prst="roundRect">
            <a:avLst>
              <a:gd name="adj" fmla="val 4324"/>
            </a:avLst>
          </a:prstGeom>
          <a:solidFill>
            <a:srgbClr val="1C2736"/>
          </a:solidFill>
          <a:ln w="12700">
            <a:solidFill>
              <a:srgbClr val="1C2736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3" name="Text 41"/>
          <p:cNvSpPr/>
          <p:nvPr/>
        </p:nvSpPr>
        <p:spPr>
          <a:xfrm>
            <a:off x="6217920" y="2542032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7E1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.\.venv\Scripts\python -m pytest -q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217920" y="29718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55D7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…… passed in 0.xxs</a:t>
            </a:r>
            <a:endParaRPr lang="en-US" sz="2000" dirty="0"/>
          </a:p>
        </p:txBody>
      </p:sp>
      <p:sp>
        <p:nvSpPr>
          <p:cNvPr id="45" name="Text 43"/>
          <p:cNvSpPr/>
          <p:nvPr/>
        </p:nvSpPr>
        <p:spPr>
          <a:xfrm>
            <a:off x="6217920" y="35204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FC0D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表示例：数字は人によって異なります。failed が無ければOK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989320" y="4297680"/>
            <a:ext cx="5742432" cy="1847088"/>
          </a:xfrm>
          <a:prstGeom prst="roundRect">
            <a:avLst>
              <a:gd name="adj" fmla="val 3960"/>
            </a:avLst>
          </a:prstGeom>
          <a:solidFill>
            <a:srgbClr val="FFF3E8"/>
          </a:solidFill>
          <a:ln w="12700">
            <a:solidFill>
              <a:srgbClr val="F2C08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7" name="Text 45"/>
          <p:cNvSpPr/>
          <p:nvPr/>
        </p:nvSpPr>
        <p:spPr>
          <a:xfrm>
            <a:off x="6217920" y="44348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660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困ったとき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6217920" y="4864608"/>
            <a:ext cx="292608" cy="292608"/>
          </a:xfrm>
          <a:prstGeom prst="ellipse">
            <a:avLst/>
          </a:prstGeom>
          <a:solidFill>
            <a:srgbClr val="D9660B"/>
          </a:solidFill>
          <a:ln w="12700">
            <a:solidFill>
              <a:srgbClr val="D9660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9" name="Text 47"/>
          <p:cNvSpPr/>
          <p:nvPr/>
        </p:nvSpPr>
        <p:spPr>
          <a:xfrm>
            <a:off x="6217920" y="48646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6629400" y="484632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途中で止まったら「続けて」と送る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6217920" y="5266944"/>
            <a:ext cx="292608" cy="292608"/>
          </a:xfrm>
          <a:prstGeom prst="ellipse">
            <a:avLst/>
          </a:prstGeom>
          <a:solidFill>
            <a:srgbClr val="D9660B"/>
          </a:solidFill>
          <a:ln w="12700">
            <a:solidFill>
              <a:srgbClr val="D9660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2" name="Text 50"/>
          <p:cNvSpPr/>
          <p:nvPr/>
        </p:nvSpPr>
        <p:spPr>
          <a:xfrm>
            <a:off x="6217920" y="5266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6629400" y="52486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同じエラーを繰り返したらスタッフへ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6217920" y="5669280"/>
            <a:ext cx="292608" cy="292608"/>
          </a:xfrm>
          <a:prstGeom prst="ellipse">
            <a:avLst/>
          </a:prstGeom>
          <a:solidFill>
            <a:srgbClr val="D9660B"/>
          </a:solidFill>
          <a:ln w="12700">
            <a:solidFill>
              <a:srgbClr val="D9660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5" name="Text 53"/>
          <p:cNvSpPr/>
          <p:nvPr/>
        </p:nvSpPr>
        <p:spPr>
          <a:xfrm>
            <a:off x="6217920" y="5669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6629400" y="565099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apply のターミナルにエラー → スタッフへ</a:t>
            </a:r>
            <a:endParaRPr lang="en-US" sz="1400" dirty="0"/>
          </a:p>
        </p:txBody>
      </p:sp>
      <p:sp>
        <p:nvSpPr>
          <p:cNvPr id="5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82880"/>
            <a:ext cx="1188720" cy="384048"/>
          </a:xfrm>
          <a:prstGeom prst="roundRect">
            <a:avLst>
              <a:gd name="adj" fmla="val 14286"/>
            </a:avLst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08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783080" y="16459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アプリを動かす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720840" y="219456"/>
            <a:ext cx="1371600" cy="310896"/>
          </a:xfrm>
          <a:prstGeom prst="roundRect">
            <a:avLst>
              <a:gd name="adj" fmla="val 44118"/>
            </a:avLst>
          </a:prstGeom>
          <a:solidFill>
            <a:srgbClr val="E8F5ED"/>
          </a:solidFill>
          <a:ln w="12700">
            <a:solidFill>
              <a:srgbClr val="E8F5E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6720840" y="21945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必須ゴール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183880" y="164592"/>
            <a:ext cx="35478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08／10　15:47〜15:55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04088" y="1069848"/>
            <a:ext cx="5486400" cy="0"/>
          </a:xfrm>
          <a:prstGeom prst="line">
            <a:avLst/>
          </a:prstGeom>
          <a:noFill/>
          <a:ln w="25400">
            <a:solidFill>
              <a:srgbClr val="C8CFD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54864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54864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09728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/>
          <p:nvPr/>
        </p:nvSpPr>
        <p:spPr>
          <a:xfrm>
            <a:off x="109728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64592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164592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19456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219456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4320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274320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9184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/>
          <p:nvPr/>
        </p:nvSpPr>
        <p:spPr>
          <a:xfrm>
            <a:off x="329184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84048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Text 20"/>
          <p:cNvSpPr/>
          <p:nvPr/>
        </p:nvSpPr>
        <p:spPr>
          <a:xfrm>
            <a:off x="384048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06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8912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2"/>
          <p:cNvSpPr/>
          <p:nvPr/>
        </p:nvSpPr>
        <p:spPr>
          <a:xfrm>
            <a:off x="438912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07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937760" y="914400"/>
            <a:ext cx="310896" cy="310896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Text 24"/>
          <p:cNvSpPr/>
          <p:nvPr/>
        </p:nvSpPr>
        <p:spPr>
          <a:xfrm>
            <a:off x="493776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08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27448" y="621792"/>
            <a:ext cx="731520" cy="237744"/>
          </a:xfrm>
          <a:prstGeom prst="roundRect">
            <a:avLst>
              <a:gd name="adj" fmla="val 57692"/>
            </a:avLst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Text 26"/>
          <p:cNvSpPr/>
          <p:nvPr/>
        </p:nvSpPr>
        <p:spPr>
          <a:xfrm>
            <a:off x="4727448" y="62179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いまここ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48640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Text 28"/>
          <p:cNvSpPr/>
          <p:nvPr/>
        </p:nvSpPr>
        <p:spPr>
          <a:xfrm>
            <a:off x="548640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09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03504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Text 30"/>
          <p:cNvSpPr/>
          <p:nvPr/>
        </p:nvSpPr>
        <p:spPr>
          <a:xfrm>
            <a:off x="603504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138160" y="1005840"/>
            <a:ext cx="146304" cy="146304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4" name="Text 32"/>
          <p:cNvSpPr/>
          <p:nvPr/>
        </p:nvSpPr>
        <p:spPr>
          <a:xfrm>
            <a:off x="8348472" y="9509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完了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9345168" y="1005840"/>
            <a:ext cx="146304" cy="146304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Text 34"/>
          <p:cNvSpPr/>
          <p:nvPr/>
        </p:nvSpPr>
        <p:spPr>
          <a:xfrm>
            <a:off x="9555480" y="9509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いまここ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0552176" y="1005840"/>
            <a:ext cx="146304" cy="146304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8" name="Text 36"/>
          <p:cNvSpPr/>
          <p:nvPr/>
        </p:nvSpPr>
        <p:spPr>
          <a:xfrm>
            <a:off x="10762488" y="9509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これから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" y="1847088"/>
            <a:ext cx="64008" cy="384048"/>
          </a:xfrm>
          <a:prstGeom prst="rect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0" name="Text 38"/>
          <p:cNvSpPr/>
          <p:nvPr/>
        </p:nvSpPr>
        <p:spPr>
          <a:xfrm>
            <a:off x="640080" y="1828800"/>
            <a:ext cx="11064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自分のPCでアプリが動けば、今日の必須ゴール達成です。</a:t>
            </a:r>
            <a:endParaRPr lang="en-US" sz="1900" dirty="0"/>
          </a:p>
        </p:txBody>
      </p:sp>
      <p:sp>
        <p:nvSpPr>
          <p:cNvPr id="41" name="Shape 39"/>
          <p:cNvSpPr/>
          <p:nvPr/>
        </p:nvSpPr>
        <p:spPr>
          <a:xfrm>
            <a:off x="457200" y="2377440"/>
            <a:ext cx="11274552" cy="420624"/>
          </a:xfrm>
          <a:prstGeom prst="roundRect">
            <a:avLst>
              <a:gd name="adj" fmla="val 13043"/>
            </a:avLst>
          </a:prstGeom>
          <a:solidFill>
            <a:srgbClr val="1C2736"/>
          </a:solidFill>
          <a:ln w="12700">
            <a:solidFill>
              <a:srgbClr val="1C273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2" name="Text 40"/>
          <p:cNvSpPr/>
          <p:nvPr/>
        </p:nvSpPr>
        <p:spPr>
          <a:xfrm>
            <a:off x="594360" y="237744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FC0D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ターミナルに入力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2148840" y="2377440"/>
            <a:ext cx="9445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7CE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.\scripts\start-local.cmd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457200" y="2926080"/>
            <a:ext cx="576072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C9D1DC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5" name="Shape 43"/>
          <p:cNvSpPr/>
          <p:nvPr/>
        </p:nvSpPr>
        <p:spPr>
          <a:xfrm>
            <a:off x="457200" y="2926080"/>
            <a:ext cx="5760720" cy="365760"/>
          </a:xfrm>
          <a:prstGeom prst="rect">
            <a:avLst/>
          </a:prstGeom>
          <a:solidFill>
            <a:srgbClr val="142B4A"/>
          </a:solidFill>
          <a:ln w="12700">
            <a:solidFill>
              <a:srgbClr val="142B4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Shape 44"/>
          <p:cNvSpPr/>
          <p:nvPr/>
        </p:nvSpPr>
        <p:spPr>
          <a:xfrm>
            <a:off x="594360" y="3063240"/>
            <a:ext cx="91440" cy="91440"/>
          </a:xfrm>
          <a:prstGeom prst="ellipse">
            <a:avLst/>
          </a:prstGeom>
          <a:solidFill>
            <a:srgbClr val="F26B6B"/>
          </a:solidFill>
          <a:ln w="12700">
            <a:solidFill>
              <a:srgbClr val="F26B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7" name="Shape 45"/>
          <p:cNvSpPr/>
          <p:nvPr/>
        </p:nvSpPr>
        <p:spPr>
          <a:xfrm>
            <a:off x="777240" y="3063240"/>
            <a:ext cx="91440" cy="91440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8" name="Shape 46"/>
          <p:cNvSpPr/>
          <p:nvPr/>
        </p:nvSpPr>
        <p:spPr>
          <a:xfrm>
            <a:off x="960120" y="3063240"/>
            <a:ext cx="91440" cy="91440"/>
          </a:xfrm>
          <a:prstGeom prst="ellipse">
            <a:avLst/>
          </a:prstGeom>
          <a:solidFill>
            <a:srgbClr val="5AC18E"/>
          </a:solidFill>
          <a:ln w="12700">
            <a:solidFill>
              <a:srgbClr val="5AC18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9" name="Text 47"/>
          <p:cNvSpPr/>
          <p:nvPr/>
        </p:nvSpPr>
        <p:spPr>
          <a:xfrm>
            <a:off x="1188720" y="2926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業務管理アプリ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566928" y="3401568"/>
            <a:ext cx="1267358" cy="2011680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1" name="Text 49"/>
          <p:cNvSpPr/>
          <p:nvPr/>
        </p:nvSpPr>
        <p:spPr>
          <a:xfrm>
            <a:off x="685800" y="3566160"/>
            <a:ext cx="10844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ホーム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685800" y="3950208"/>
            <a:ext cx="10844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一覧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685800" y="4334256"/>
            <a:ext cx="10844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新規登録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1998878" y="3429000"/>
            <a:ext cx="40361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案件一覧</a:t>
            </a:r>
            <a:endParaRPr lang="en-US" sz="1500" dirty="0"/>
          </a:p>
        </p:txBody>
      </p:sp>
      <p:sp>
        <p:nvSpPr>
          <p:cNvPr id="55" name="Shape 53"/>
          <p:cNvSpPr/>
          <p:nvPr/>
        </p:nvSpPr>
        <p:spPr>
          <a:xfrm>
            <a:off x="1998878" y="3858768"/>
            <a:ext cx="4036162" cy="32232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6" name="Text 54"/>
          <p:cNvSpPr/>
          <p:nvPr/>
        </p:nvSpPr>
        <p:spPr>
          <a:xfrm>
            <a:off x="2108606" y="3858768"/>
            <a:ext cx="2421697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業務改善ツール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166360" y="3901059"/>
            <a:ext cx="749808" cy="237744"/>
          </a:xfrm>
          <a:prstGeom prst="roundRect">
            <a:avLst>
              <a:gd name="adj" fmla="val 57692"/>
            </a:avLst>
          </a:prstGeom>
          <a:solidFill>
            <a:srgbClr val="E8F5ED"/>
          </a:solidFill>
          <a:ln w="12700">
            <a:solidFill>
              <a:srgbClr val="E8F5E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8" name="Text 56"/>
          <p:cNvSpPr/>
          <p:nvPr/>
        </p:nvSpPr>
        <p:spPr>
          <a:xfrm>
            <a:off x="5166360" y="3901059"/>
            <a:ext cx="749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進行中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1998878" y="4235958"/>
            <a:ext cx="4036162" cy="322326"/>
          </a:xfrm>
          <a:prstGeom prst="rect">
            <a:avLst/>
          </a:prstGeom>
          <a:solidFill>
            <a:srgbClr val="F7F8FA"/>
          </a:solidFill>
          <a:ln w="12700">
            <a:solidFill>
              <a:srgbClr val="DDE2E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0" name="Text 58"/>
          <p:cNvSpPr/>
          <p:nvPr/>
        </p:nvSpPr>
        <p:spPr>
          <a:xfrm>
            <a:off x="2108606" y="4235958"/>
            <a:ext cx="2421697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申請フォーム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5166360" y="4278249"/>
            <a:ext cx="749808" cy="237744"/>
          </a:xfrm>
          <a:prstGeom prst="roundRect">
            <a:avLst>
              <a:gd name="adj" fmla="val 57692"/>
            </a:avLst>
          </a:prstGeom>
          <a:solidFill>
            <a:srgbClr val="FBDDDC"/>
          </a:solidFill>
          <a:ln w="12700">
            <a:solidFill>
              <a:srgbClr val="FBDDD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2" name="Text 60"/>
          <p:cNvSpPr/>
          <p:nvPr/>
        </p:nvSpPr>
        <p:spPr>
          <a:xfrm>
            <a:off x="5166360" y="4278249"/>
            <a:ext cx="749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219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未着手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1998878" y="4613148"/>
            <a:ext cx="4036162" cy="32232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4" name="Text 62"/>
          <p:cNvSpPr/>
          <p:nvPr/>
        </p:nvSpPr>
        <p:spPr>
          <a:xfrm>
            <a:off x="2108606" y="4613148"/>
            <a:ext cx="2421697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データ集計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5166360" y="4655439"/>
            <a:ext cx="749808" cy="237744"/>
          </a:xfrm>
          <a:prstGeom prst="roundRect">
            <a:avLst>
              <a:gd name="adj" fmla="val 57692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6" name="Text 64"/>
          <p:cNvSpPr/>
          <p:nvPr/>
        </p:nvSpPr>
        <p:spPr>
          <a:xfrm>
            <a:off x="5166360" y="4655439"/>
            <a:ext cx="749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176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完了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1998878" y="4990338"/>
            <a:ext cx="4036162" cy="322326"/>
          </a:xfrm>
          <a:prstGeom prst="rect">
            <a:avLst/>
          </a:prstGeom>
          <a:solidFill>
            <a:srgbClr val="F7F8FA"/>
          </a:solidFill>
          <a:ln w="12700">
            <a:solidFill>
              <a:srgbClr val="DDE2E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8" name="Text 66"/>
          <p:cNvSpPr/>
          <p:nvPr/>
        </p:nvSpPr>
        <p:spPr>
          <a:xfrm>
            <a:off x="2108606" y="4990338"/>
            <a:ext cx="2421697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FAQ整備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5166360" y="5032629"/>
            <a:ext cx="749808" cy="237744"/>
          </a:xfrm>
          <a:prstGeom prst="roundRect">
            <a:avLst>
              <a:gd name="adj" fmla="val 57692"/>
            </a:avLst>
          </a:prstGeom>
          <a:solidFill>
            <a:srgbClr val="E8F5ED"/>
          </a:solidFill>
          <a:ln w="12700">
            <a:solidFill>
              <a:srgbClr val="E8F5E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0" name="Text 68"/>
          <p:cNvSpPr/>
          <p:nvPr/>
        </p:nvSpPr>
        <p:spPr>
          <a:xfrm>
            <a:off x="5166360" y="5032629"/>
            <a:ext cx="749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進行中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6446520" y="2926080"/>
            <a:ext cx="5285232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72" name="Text 70"/>
          <p:cNvSpPr/>
          <p:nvPr/>
        </p:nvSpPr>
        <p:spPr>
          <a:xfrm>
            <a:off x="6675120" y="30449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219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いまやること</a:t>
            </a:r>
            <a:endParaRPr lang="en-US" sz="1500" dirty="0"/>
          </a:p>
        </p:txBody>
      </p:sp>
      <p:sp>
        <p:nvSpPr>
          <p:cNvPr id="73" name="Shape 71"/>
          <p:cNvSpPr/>
          <p:nvPr/>
        </p:nvSpPr>
        <p:spPr>
          <a:xfrm>
            <a:off x="6675120" y="3419856"/>
            <a:ext cx="292608" cy="292608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4" name="Text 72"/>
          <p:cNvSpPr/>
          <p:nvPr/>
        </p:nvSpPr>
        <p:spPr>
          <a:xfrm>
            <a:off x="6675120" y="34198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7086600" y="340156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apply とは別のターミナルで上を実行</a:t>
            </a:r>
            <a:endParaRPr lang="en-US" sz="1350" dirty="0"/>
          </a:p>
        </p:txBody>
      </p:sp>
      <p:sp>
        <p:nvSpPr>
          <p:cNvPr id="76" name="Shape 74"/>
          <p:cNvSpPr/>
          <p:nvPr/>
        </p:nvSpPr>
        <p:spPr>
          <a:xfrm>
            <a:off x="6675120" y="3831336"/>
            <a:ext cx="292608" cy="292608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7" name="Text 75"/>
          <p:cNvSpPr/>
          <p:nvPr/>
        </p:nvSpPr>
        <p:spPr>
          <a:xfrm>
            <a:off x="6675120" y="3831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7086600" y="381304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http://127.0.0.1:5000 を開く</a:t>
            </a:r>
            <a:endParaRPr lang="en-US" sz="1350" dirty="0"/>
          </a:p>
        </p:txBody>
      </p:sp>
      <p:sp>
        <p:nvSpPr>
          <p:cNvPr id="79" name="Shape 77"/>
          <p:cNvSpPr/>
          <p:nvPr/>
        </p:nvSpPr>
        <p:spPr>
          <a:xfrm>
            <a:off x="6675120" y="4242816"/>
            <a:ext cx="292608" cy="292608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0" name="Text 78"/>
          <p:cNvSpPr/>
          <p:nvPr/>
        </p:nvSpPr>
        <p:spPr>
          <a:xfrm>
            <a:off x="6675120" y="4242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7086600" y="422452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ログインしてデータを登録する</a:t>
            </a:r>
            <a:endParaRPr lang="en-US" sz="1350" dirty="0"/>
          </a:p>
        </p:txBody>
      </p:sp>
      <p:sp>
        <p:nvSpPr>
          <p:cNvPr id="82" name="Shape 80"/>
          <p:cNvSpPr/>
          <p:nvPr/>
        </p:nvSpPr>
        <p:spPr>
          <a:xfrm>
            <a:off x="6675120" y="4654296"/>
            <a:ext cx="292608" cy="292608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3" name="Text 81"/>
          <p:cNvSpPr/>
          <p:nvPr/>
        </p:nvSpPr>
        <p:spPr>
          <a:xfrm>
            <a:off x="6675120" y="4654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7086600" y="46360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Ctrl+Cで止めて、もう一度起動する</a:t>
            </a:r>
            <a:endParaRPr lang="en-US" sz="1350" dirty="0"/>
          </a:p>
        </p:txBody>
      </p:sp>
      <p:sp>
        <p:nvSpPr>
          <p:cNvPr id="85" name="Shape 83"/>
          <p:cNvSpPr/>
          <p:nvPr/>
        </p:nvSpPr>
        <p:spPr>
          <a:xfrm>
            <a:off x="6675120" y="5065776"/>
            <a:ext cx="292608" cy="292608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6" name="Text 84"/>
          <p:cNvSpPr/>
          <p:nvPr/>
        </p:nvSpPr>
        <p:spPr>
          <a:xfrm>
            <a:off x="6675120" y="50657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100" dirty="0"/>
          </a:p>
        </p:txBody>
      </p:sp>
      <p:sp>
        <p:nvSpPr>
          <p:cNvPr id="87" name="Text 85"/>
          <p:cNvSpPr/>
          <p:nvPr/>
        </p:nvSpPr>
        <p:spPr>
          <a:xfrm>
            <a:off x="7086600" y="504748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/08-local-validation を実行する</a:t>
            </a:r>
            <a:endParaRPr lang="en-US" sz="1350" dirty="0"/>
          </a:p>
        </p:txBody>
      </p:sp>
      <p:sp>
        <p:nvSpPr>
          <p:cNvPr id="88" name="Shape 86"/>
          <p:cNvSpPr/>
          <p:nvPr/>
        </p:nvSpPr>
        <p:spPr>
          <a:xfrm>
            <a:off x="457200" y="5650992"/>
            <a:ext cx="11274552" cy="548640"/>
          </a:xfrm>
          <a:prstGeom prst="roundRect">
            <a:avLst>
              <a:gd name="adj" fmla="val 13333"/>
            </a:avLst>
          </a:prstGeom>
          <a:solidFill>
            <a:srgbClr val="E8F5ED"/>
          </a:solidFill>
          <a:ln w="12700">
            <a:solidFill>
              <a:srgbClr val="E8F5E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9" name="Text 87"/>
          <p:cNvSpPr/>
          <p:nvPr/>
        </p:nvSpPr>
        <p:spPr>
          <a:xfrm>
            <a:off x="457200" y="5650992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 ブラウザーで開く　 ✓ ログインできる　 ✓ 登録して一覧に表示　 ✓ 再起動してもデータが残る</a:t>
            </a:r>
            <a:endParaRPr lang="en-US" sz="1500" dirty="0"/>
          </a:p>
        </p:txBody>
      </p:sp>
      <p:sp>
        <p:nvSpPr>
          <p:cNvPr id="9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82880"/>
            <a:ext cx="1188720" cy="384048"/>
          </a:xfrm>
          <a:prstGeom prst="roundRect">
            <a:avLst>
              <a:gd name="adj" fmla="val 14286"/>
            </a:avLst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09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783080" y="16459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Azureで動かす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720840" y="219456"/>
            <a:ext cx="1371600" cy="310896"/>
          </a:xfrm>
          <a:prstGeom prst="roundRect">
            <a:avLst>
              <a:gd name="adj" fmla="val 44118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6720840" y="21945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76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標準ゴール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183880" y="164592"/>
            <a:ext cx="35478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09／10　15:55〜16:07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04088" y="1069848"/>
            <a:ext cx="5486400" cy="0"/>
          </a:xfrm>
          <a:prstGeom prst="line">
            <a:avLst/>
          </a:prstGeom>
          <a:noFill/>
          <a:ln w="25400">
            <a:solidFill>
              <a:srgbClr val="C8CFD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54864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54864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09728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/>
          <p:nvPr/>
        </p:nvSpPr>
        <p:spPr>
          <a:xfrm>
            <a:off x="109728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64592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164592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19456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219456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4320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274320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9184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/>
          <p:nvPr/>
        </p:nvSpPr>
        <p:spPr>
          <a:xfrm>
            <a:off x="329184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84048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Text 20"/>
          <p:cNvSpPr/>
          <p:nvPr/>
        </p:nvSpPr>
        <p:spPr>
          <a:xfrm>
            <a:off x="384048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06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8912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2"/>
          <p:cNvSpPr/>
          <p:nvPr/>
        </p:nvSpPr>
        <p:spPr>
          <a:xfrm>
            <a:off x="438912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07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93776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Text 24"/>
          <p:cNvSpPr/>
          <p:nvPr/>
        </p:nvSpPr>
        <p:spPr>
          <a:xfrm>
            <a:off x="493776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08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0" y="914400"/>
            <a:ext cx="310896" cy="310896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Text 26"/>
          <p:cNvSpPr/>
          <p:nvPr/>
        </p:nvSpPr>
        <p:spPr>
          <a:xfrm>
            <a:off x="548640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276088" y="621792"/>
            <a:ext cx="731520" cy="237744"/>
          </a:xfrm>
          <a:prstGeom prst="roundRect">
            <a:avLst>
              <a:gd name="adj" fmla="val 57692"/>
            </a:avLst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Text 28"/>
          <p:cNvSpPr/>
          <p:nvPr/>
        </p:nvSpPr>
        <p:spPr>
          <a:xfrm>
            <a:off x="5276088" y="62179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いまここ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035040" y="914400"/>
            <a:ext cx="310896" cy="310896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Text 30"/>
          <p:cNvSpPr/>
          <p:nvPr/>
        </p:nvSpPr>
        <p:spPr>
          <a:xfrm>
            <a:off x="603504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138160" y="1005840"/>
            <a:ext cx="146304" cy="146304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4" name="Text 32"/>
          <p:cNvSpPr/>
          <p:nvPr/>
        </p:nvSpPr>
        <p:spPr>
          <a:xfrm>
            <a:off x="8348472" y="9509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完了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9345168" y="1005840"/>
            <a:ext cx="146304" cy="146304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Text 34"/>
          <p:cNvSpPr/>
          <p:nvPr/>
        </p:nvSpPr>
        <p:spPr>
          <a:xfrm>
            <a:off x="9555480" y="9509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いまここ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0552176" y="1005840"/>
            <a:ext cx="146304" cy="146304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8" name="Text 36"/>
          <p:cNvSpPr/>
          <p:nvPr/>
        </p:nvSpPr>
        <p:spPr>
          <a:xfrm>
            <a:off x="10762488" y="9509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これから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" y="1847088"/>
            <a:ext cx="64008" cy="384048"/>
          </a:xfrm>
          <a:prstGeom prst="rect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0" name="Text 38"/>
          <p:cNvSpPr/>
          <p:nvPr/>
        </p:nvSpPr>
        <p:spPr>
          <a:xfrm>
            <a:off x="640080" y="1828800"/>
            <a:ext cx="11064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AIが選んだ構成のAzure上で、自分のアプリを動かします。</a:t>
            </a:r>
            <a:endParaRPr lang="en-US" sz="1900" dirty="0"/>
          </a:p>
        </p:txBody>
      </p:sp>
      <p:sp>
        <p:nvSpPr>
          <p:cNvPr id="41" name="Shape 39"/>
          <p:cNvSpPr/>
          <p:nvPr/>
        </p:nvSpPr>
        <p:spPr>
          <a:xfrm>
            <a:off x="457200" y="242316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EAF2FC"/>
          </a:solidFill>
          <a:ln w="12700">
            <a:solidFill>
              <a:srgbClr val="2176D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2" name="Shape 40"/>
          <p:cNvSpPr/>
          <p:nvPr/>
        </p:nvSpPr>
        <p:spPr>
          <a:xfrm>
            <a:off x="1463040" y="2606040"/>
            <a:ext cx="594360" cy="594360"/>
          </a:xfrm>
          <a:prstGeom prst="ellipse">
            <a:avLst/>
          </a:prstGeom>
          <a:solidFill>
            <a:srgbClr val="2176D2"/>
          </a:solidFill>
          <a:ln w="12700">
            <a:solidFill>
              <a:srgbClr val="2176D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3" name="Text 41"/>
          <p:cNvSpPr/>
          <p:nvPr/>
        </p:nvSpPr>
        <p:spPr>
          <a:xfrm>
            <a:off x="1463040" y="26060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548640" y="324612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176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Azure環境が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2176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できたか確認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530352" y="3977640"/>
            <a:ext cx="24597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2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Apply complete!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090672" y="3337560"/>
            <a:ext cx="201168" cy="292608"/>
          </a:xfrm>
          <a:prstGeom prst="rightArrow">
            <a:avLst/>
          </a:prstGeom>
          <a:solidFill>
            <a:srgbClr val="C8CFD9"/>
          </a:solidFill>
          <a:ln w="12700">
            <a:solidFill>
              <a:srgbClr val="C8CFD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7" name="Shape 45"/>
          <p:cNvSpPr/>
          <p:nvPr/>
        </p:nvSpPr>
        <p:spPr>
          <a:xfrm>
            <a:off x="3319272" y="242316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EAF2FC"/>
          </a:solidFill>
          <a:ln w="12700">
            <a:solidFill>
              <a:srgbClr val="2176D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8" name="Shape 46"/>
          <p:cNvSpPr/>
          <p:nvPr/>
        </p:nvSpPr>
        <p:spPr>
          <a:xfrm>
            <a:off x="4325112" y="2606040"/>
            <a:ext cx="594360" cy="594360"/>
          </a:xfrm>
          <a:prstGeom prst="ellipse">
            <a:avLst/>
          </a:prstGeom>
          <a:solidFill>
            <a:srgbClr val="2176D2"/>
          </a:solidFill>
          <a:ln w="12700">
            <a:solidFill>
              <a:srgbClr val="2176D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9" name="Text 47"/>
          <p:cNvSpPr/>
          <p:nvPr/>
        </p:nvSpPr>
        <p:spPr>
          <a:xfrm>
            <a:off x="4325112" y="26060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3410712" y="324612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176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Ctrl+Cで止めて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2176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Azureに公開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3392424" y="3977640"/>
            <a:ext cx="24597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2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.\scripts\deploy-azure.cmd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5952744" y="3337560"/>
            <a:ext cx="201168" cy="292608"/>
          </a:xfrm>
          <a:prstGeom prst="rightArrow">
            <a:avLst/>
          </a:prstGeom>
          <a:solidFill>
            <a:srgbClr val="C8CFD9"/>
          </a:solidFill>
          <a:ln w="12700">
            <a:solidFill>
              <a:srgbClr val="C8CFD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3" name="Shape 51"/>
          <p:cNvSpPr/>
          <p:nvPr/>
        </p:nvSpPr>
        <p:spPr>
          <a:xfrm>
            <a:off x="6181344" y="242316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EAF2FC"/>
          </a:solidFill>
          <a:ln w="12700">
            <a:solidFill>
              <a:srgbClr val="2176D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4" name="Shape 52"/>
          <p:cNvSpPr/>
          <p:nvPr/>
        </p:nvSpPr>
        <p:spPr>
          <a:xfrm>
            <a:off x="7187184" y="2606040"/>
            <a:ext cx="594360" cy="594360"/>
          </a:xfrm>
          <a:prstGeom prst="ellipse">
            <a:avLst/>
          </a:prstGeom>
          <a:solidFill>
            <a:srgbClr val="2176D2"/>
          </a:solidFill>
          <a:ln w="12700">
            <a:solidFill>
              <a:srgbClr val="2176D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5" name="Text 53"/>
          <p:cNvSpPr/>
          <p:nvPr/>
        </p:nvSpPr>
        <p:spPr>
          <a:xfrm>
            <a:off x="7187184" y="26060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6272784" y="324612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176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URLを開いて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2176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ログイン・登録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6254496" y="3977640"/>
            <a:ext cx="24597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2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https://…azurewebsites.net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814816" y="3337560"/>
            <a:ext cx="201168" cy="292608"/>
          </a:xfrm>
          <a:prstGeom prst="rightArrow">
            <a:avLst/>
          </a:prstGeom>
          <a:solidFill>
            <a:srgbClr val="C8CFD9"/>
          </a:solidFill>
          <a:ln w="12700">
            <a:solidFill>
              <a:srgbClr val="C8CFD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9" name="Shape 57"/>
          <p:cNvSpPr/>
          <p:nvPr/>
        </p:nvSpPr>
        <p:spPr>
          <a:xfrm>
            <a:off x="9043416" y="242316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E8F5ED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0" name="Shape 58"/>
          <p:cNvSpPr/>
          <p:nvPr/>
        </p:nvSpPr>
        <p:spPr>
          <a:xfrm>
            <a:off x="10049256" y="2606040"/>
            <a:ext cx="594360" cy="594360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1" name="Text 59"/>
          <p:cNvSpPr/>
          <p:nvPr/>
        </p:nvSpPr>
        <p:spPr>
          <a:xfrm>
            <a:off x="10049256" y="26060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9134856" y="324612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保存を確認</a:t>
            </a:r>
            <a:endParaRPr lang="en-US" sz="1600" dirty="0"/>
          </a:p>
        </p:txBody>
      </p:sp>
      <p:sp>
        <p:nvSpPr>
          <p:cNvPr id="63" name="Text 61"/>
          <p:cNvSpPr/>
          <p:nvPr/>
        </p:nvSpPr>
        <p:spPr>
          <a:xfrm>
            <a:off x="9116568" y="3977640"/>
            <a:ext cx="24597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2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/09-azure-validation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457200" y="475488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176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できあがるもの：AIが選んだ構成のAzure環境 ＋ Azure上で動くWebアプリ ＋ docs/09-azure-validation.md</a:t>
            </a:r>
            <a:endParaRPr lang="en-US" sz="1400" dirty="0"/>
          </a:p>
        </p:txBody>
      </p:sp>
      <p:sp>
        <p:nvSpPr>
          <p:cNvPr id="65" name="Shape 63"/>
          <p:cNvSpPr/>
          <p:nvPr/>
        </p:nvSpPr>
        <p:spPr>
          <a:xfrm>
            <a:off x="457200" y="5349240"/>
            <a:ext cx="11274552" cy="731520"/>
          </a:xfrm>
          <a:prstGeom prst="roundRect">
            <a:avLst>
              <a:gd name="adj" fmla="val 10000"/>
            </a:avLst>
          </a:prstGeom>
          <a:solidFill>
            <a:srgbClr val="FFF3E8"/>
          </a:solidFill>
          <a:ln w="12700">
            <a:solidFill>
              <a:srgbClr val="F2C08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6" name="Text 64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9660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初回の起動や権限の反映に数分かかります。16:07までに動かなくても、STEP08まで完成していれば大丈夫です。</a:t>
            </a:r>
            <a:endParaRPr lang="en-US" sz="1500" dirty="0"/>
          </a:p>
        </p:txBody>
      </p:sp>
      <p:sp>
        <p:nvSpPr>
          <p:cNvPr id="6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82880"/>
            <a:ext cx="1188720" cy="384048"/>
          </a:xfrm>
          <a:prstGeom prst="roundRect">
            <a:avLst>
              <a:gd name="adj" fmla="val 14286"/>
            </a:avLst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10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783080" y="16459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持ち帰り資料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183880" y="164592"/>
            <a:ext cx="35478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10／10　16:07〜16:10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04088" y="1069848"/>
            <a:ext cx="5486400" cy="0"/>
          </a:xfrm>
          <a:prstGeom prst="line">
            <a:avLst/>
          </a:prstGeom>
          <a:noFill/>
          <a:ln w="25400">
            <a:solidFill>
              <a:srgbClr val="C8CFD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54864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/>
          <p:nvPr/>
        </p:nvSpPr>
        <p:spPr>
          <a:xfrm>
            <a:off x="54864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09728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109728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64592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/>
          <p:nvPr/>
        </p:nvSpPr>
        <p:spPr>
          <a:xfrm>
            <a:off x="164592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19456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219456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274320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04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9184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329184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84048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/>
          <p:nvPr/>
        </p:nvSpPr>
        <p:spPr>
          <a:xfrm>
            <a:off x="384048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38912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Text 20"/>
          <p:cNvSpPr/>
          <p:nvPr/>
        </p:nvSpPr>
        <p:spPr>
          <a:xfrm>
            <a:off x="438912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93776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2"/>
          <p:cNvSpPr/>
          <p:nvPr/>
        </p:nvSpPr>
        <p:spPr>
          <a:xfrm>
            <a:off x="493776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08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0" y="914400"/>
            <a:ext cx="310896" cy="310896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Text 24"/>
          <p:cNvSpPr/>
          <p:nvPr/>
        </p:nvSpPr>
        <p:spPr>
          <a:xfrm>
            <a:off x="548640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09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035040" y="914400"/>
            <a:ext cx="310896" cy="310896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Text 26"/>
          <p:cNvSpPr/>
          <p:nvPr/>
        </p:nvSpPr>
        <p:spPr>
          <a:xfrm>
            <a:off x="6035040" y="914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824728" y="621792"/>
            <a:ext cx="731520" cy="237744"/>
          </a:xfrm>
          <a:prstGeom prst="roundRect">
            <a:avLst>
              <a:gd name="adj" fmla="val 57692"/>
            </a:avLst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Text 28"/>
          <p:cNvSpPr/>
          <p:nvPr/>
        </p:nvSpPr>
        <p:spPr>
          <a:xfrm>
            <a:off x="5824728" y="62179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いまここ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8138160" y="1005840"/>
            <a:ext cx="146304" cy="146304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Text 30"/>
          <p:cNvSpPr/>
          <p:nvPr/>
        </p:nvSpPr>
        <p:spPr>
          <a:xfrm>
            <a:off x="8348472" y="9509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完了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345168" y="1005840"/>
            <a:ext cx="146304" cy="146304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4" name="Text 32"/>
          <p:cNvSpPr/>
          <p:nvPr/>
        </p:nvSpPr>
        <p:spPr>
          <a:xfrm>
            <a:off x="9555480" y="9509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いまここ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10552176" y="1005840"/>
            <a:ext cx="146304" cy="146304"/>
          </a:xfrm>
          <a:prstGeom prst="ellipse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Text 34"/>
          <p:cNvSpPr/>
          <p:nvPr/>
        </p:nvSpPr>
        <p:spPr>
          <a:xfrm>
            <a:off x="10762488" y="9509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これから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57200" y="1847088"/>
            <a:ext cx="64008" cy="384048"/>
          </a:xfrm>
          <a:prstGeom prst="rect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8" name="Text 36"/>
          <p:cNvSpPr/>
          <p:nvPr/>
        </p:nvSpPr>
        <p:spPr>
          <a:xfrm>
            <a:off x="640080" y="1828800"/>
            <a:ext cx="11064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帰社後に再現・共有するための資料を、Copilotにつくってもらいます。</a:t>
            </a:r>
            <a:endParaRPr lang="en-US" sz="1900" dirty="0"/>
          </a:p>
        </p:txBody>
      </p:sp>
      <p:sp>
        <p:nvSpPr>
          <p:cNvPr id="39" name="Text 37"/>
          <p:cNvSpPr/>
          <p:nvPr/>
        </p:nvSpPr>
        <p:spPr>
          <a:xfrm>
            <a:off x="457200" y="24231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「＋」で新しいチャットを開き、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4023360" y="2423160"/>
            <a:ext cx="2194560" cy="411480"/>
          </a:xfrm>
          <a:prstGeom prst="roundRect">
            <a:avLst>
              <a:gd name="adj" fmla="val 11111"/>
            </a:avLst>
          </a:prstGeom>
          <a:solidFill>
            <a:srgbClr val="EEF1F5"/>
          </a:solidFill>
          <a:ln w="12700">
            <a:solidFill>
              <a:srgbClr val="D3D9E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39"/>
          <p:cNvSpPr/>
          <p:nvPr/>
        </p:nvSpPr>
        <p:spPr>
          <a:xfrm>
            <a:off x="4133088" y="2423160"/>
            <a:ext cx="1975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2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/10-handover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6355080" y="24231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を実行します。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457200" y="3017520"/>
            <a:ext cx="5559552" cy="2514600"/>
          </a:xfrm>
          <a:prstGeom prst="roundRect">
            <a:avLst>
              <a:gd name="adj" fmla="val 2909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4" name="Text 42"/>
          <p:cNvSpPr/>
          <p:nvPr/>
        </p:nvSpPr>
        <p:spPr>
          <a:xfrm>
            <a:off x="457200" y="3154680"/>
            <a:ext cx="5559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176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自社環境で再構築する手順</a:t>
            </a:r>
            <a:endParaRPr lang="en-US" sz="2000" dirty="0"/>
          </a:p>
        </p:txBody>
      </p:sp>
      <p:sp>
        <p:nvSpPr>
          <p:cNvPr id="45" name="Shape 43"/>
          <p:cNvSpPr/>
          <p:nvPr/>
        </p:nvSpPr>
        <p:spPr>
          <a:xfrm>
            <a:off x="1005840" y="3703320"/>
            <a:ext cx="4480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3D9E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Text 44"/>
          <p:cNvSpPr/>
          <p:nvPr/>
        </p:nvSpPr>
        <p:spPr>
          <a:xfrm>
            <a:off x="1115568" y="3703320"/>
            <a:ext cx="4261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docs/10-handover-guide.md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1051560" y="442569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2176D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8" name="Text 46"/>
          <p:cNvSpPr/>
          <p:nvPr/>
        </p:nvSpPr>
        <p:spPr>
          <a:xfrm>
            <a:off x="1051560" y="44256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76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1435608" y="4389120"/>
            <a:ext cx="4187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ローカルでの実行方法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1051560" y="4828032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2176D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1" name="Text 49"/>
          <p:cNvSpPr/>
          <p:nvPr/>
        </p:nvSpPr>
        <p:spPr>
          <a:xfrm>
            <a:off x="1051560" y="48280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76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1435608" y="4791456"/>
            <a:ext cx="4187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自社Azureでの構築方法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6172200" y="3017520"/>
            <a:ext cx="5559552" cy="2514600"/>
          </a:xfrm>
          <a:prstGeom prst="roundRect">
            <a:avLst>
              <a:gd name="adj" fmla="val 2909"/>
            </a:avLst>
          </a:prstGeom>
          <a:solidFill>
            <a:srgbClr val="F2EAFE"/>
          </a:solidFill>
          <a:ln w="12700">
            <a:solidFill>
              <a:srgbClr val="F2EAFE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4" name="Text 52"/>
          <p:cNvSpPr/>
          <p:nvPr/>
        </p:nvSpPr>
        <p:spPr>
          <a:xfrm>
            <a:off x="6172200" y="3154680"/>
            <a:ext cx="5559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7A3F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社内説明用の1ページ概要</a:t>
            </a:r>
            <a:endParaRPr lang="en-US" sz="2000" dirty="0"/>
          </a:p>
        </p:txBody>
      </p:sp>
      <p:sp>
        <p:nvSpPr>
          <p:cNvPr id="55" name="Shape 53"/>
          <p:cNvSpPr/>
          <p:nvPr/>
        </p:nvSpPr>
        <p:spPr>
          <a:xfrm>
            <a:off x="6720840" y="3703320"/>
            <a:ext cx="4480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3D9E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6" name="Text 54"/>
          <p:cNvSpPr/>
          <p:nvPr/>
        </p:nvSpPr>
        <p:spPr>
          <a:xfrm>
            <a:off x="6830568" y="3703320"/>
            <a:ext cx="4261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docs/11-demo-summary.md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6766560" y="442569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7A3FB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8" name="Text 56"/>
          <p:cNvSpPr/>
          <p:nvPr/>
        </p:nvSpPr>
        <p:spPr>
          <a:xfrm>
            <a:off x="6766560" y="44256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A3F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7150608" y="4389120"/>
            <a:ext cx="4187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課題と作成したアプリ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6766560" y="4828032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7A3FB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1" name="Text 59"/>
          <p:cNvSpPr/>
          <p:nvPr/>
        </p:nvSpPr>
        <p:spPr>
          <a:xfrm>
            <a:off x="6766560" y="48280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A3F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7150608" y="4791456"/>
            <a:ext cx="4187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AIが選んだ構成とその理由</a:t>
            </a:r>
            <a:endParaRPr lang="en-US" sz="1400" dirty="0"/>
          </a:p>
        </p:txBody>
      </p:sp>
      <p:sp>
        <p:nvSpPr>
          <p:cNvPr id="63" name="Text 61"/>
          <p:cNvSpPr/>
          <p:nvPr/>
        </p:nvSpPr>
        <p:spPr>
          <a:xfrm>
            <a:off x="457200" y="5715000"/>
            <a:ext cx="11274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219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ファイルの削除とサインアウトは、成果共有が終わってから全員で行います。</a:t>
            </a:r>
            <a:endParaRPr lang="en-US" sz="1500" dirty="0"/>
          </a:p>
        </p:txBody>
      </p:sp>
      <p:sp>
        <p:nvSpPr>
          <p:cNvPr id="6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219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できあがったもの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アプリだけでなく、課題からアプリへ変える工程全体が成果物です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011680" cy="35661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1060704" y="1783080"/>
            <a:ext cx="804672" cy="804672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1060704" y="1783080"/>
            <a:ext cx="804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2788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考える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94360" y="342900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業務課題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496312" y="2880360"/>
            <a:ext cx="219456" cy="310896"/>
          </a:xfrm>
          <a:prstGeom prst="rightArrow">
            <a:avLst/>
          </a:prstGeom>
          <a:solidFill>
            <a:srgbClr val="C8CFD9"/>
          </a:solidFill>
          <a:ln w="12700">
            <a:solidFill>
              <a:srgbClr val="C8CFD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2743200" y="1463040"/>
            <a:ext cx="2011680" cy="35661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1" name="Shape 9"/>
          <p:cNvSpPr/>
          <p:nvPr/>
        </p:nvSpPr>
        <p:spPr>
          <a:xfrm>
            <a:off x="3346704" y="1783080"/>
            <a:ext cx="804672" cy="804672"/>
          </a:xfrm>
          <a:prstGeom prst="ellipse">
            <a:avLst/>
          </a:prstGeom>
          <a:solidFill>
            <a:srgbClr val="2176D2"/>
          </a:solidFill>
          <a:ln w="12700">
            <a:solidFill>
              <a:srgbClr val="2176D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/>
          <p:nvPr/>
        </p:nvSpPr>
        <p:spPr>
          <a:xfrm>
            <a:off x="3346704" y="1783080"/>
            <a:ext cx="804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743200" y="2788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設計する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2880360" y="342900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要件・画面・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データ・構成選択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782312" y="2880360"/>
            <a:ext cx="219456" cy="310896"/>
          </a:xfrm>
          <a:prstGeom prst="rightArrow">
            <a:avLst/>
          </a:prstGeom>
          <a:solidFill>
            <a:srgbClr val="C8CFD9"/>
          </a:solidFill>
          <a:ln w="12700">
            <a:solidFill>
              <a:srgbClr val="C8CFD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Shape 14"/>
          <p:cNvSpPr/>
          <p:nvPr/>
        </p:nvSpPr>
        <p:spPr>
          <a:xfrm>
            <a:off x="5029200" y="1463040"/>
            <a:ext cx="2011680" cy="35661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5632704" y="1783080"/>
            <a:ext cx="804672" cy="804672"/>
          </a:xfrm>
          <a:prstGeom prst="ellipse">
            <a:avLst/>
          </a:prstGeom>
          <a:solidFill>
            <a:srgbClr val="2176D2"/>
          </a:solidFill>
          <a:ln w="12700">
            <a:solidFill>
              <a:srgbClr val="2176D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5632704" y="1783080"/>
            <a:ext cx="804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029200" y="2788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つくる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5166360" y="342900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Terraform・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Pythonコード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068312" y="2880360"/>
            <a:ext cx="219456" cy="310896"/>
          </a:xfrm>
          <a:prstGeom prst="rightArrow">
            <a:avLst/>
          </a:prstGeom>
          <a:solidFill>
            <a:srgbClr val="C8CFD9"/>
          </a:solidFill>
          <a:ln w="12700">
            <a:solidFill>
              <a:srgbClr val="C8CFD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Shape 20"/>
          <p:cNvSpPr/>
          <p:nvPr/>
        </p:nvSpPr>
        <p:spPr>
          <a:xfrm>
            <a:off x="7315200" y="1463040"/>
            <a:ext cx="2011680" cy="35661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3" name="Shape 21"/>
          <p:cNvSpPr/>
          <p:nvPr/>
        </p:nvSpPr>
        <p:spPr>
          <a:xfrm>
            <a:off x="7918704" y="1783080"/>
            <a:ext cx="804672" cy="804672"/>
          </a:xfrm>
          <a:prstGeom prst="ellipse">
            <a:avLst/>
          </a:prstGeom>
          <a:solidFill>
            <a:srgbClr val="1D9A57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2"/>
          <p:cNvSpPr/>
          <p:nvPr/>
        </p:nvSpPr>
        <p:spPr>
          <a:xfrm>
            <a:off x="7918704" y="1783080"/>
            <a:ext cx="804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315200" y="2788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動かす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7452360" y="342900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自分のPC → Azure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9354312" y="2880360"/>
            <a:ext cx="219456" cy="310896"/>
          </a:xfrm>
          <a:prstGeom prst="rightArrow">
            <a:avLst/>
          </a:prstGeom>
          <a:solidFill>
            <a:srgbClr val="C8CFD9"/>
          </a:solidFill>
          <a:ln w="12700">
            <a:solidFill>
              <a:srgbClr val="C8CFD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Shape 26"/>
          <p:cNvSpPr/>
          <p:nvPr/>
        </p:nvSpPr>
        <p:spPr>
          <a:xfrm>
            <a:off x="9601200" y="1463040"/>
            <a:ext cx="2011680" cy="35661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9" name="Shape 27"/>
          <p:cNvSpPr/>
          <p:nvPr/>
        </p:nvSpPr>
        <p:spPr>
          <a:xfrm>
            <a:off x="10204704" y="1783080"/>
            <a:ext cx="804672" cy="804672"/>
          </a:xfrm>
          <a:prstGeom prst="ellipse">
            <a:avLst/>
          </a:prstGeom>
          <a:solidFill>
            <a:srgbClr val="7A3FB0"/>
          </a:solidFill>
          <a:ln w="12700">
            <a:solidFill>
              <a:srgbClr val="7A3FB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Text 28"/>
          <p:cNvSpPr/>
          <p:nvPr/>
        </p:nvSpPr>
        <p:spPr>
          <a:xfrm>
            <a:off x="10204704" y="1783080"/>
            <a:ext cx="804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601200" y="2788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持ち帰る</a:t>
            </a:r>
            <a:endParaRPr lang="en-US" sz="1900" dirty="0"/>
          </a:p>
        </p:txBody>
      </p:sp>
      <p:sp>
        <p:nvSpPr>
          <p:cNvPr id="32" name="Text 30"/>
          <p:cNvSpPr/>
          <p:nvPr/>
        </p:nvSpPr>
        <p:spPr>
          <a:xfrm>
            <a:off x="9738360" y="342900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再現手順・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説明資料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7200" y="544068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219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成果物一式：Webアプリ ＋ 設計書 ＋ プロンプト ＋ Azure環境の設計図 ＋ 再現手順</a:t>
            </a:r>
            <a:endParaRPr lang="en-US" sz="18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219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成果共有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ピックアップされた方に、60秒で成果を共有していただきます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2834640" cy="2834640"/>
          </a:xfrm>
          <a:prstGeom prst="ellipse">
            <a:avLst/>
          </a:prstGeom>
          <a:solidFill>
            <a:srgbClr val="FBDDDC"/>
          </a:solidFill>
          <a:ln w="635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/>
          <p:nvPr/>
        </p:nvSpPr>
        <p:spPr>
          <a:xfrm>
            <a:off x="731520" y="196596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C219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731520" y="30632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219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秒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206240" y="1572768"/>
            <a:ext cx="292608" cy="292608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/>
          <p:nvPr/>
        </p:nvSpPr>
        <p:spPr>
          <a:xfrm>
            <a:off x="4206240" y="1572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617720" y="1554480"/>
            <a:ext cx="6720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選んだ業務課題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206240" y="2139696"/>
            <a:ext cx="292608" cy="292608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4206240" y="21396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617720" y="2121408"/>
            <a:ext cx="6720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作ったWebアプリ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206240" y="2706624"/>
            <a:ext cx="292608" cy="292608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4206240" y="27066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17720" y="2688336"/>
            <a:ext cx="6720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AIが選んだAzure構成とその理由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206240" y="3273552"/>
            <a:ext cx="292608" cy="292608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/>
          <p:nvPr/>
        </p:nvSpPr>
        <p:spPr>
          <a:xfrm>
            <a:off x="4206240" y="3273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617720" y="3255264"/>
            <a:ext cx="6720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どこまで動いたか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206240" y="3840480"/>
            <a:ext cx="292608" cy="292608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/>
          <p:nvPr/>
        </p:nvSpPr>
        <p:spPr>
          <a:xfrm>
            <a:off x="4206240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617720" y="3822192"/>
            <a:ext cx="6720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帰社後に試したいこと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1520" y="4663440"/>
            <a:ext cx="10927080" cy="1371600"/>
          </a:xfrm>
          <a:prstGeom prst="roundRect">
            <a:avLst>
              <a:gd name="adj" fmla="val 5333"/>
            </a:avLst>
          </a:prstGeom>
          <a:solidFill>
            <a:srgbClr val="FBFCFD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3" name="Text 21"/>
          <p:cNvSpPr/>
          <p:nvPr/>
        </p:nvSpPr>
        <p:spPr>
          <a:xfrm>
            <a:off x="1005840" y="480060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76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発表例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005840" y="51206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「○○という課題を選び、○○できるアプリを作りました。複数人で更新するのでAIはCosmos DBを選びました。」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005840" y="555955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全員発表ではありません。講師が数名をピックアップします。</a:t>
            </a:r>
            <a:endParaRPr lang="en-US" sz="12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219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持ち帰る前の確認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成果共有が終わったら、認証情報を削除してサインアウトします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5486400" cy="416052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/>
          <p:nvPr/>
        </p:nvSpPr>
        <p:spPr>
          <a:xfrm>
            <a:off x="731520" y="160020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成果物の最終チェック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209397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777240" y="20939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61288" y="2057400"/>
            <a:ext cx="4553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 00〜10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77240" y="264261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777240" y="26426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61288" y="2606040"/>
            <a:ext cx="4553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設計書（docs/）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77240" y="319125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/>
          <p:nvPr/>
        </p:nvSpPr>
        <p:spPr>
          <a:xfrm>
            <a:off x="777240" y="31912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61288" y="3154680"/>
            <a:ext cx="4553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Python Webアプリ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77240" y="373989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777240" y="37398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61288" y="3703320"/>
            <a:ext cx="4553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Azure環境の設計図（Terraform）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77240" y="428853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Text 17"/>
          <p:cNvSpPr/>
          <p:nvPr/>
        </p:nvSpPr>
        <p:spPr>
          <a:xfrm>
            <a:off x="777240" y="42885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161288" y="4251960"/>
            <a:ext cx="4553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持ち帰りガイド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77240" y="483717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Text 20"/>
          <p:cNvSpPr/>
          <p:nvPr/>
        </p:nvSpPr>
        <p:spPr>
          <a:xfrm>
            <a:off x="777240" y="48371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61288" y="4800600"/>
            <a:ext cx="4553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社内説明用の概要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245352" y="1417320"/>
            <a:ext cx="5486400" cy="416052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5" name="Text 23"/>
          <p:cNvSpPr/>
          <p:nvPr/>
        </p:nvSpPr>
        <p:spPr>
          <a:xfrm>
            <a:off x="6492240" y="160020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660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サインアウトの4ステップ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492240" y="2121408"/>
            <a:ext cx="292608" cy="292608"/>
          </a:xfrm>
          <a:prstGeom prst="ellipse">
            <a:avLst/>
          </a:prstGeom>
          <a:solidFill>
            <a:srgbClr val="D9660B"/>
          </a:solidFill>
          <a:ln w="12700">
            <a:solidFill>
              <a:srgbClr val="D9660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Text 25"/>
          <p:cNvSpPr/>
          <p:nvPr/>
        </p:nvSpPr>
        <p:spPr>
          <a:xfrm>
            <a:off x="6492240" y="2121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903720" y="21031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ターミナルで下のコマンドを実行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6492240" y="2761488"/>
            <a:ext cx="292608" cy="292608"/>
          </a:xfrm>
          <a:prstGeom prst="ellipse">
            <a:avLst/>
          </a:prstGeom>
          <a:solidFill>
            <a:srgbClr val="D9660B"/>
          </a:solidFill>
          <a:ln w="12700">
            <a:solidFill>
              <a:srgbClr val="D9660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Text 28"/>
          <p:cNvSpPr/>
          <p:nvPr/>
        </p:nvSpPr>
        <p:spPr>
          <a:xfrm>
            <a:off x="6492240" y="2761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903720" y="274320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VS CodeでGitHubからサインアウト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6492240" y="3401568"/>
            <a:ext cx="292608" cy="292608"/>
          </a:xfrm>
          <a:prstGeom prst="ellipse">
            <a:avLst/>
          </a:prstGeom>
          <a:solidFill>
            <a:srgbClr val="D9660B"/>
          </a:solidFill>
          <a:ln w="12700">
            <a:solidFill>
              <a:srgbClr val="D9660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3" name="Text 31"/>
          <p:cNvSpPr/>
          <p:nvPr/>
        </p:nvSpPr>
        <p:spPr>
          <a:xfrm>
            <a:off x="6492240" y="3401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903720" y="338328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ターミナルで az logout を実行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6492240" y="4041648"/>
            <a:ext cx="292608" cy="292608"/>
          </a:xfrm>
          <a:prstGeom prst="ellipse">
            <a:avLst/>
          </a:prstGeom>
          <a:solidFill>
            <a:srgbClr val="D9660B"/>
          </a:solidFill>
          <a:ln w="12700">
            <a:solidFill>
              <a:srgbClr val="D9660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Text 34"/>
          <p:cNvSpPr/>
          <p:nvPr/>
        </p:nvSpPr>
        <p:spPr>
          <a:xfrm>
            <a:off x="6492240" y="4041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903720" y="402336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ブラウザーでGitHub / Azureからサインアウト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6492240" y="4754880"/>
            <a:ext cx="5029200" cy="548640"/>
          </a:xfrm>
          <a:prstGeom prst="roundRect">
            <a:avLst>
              <a:gd name="adj" fmla="val 10000"/>
            </a:avLst>
          </a:prstGeom>
          <a:solidFill>
            <a:srgbClr val="1C2736"/>
          </a:solidFill>
          <a:ln w="12700">
            <a:solidFill>
              <a:srgbClr val="1C273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9" name="Text 37"/>
          <p:cNvSpPr/>
          <p:nvPr/>
        </p:nvSpPr>
        <p:spPr>
          <a:xfrm>
            <a:off x="6629400" y="47548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FC0D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の入力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183880" y="47548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E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.\scripts\prepare-handover.cmd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457200" y="5760720"/>
            <a:ext cx="11274552" cy="502920"/>
          </a:xfrm>
          <a:prstGeom prst="roundRect">
            <a:avLst>
              <a:gd name="adj" fmla="val 14545"/>
            </a:avLst>
          </a:prstGeom>
          <a:solidFill>
            <a:srgbClr val="FFF3E8"/>
          </a:solidFill>
          <a:ln w="12700">
            <a:solidFill>
              <a:srgbClr val="F2C08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2" name="Text 40"/>
          <p:cNvSpPr/>
          <p:nvPr/>
        </p:nvSpPr>
        <p:spPr>
          <a:xfrm>
            <a:off x="457200" y="576072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D9660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必ず成果共有が終わってから実行してください。作成したフォルダーは、このPCにそのまま残ります。</a:t>
            </a:r>
            <a:endParaRPr lang="en-US" sz="1450" dirty="0"/>
          </a:p>
        </p:txBody>
      </p:sp>
      <p:sp>
        <p:nvSpPr>
          <p:cNvPr id="4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219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付録1｜いまどこ？早見表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全STEPを1枚で確認できます</a:t>
            </a:r>
            <a:endParaRPr 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25880"/>
          <a:ext cx="10744200" cy="91440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34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STEP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B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いま何をしている？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B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何ができる？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B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536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00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536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環境確認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536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開発を始められる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536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01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536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課題を1つに絞る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536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業務課題が整理される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536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02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536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必要な機能を決める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536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要件定義書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536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03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536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画面と流れを決める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536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画面設計書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536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04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536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保存する情報を決める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536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データ設計書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536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05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536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AIがAzure構成を選ぶ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536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構成設計書（パターンA／B）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176D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06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176D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Azure環境をつくる（標準）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536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Terraform・Azureのリソース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536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07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536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プログラムをつくる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536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Python Webアプリ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D9A5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08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D9A5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自分のPCで動かす（必須ゴール）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536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アプリが動く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176D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09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176D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Azureで動かす（標準ゴール）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536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Azure上で動く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536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536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再現資料をつくる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536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持ち帰り一式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219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付録2｜困ったとき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困ったときは、まずこれを試してください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1099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/>
          <p:nvPr/>
        </p:nvSpPr>
        <p:spPr>
          <a:xfrm>
            <a:off x="822960" y="13716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「/」でプロンプトが出ない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206240" y="1554480"/>
            <a:ext cx="365760" cy="274320"/>
          </a:xfrm>
          <a:prstGeom prst="rightArrow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4800600" y="1371600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.github が一番上に見えるフォルダーを開いているか確認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176272"/>
            <a:ext cx="111099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/>
          <p:nvPr/>
        </p:nvSpPr>
        <p:spPr>
          <a:xfrm>
            <a:off x="822960" y="217627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ファイルが作られない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206240" y="2359152"/>
            <a:ext cx="365760" cy="274320"/>
          </a:xfrm>
          <a:prstGeom prst="rightArrow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4800600" y="2176272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チャットのモードが「Agent」になっているか確認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2980944"/>
            <a:ext cx="111099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/>
          <p:nvPr/>
        </p:nvSpPr>
        <p:spPr>
          <a:xfrm>
            <a:off x="822960" y="298094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同じエラーを繰り返す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206240" y="3163824"/>
            <a:ext cx="365760" cy="274320"/>
          </a:xfrm>
          <a:prstGeom prst="rightArrow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Text 13"/>
          <p:cNvSpPr/>
          <p:nvPr/>
        </p:nvSpPr>
        <p:spPr>
          <a:xfrm>
            <a:off x="4800600" y="2980944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停止して、エラー画面を残したままスタッフを呼ぶ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3785616"/>
            <a:ext cx="111099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/>
          <p:nvPr/>
        </p:nvSpPr>
        <p:spPr>
          <a:xfrm>
            <a:off x="822960" y="378561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apply がエラーで止まった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206240" y="3968496"/>
            <a:ext cx="365760" cy="274320"/>
          </a:xfrm>
          <a:prstGeom prst="rightArrow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Text 17"/>
          <p:cNvSpPr/>
          <p:nvPr/>
        </p:nvSpPr>
        <p:spPr>
          <a:xfrm>
            <a:off x="4800600" y="3785616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エラー画面を残したまま、Azure担当のスタッフを呼ぶ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48640" y="4590288"/>
            <a:ext cx="111099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9"/>
          <p:cNvSpPr/>
          <p:nvPr/>
        </p:nvSpPr>
        <p:spPr>
          <a:xfrm>
            <a:off x="822960" y="459028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進行に遅れた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206240" y="4773168"/>
            <a:ext cx="365760" cy="274320"/>
          </a:xfrm>
          <a:prstGeom prst="rightArrow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Text 21"/>
          <p:cNvSpPr/>
          <p:nvPr/>
        </p:nvSpPr>
        <p:spPr>
          <a:xfrm>
            <a:off x="4800600" y="4590288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近くの方と一緒に進める（共同実施OK）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548640" y="5532120"/>
            <a:ext cx="11109960" cy="594360"/>
          </a:xfrm>
          <a:prstGeom prst="roundRect">
            <a:avLst>
              <a:gd name="adj" fmla="val 12308"/>
            </a:avLst>
          </a:prstGeom>
          <a:solidFill>
            <a:srgbClr val="FBDDDC"/>
          </a:solidFill>
          <a:ln w="12700">
            <a:solidFill>
              <a:srgbClr val="FBDDD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Text 23"/>
          <p:cNvSpPr/>
          <p:nvPr/>
        </p:nvSpPr>
        <p:spPr>
          <a:xfrm>
            <a:off x="548640" y="5532120"/>
            <a:ext cx="11109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C219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一人で止まらず、手を挙げてスタッフを呼んでください。</a:t>
            </a:r>
            <a:endParaRPr lang="en-US" sz="17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219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付録2-2｜環境準備で困ったとき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よくある3つの環境トラブルを切り分けます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1099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/>
          <p:nvPr/>
        </p:nvSpPr>
        <p:spPr>
          <a:xfrm>
            <a:off x="777240" y="137160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C219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terraform が認識されない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977640" y="137160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Terraform CLI が未導入、またはインストール後に VS Code を開き直していない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543800" y="1828800"/>
            <a:ext cx="320040" cy="274320"/>
          </a:xfrm>
          <a:prstGeom prst="rightArrow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/>
          <p:nvPr/>
        </p:nvSpPr>
        <p:spPr>
          <a:xfrm>
            <a:off x="8001000" y="137160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「休憩中にやること③」の手順で導入し、VS Codeをすべて閉じて開き直す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2743200"/>
            <a:ext cx="111099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777240" y="274320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C219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Copilot やターミナルが使えない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3977640" y="274320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フォルダーを開いたときに「信頼しない」を選び、制限モードになっている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3800" y="3200400"/>
            <a:ext cx="320040" cy="274320"/>
          </a:xfrm>
          <a:prstGeom prst="rightArrow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/>
          <p:nvPr/>
        </p:nvSpPr>
        <p:spPr>
          <a:xfrm>
            <a:off x="8001000" y="274320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画面上部の「制限モード」を押して「信頼する」を選ぶ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4114800"/>
            <a:ext cx="111099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5" name="Text 13"/>
          <p:cNvSpPr/>
          <p:nvPr/>
        </p:nvSpPr>
        <p:spPr>
          <a:xfrm>
            <a:off x="777240" y="411480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C219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az login 後に自分のRGが見えない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3977640" y="411480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別のアカウント、または別のサブスクリプションが選ばれている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7543800" y="4572000"/>
            <a:ext cx="320040" cy="274320"/>
          </a:xfrm>
          <a:prstGeom prst="rightArrow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8001000" y="411480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az account show で確認し、スタッフを呼ぶ。自分でRGを作らない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48640" y="562356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219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解決しない場合は、エラー画面を残したままスタッフを呼んでください。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219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付録3｜Copilotの実行確認が出たとき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Copilotの確認画面では、コマンドの種類を見て判断します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40680" cy="4114800"/>
          </a:xfrm>
          <a:prstGeom prst="roundRect">
            <a:avLst>
              <a:gd name="adj" fmla="val 1778"/>
            </a:avLst>
          </a:prstGeom>
          <a:solidFill>
            <a:srgbClr val="E8F5ED"/>
          </a:solidFill>
          <a:ln w="1270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「許可」してよい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914400" y="241401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914400" y="2414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377440"/>
            <a:ext cx="4462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Pythonのテスト（pytest）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14400" y="309981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914400" y="30998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98448" y="3063240"/>
            <a:ext cx="4462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terraform fmt / init / validate / plan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14400" y="378561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D9A5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/>
          <p:nvPr/>
        </p:nvSpPr>
        <p:spPr>
          <a:xfrm>
            <a:off x="914400" y="37856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D9A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98448" y="3749040"/>
            <a:ext cx="4462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Azureアカウント・Blob・ログの確認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217920" y="1417320"/>
            <a:ext cx="5440680" cy="4114800"/>
          </a:xfrm>
          <a:prstGeom prst="roundRect">
            <a:avLst>
              <a:gd name="adj" fmla="val 1778"/>
            </a:avLst>
          </a:prstGeom>
          <a:solidFill>
            <a:srgbClr val="FFF3E8"/>
          </a:solidFill>
          <a:ln w="12700">
            <a:solidFill>
              <a:srgbClr val="D9660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6217920" y="1600200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9660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「拒否」してスタッフを呼ぶ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583680" y="241401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6583680" y="2414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039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✕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967728" y="2377440"/>
            <a:ext cx="4462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Copilotが terraform apply / destroy を実行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583680" y="309981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9"/>
          <p:cNvSpPr/>
          <p:nvPr/>
        </p:nvSpPr>
        <p:spPr>
          <a:xfrm>
            <a:off x="6583680" y="30998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039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✕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967728" y="3063240"/>
            <a:ext cx="4462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requirements.txt にないパッケージの追加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583680" y="378561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2"/>
          <p:cNvSpPr/>
          <p:nvPr/>
        </p:nvSpPr>
        <p:spPr>
          <a:xfrm>
            <a:off x="6583680" y="37856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039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✕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967728" y="3749040"/>
            <a:ext cx="4462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権限の変更・ファイルの一括削除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48640" y="571500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terraform apply は、STEP06で受講者自身が新しいターミナルに入力します（Copilotには実行させません）。</a:t>
            </a:r>
            <a:endParaRPr lang="en-US" sz="13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lang="en-US" b="0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219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付録4｜今回の体験と本番利用の違い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今回の体験は、本番化の前段階です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40680" cy="4206240"/>
          </a:xfrm>
          <a:prstGeom prst="roundRect">
            <a:avLst>
              <a:gd name="adj" fmla="val 1739"/>
            </a:avLst>
          </a:prstGeom>
          <a:solidFill>
            <a:srgbClr val="EAF2FC"/>
          </a:solidFill>
          <a:ln w="12700">
            <a:solidFill>
              <a:srgbClr val="2176D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176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今回の体験会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914400" y="241401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2176D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914400" y="2414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76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377440"/>
            <a:ext cx="4462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仮想ログイン（デモ機能）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05409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2176D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914400" y="3054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76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98448" y="3017520"/>
            <a:ext cx="4462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保存先は Blob か Cosmos DB の2択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914400" y="369417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2176D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/>
          <p:nvPr/>
        </p:nvSpPr>
        <p:spPr>
          <a:xfrm>
            <a:off x="914400" y="36941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76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98448" y="3657600"/>
            <a:ext cx="4462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主要データ1種類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914400" y="433425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2176D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914400" y="43342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76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98448" y="4297680"/>
            <a:ext cx="4462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最大3機能・最大3画面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217920" y="1417320"/>
            <a:ext cx="5440680" cy="4206240"/>
          </a:xfrm>
          <a:prstGeom prst="roundRect">
            <a:avLst>
              <a:gd name="adj" fmla="val 1739"/>
            </a:avLst>
          </a:prstGeom>
          <a:solidFill>
            <a:srgbClr val="F2EAFE"/>
          </a:solidFill>
          <a:ln w="12700">
            <a:solidFill>
              <a:srgbClr val="7A3FB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Text 17"/>
          <p:cNvSpPr/>
          <p:nvPr/>
        </p:nvSpPr>
        <p:spPr>
          <a:xfrm>
            <a:off x="6217920" y="1600200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7A3F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本番化するとき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6583680" y="241401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7A3FB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9"/>
          <p:cNvSpPr/>
          <p:nvPr/>
        </p:nvSpPr>
        <p:spPr>
          <a:xfrm>
            <a:off x="6583680" y="2414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A3F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967728" y="2377440"/>
            <a:ext cx="4462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Microsoft Entra ID などの認証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6583680" y="305409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7A3FB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2"/>
          <p:cNvSpPr/>
          <p:nvPr/>
        </p:nvSpPr>
        <p:spPr>
          <a:xfrm>
            <a:off x="6583680" y="3054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A3F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967728" y="3017520"/>
            <a:ext cx="4462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権限の最小化・閉域ネットワーク</a:t>
            </a:r>
            <a:endParaRPr lang="en-US" sz="1550" dirty="0"/>
          </a:p>
        </p:txBody>
      </p:sp>
      <p:sp>
        <p:nvSpPr>
          <p:cNvPr id="26" name="Shape 24"/>
          <p:cNvSpPr/>
          <p:nvPr/>
        </p:nvSpPr>
        <p:spPr>
          <a:xfrm>
            <a:off x="6583680" y="369417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7A3FB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Text 25"/>
          <p:cNvSpPr/>
          <p:nvPr/>
        </p:nvSpPr>
        <p:spPr>
          <a:xfrm>
            <a:off x="6583680" y="36941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A3F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967728" y="3657600"/>
            <a:ext cx="4462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バックアップ・監視とログ</a:t>
            </a:r>
            <a:endParaRPr lang="en-US" sz="1550" dirty="0"/>
          </a:p>
        </p:txBody>
      </p:sp>
      <p:sp>
        <p:nvSpPr>
          <p:cNvPr id="29" name="Shape 27"/>
          <p:cNvSpPr/>
          <p:nvPr/>
        </p:nvSpPr>
        <p:spPr>
          <a:xfrm>
            <a:off x="6583680" y="433425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7A3FB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Text 28"/>
          <p:cNvSpPr/>
          <p:nvPr/>
        </p:nvSpPr>
        <p:spPr>
          <a:xfrm>
            <a:off x="6583680" y="43342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A3F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67728" y="4297680"/>
            <a:ext cx="4462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2536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AIが提案した理想構成の検討（docs/05）</a:t>
            </a:r>
            <a:endParaRPr lang="en-US" sz="1550" dirty="0"/>
          </a:p>
        </p:txBody>
      </p:sp>
      <p:sp>
        <p:nvSpPr>
          <p:cNvPr id="32" name="Text 30"/>
          <p:cNvSpPr/>
          <p:nvPr/>
        </p:nvSpPr>
        <p:spPr>
          <a:xfrm>
            <a:off x="548640" y="5806440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219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今日つくるのは「本番システム」ではなく、課題をアプリに変える流れを体験するためのものです。</a:t>
            </a:r>
            <a:endParaRPr lang="en-US" sz="15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lang="en-US" b="0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219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付録5｜帰社後にもう一度つくる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持ち帰ったフォルダーで、別の業務課題にも同じ流れを使えます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011680" cy="32918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1088136" y="1783080"/>
            <a:ext cx="749808" cy="749808"/>
          </a:xfrm>
          <a:prstGeom prst="ellipse">
            <a:avLst/>
          </a:prstGeom>
          <a:solidFill>
            <a:srgbClr val="2176D2"/>
          </a:solidFill>
          <a:ln w="12700">
            <a:solidFill>
              <a:srgbClr val="2176D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1088136" y="1783080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30352" y="274320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自分のCopilotを準備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30352" y="37490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GitHub Copilot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496312" y="2971800"/>
            <a:ext cx="219456" cy="310896"/>
          </a:xfrm>
          <a:prstGeom prst="rightArrow">
            <a:avLst/>
          </a:prstGeom>
          <a:solidFill>
            <a:srgbClr val="C8CFD9"/>
          </a:solidFill>
          <a:ln w="12700">
            <a:solidFill>
              <a:srgbClr val="C8CFD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2743200" y="1463040"/>
            <a:ext cx="2011680" cy="32918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1" name="Shape 9"/>
          <p:cNvSpPr/>
          <p:nvPr/>
        </p:nvSpPr>
        <p:spPr>
          <a:xfrm>
            <a:off x="3374136" y="1783080"/>
            <a:ext cx="749808" cy="749808"/>
          </a:xfrm>
          <a:prstGeom prst="ellipse">
            <a:avLst/>
          </a:prstGeom>
          <a:solidFill>
            <a:srgbClr val="2176D2"/>
          </a:solidFill>
          <a:ln w="12700">
            <a:solidFill>
              <a:srgbClr val="2176D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/>
          <p:nvPr/>
        </p:nvSpPr>
        <p:spPr>
          <a:xfrm>
            <a:off x="3374136" y="1783080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2816352" y="274320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setup-local.cmd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を実行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2816352" y="37490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環境の再作成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82312" y="2971800"/>
            <a:ext cx="219456" cy="310896"/>
          </a:xfrm>
          <a:prstGeom prst="rightArrow">
            <a:avLst/>
          </a:prstGeom>
          <a:solidFill>
            <a:srgbClr val="C8CFD9"/>
          </a:solidFill>
          <a:ln w="12700">
            <a:solidFill>
              <a:srgbClr val="C8CFD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Shape 14"/>
          <p:cNvSpPr/>
          <p:nvPr/>
        </p:nvSpPr>
        <p:spPr>
          <a:xfrm>
            <a:off x="5029200" y="1463040"/>
            <a:ext cx="2011680" cy="32918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5660136" y="1783080"/>
            <a:ext cx="749808" cy="749808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5660136" y="1783080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5102352" y="274320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01-input.md を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書き換え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102352" y="37490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新しい課題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068312" y="2971800"/>
            <a:ext cx="219456" cy="310896"/>
          </a:xfrm>
          <a:prstGeom prst="rightArrow">
            <a:avLst/>
          </a:prstGeom>
          <a:solidFill>
            <a:srgbClr val="C8CFD9"/>
          </a:solidFill>
          <a:ln w="12700">
            <a:solidFill>
              <a:srgbClr val="C8CFD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Shape 20"/>
          <p:cNvSpPr/>
          <p:nvPr/>
        </p:nvSpPr>
        <p:spPr>
          <a:xfrm>
            <a:off x="7315200" y="1463040"/>
            <a:ext cx="2011680" cy="32918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3" name="Shape 21"/>
          <p:cNvSpPr/>
          <p:nvPr/>
        </p:nvSpPr>
        <p:spPr>
          <a:xfrm>
            <a:off x="7946136" y="1783080"/>
            <a:ext cx="749808" cy="749808"/>
          </a:xfrm>
          <a:prstGeom prst="ellipse">
            <a:avLst/>
          </a:prstGeom>
          <a:solidFill>
            <a:srgbClr val="C21920"/>
          </a:solidFill>
          <a:ln w="12700">
            <a:solidFill>
              <a:srgbClr val="C2192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2"/>
          <p:cNvSpPr/>
          <p:nvPr/>
        </p:nvSpPr>
        <p:spPr>
          <a:xfrm>
            <a:off x="7946136" y="1783080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388352" y="274320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/01 から順に実行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388352" y="37490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同じプロセス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354312" y="2971800"/>
            <a:ext cx="219456" cy="310896"/>
          </a:xfrm>
          <a:prstGeom prst="rightArrow">
            <a:avLst/>
          </a:prstGeom>
          <a:solidFill>
            <a:srgbClr val="C8CFD9"/>
          </a:solidFill>
          <a:ln w="12700">
            <a:solidFill>
              <a:srgbClr val="C8CFD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Shape 26"/>
          <p:cNvSpPr/>
          <p:nvPr/>
        </p:nvSpPr>
        <p:spPr>
          <a:xfrm>
            <a:off x="9601200" y="1463040"/>
            <a:ext cx="2011680" cy="32918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blurRad="508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9" name="Shape 27"/>
          <p:cNvSpPr/>
          <p:nvPr/>
        </p:nvSpPr>
        <p:spPr>
          <a:xfrm>
            <a:off x="10232136" y="1783080"/>
            <a:ext cx="749808" cy="749808"/>
          </a:xfrm>
          <a:prstGeom prst="ellipse">
            <a:avLst/>
          </a:prstGeom>
          <a:solidFill>
            <a:srgbClr val="7A3FB0"/>
          </a:solidFill>
          <a:ln w="12700">
            <a:solidFill>
              <a:srgbClr val="7A3FB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Text 28"/>
          <p:cNvSpPr/>
          <p:nvPr/>
        </p:nvSpPr>
        <p:spPr>
          <a:xfrm>
            <a:off x="10232136" y="1783080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9674352" y="274320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42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Azureへ構築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9674352" y="37490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管理者準備 → Terraform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48640" y="5166360"/>
            <a:ext cx="11109960" cy="822960"/>
          </a:xfrm>
          <a:prstGeom prst="roundRect">
            <a:avLst>
              <a:gd name="adj" fmla="val 8889"/>
            </a:avLst>
          </a:prstGeom>
          <a:solidFill>
            <a:srgbClr val="FFF3E8"/>
          </a:solidFill>
          <a:ln w="12700">
            <a:solidFill>
              <a:srgbClr val="F2C08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4" name="Text 32"/>
          <p:cNvSpPr/>
          <p:nvPr/>
        </p:nvSpPr>
        <p:spPr>
          <a:xfrm>
            <a:off x="731520" y="5166360"/>
            <a:ext cx="10744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D9660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プロンプトの再実行には GitHub Copilot の契約が、Azureへの構築には Azure サブスクリプションと、管理者による権限の準備が必要です。</a:t>
            </a:r>
            <a:endParaRPr lang="en-US" sz="145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lang="en-US" b="0"/>
              <a:t>29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2095</Words>
  <Application>Microsoft Office PowerPoint</Application>
  <PresentationFormat>ワイド画面</PresentationFormat>
  <Paragraphs>925</Paragraphs>
  <Slides>29</Slides>
  <Notes>29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29</vt:i4>
      </vt:variant>
    </vt:vector>
  </HeadingPairs>
  <TitlesOfParts>
    <vt:vector size="33" baseType="lpstr">
      <vt:lpstr>Yu Gothic</vt:lpstr>
      <vt:lpstr>Arial</vt:lpstr>
      <vt:lpstr>Consolas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Copilotで業務課題をPython Webアプリにしてみよう</dc:title>
  <dc:subject>PptxGenJS Presentation</dc:subject>
  <dc:creator>朝山 悟</dc:creator>
  <cp:lastModifiedBy>朝山 悟</cp:lastModifiedBy>
  <cp:revision>2</cp:revision>
  <dcterms:created xsi:type="dcterms:W3CDTF">2026-10-27T08:07:38Z</dcterms:created>
  <dcterms:modified xsi:type="dcterms:W3CDTF">2026-10-27T08:24:44Z</dcterms:modified>
</cp:coreProperties>
</file>